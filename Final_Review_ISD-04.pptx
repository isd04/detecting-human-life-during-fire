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sldIdLst>
    <p:sldId id="256" r:id="rId5"/>
    <p:sldId id="274" r:id="rId6"/>
    <p:sldId id="258" r:id="rId7"/>
    <p:sldId id="275" r:id="rId8"/>
    <p:sldId id="276" r:id="rId9"/>
    <p:sldId id="259" r:id="rId10"/>
    <p:sldId id="277" r:id="rId11"/>
    <p:sldId id="278" r:id="rId12"/>
    <p:sldId id="260" r:id="rId13"/>
    <p:sldId id="279" r:id="rId14"/>
    <p:sldId id="261" r:id="rId15"/>
    <p:sldId id="262" r:id="rId16"/>
    <p:sldId id="282" r:id="rId17"/>
    <p:sldId id="281" r:id="rId18"/>
    <p:sldId id="263" r:id="rId19"/>
    <p:sldId id="264" r:id="rId20"/>
    <p:sldId id="265" r:id="rId21"/>
    <p:sldId id="266" r:id="rId22"/>
    <p:sldId id="283" r:id="rId23"/>
    <p:sldId id="284" r:id="rId24"/>
    <p:sldId id="267" r:id="rId25"/>
    <p:sldId id="285" r:id="rId26"/>
    <p:sldId id="269" r:id="rId2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350C28-3786-44AC-82E1-E6C13589BA13}" v="9" dt="2025-01-10T09:07:18.363"/>
    <p1510:client id="{CB127162-A7EB-9528-57EE-BBE8106ACD9F}" v="452" dt="2025-01-10T17:06:38.844"/>
    <p1510:client id="{DA5AC460-7A0D-4D60-D1C0-730EBDA9DD8A}" v="997" dt="2025-01-10T16:33:06.83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 PAVAN KUAMR" userId="S::pavan.20211isd0027@presidencyuniversity.in::80f66336-7476-4794-88c7-cff6f9eee3df" providerId="AD" clId="Web-{CB127162-A7EB-9528-57EE-BBE8106ACD9F}"/>
    <pc:docChg chg="delSld modSld">
      <pc:chgData name="K PAVAN KUAMR" userId="S::pavan.20211isd0027@presidencyuniversity.in::80f66336-7476-4794-88c7-cff6f9eee3df" providerId="AD" clId="Web-{CB127162-A7EB-9528-57EE-BBE8106ACD9F}" dt="2025-01-10T17:06:36.078" v="352" actId="20577"/>
      <pc:docMkLst>
        <pc:docMk/>
      </pc:docMkLst>
      <pc:sldChg chg="addSp delSp modSp">
        <pc:chgData name="K PAVAN KUAMR" userId="S::pavan.20211isd0027@presidencyuniversity.in::80f66336-7476-4794-88c7-cff6f9eee3df" providerId="AD" clId="Web-{CB127162-A7EB-9528-57EE-BBE8106ACD9F}" dt="2025-01-10T16:49:00.727" v="234" actId="1076"/>
        <pc:sldMkLst>
          <pc:docMk/>
          <pc:sldMk cId="0" sldId="256"/>
        </pc:sldMkLst>
        <pc:spChg chg="mod">
          <ac:chgData name="K PAVAN KUAMR" userId="S::pavan.20211isd0027@presidencyuniversity.in::80f66336-7476-4794-88c7-cff6f9eee3df" providerId="AD" clId="Web-{CB127162-A7EB-9528-57EE-BBE8106ACD9F}" dt="2025-01-10T16:48:28.860" v="230" actId="20577"/>
          <ac:spMkLst>
            <pc:docMk/>
            <pc:sldMk cId="0" sldId="256"/>
            <ac:spMk id="3" creationId="{00000000-0000-0000-0000-000000000000}"/>
          </ac:spMkLst>
        </pc:spChg>
        <pc:spChg chg="mod">
          <ac:chgData name="K PAVAN KUAMR" userId="S::pavan.20211isd0027@presidencyuniversity.in::80f66336-7476-4794-88c7-cff6f9eee3df" providerId="AD" clId="Web-{CB127162-A7EB-9528-57EE-BBE8106ACD9F}" dt="2025-01-10T16:48:10.266" v="227"/>
          <ac:spMkLst>
            <pc:docMk/>
            <pc:sldMk cId="0" sldId="256"/>
            <ac:spMk id="4" creationId="{00000000-0000-0000-0000-000000000000}"/>
          </ac:spMkLst>
        </pc:spChg>
        <pc:grpChg chg="del">
          <ac:chgData name="K PAVAN KUAMR" userId="S::pavan.20211isd0027@presidencyuniversity.in::80f66336-7476-4794-88c7-cff6f9eee3df" providerId="AD" clId="Web-{CB127162-A7EB-9528-57EE-BBE8106ACD9F}" dt="2025-01-10T16:44:42.137" v="222"/>
          <ac:grpSpMkLst>
            <pc:docMk/>
            <pc:sldMk cId="0" sldId="256"/>
            <ac:grpSpMk id="5" creationId="{00000000-0000-0000-0000-000000000000}"/>
          </ac:grpSpMkLst>
        </pc:grpChg>
        <pc:graphicFrameChg chg="add mod modGraphic">
          <ac:chgData name="K PAVAN KUAMR" userId="S::pavan.20211isd0027@presidencyuniversity.in::80f66336-7476-4794-88c7-cff6f9eee3df" providerId="AD" clId="Web-{CB127162-A7EB-9528-57EE-BBE8106ACD9F}" dt="2025-01-10T16:49:00.727" v="234" actId="1076"/>
          <ac:graphicFrameMkLst>
            <pc:docMk/>
            <pc:sldMk cId="0" sldId="256"/>
            <ac:graphicFrameMk id="2" creationId="{A45D4025-79A4-6778-CA8C-ADA7EB212072}"/>
          </ac:graphicFrameMkLst>
        </pc:graphicFrameChg>
        <pc:picChg chg="del mod">
          <ac:chgData name="K PAVAN KUAMR" userId="S::pavan.20211isd0027@presidencyuniversity.in::80f66336-7476-4794-88c7-cff6f9eee3df" providerId="AD" clId="Web-{CB127162-A7EB-9528-57EE-BBE8106ACD9F}" dt="2025-01-10T16:44:09.339" v="216"/>
          <ac:picMkLst>
            <pc:docMk/>
            <pc:sldMk cId="0" sldId="256"/>
            <ac:picMk id="11" creationId="{598B9A22-A363-CCF3-4AC9-B6A4F8B3C076}"/>
          </ac:picMkLst>
        </pc:picChg>
      </pc:sldChg>
      <pc:sldChg chg="modSp">
        <pc:chgData name="K PAVAN KUAMR" userId="S::pavan.20211isd0027@presidencyuniversity.in::80f66336-7476-4794-88c7-cff6f9eee3df" providerId="AD" clId="Web-{CB127162-A7EB-9528-57EE-BBE8106ACD9F}" dt="2025-01-10T17:03:01.558" v="332" actId="20577"/>
        <pc:sldMkLst>
          <pc:docMk/>
          <pc:sldMk cId="0" sldId="258"/>
        </pc:sldMkLst>
        <pc:spChg chg="mod">
          <ac:chgData name="K PAVAN KUAMR" userId="S::pavan.20211isd0027@presidencyuniversity.in::80f66336-7476-4794-88c7-cff6f9eee3df" providerId="AD" clId="Web-{CB127162-A7EB-9528-57EE-BBE8106ACD9F}" dt="2025-01-10T17:03:01.558" v="332" actId="20577"/>
          <ac:spMkLst>
            <pc:docMk/>
            <pc:sldMk cId="0" sldId="258"/>
            <ac:spMk id="3" creationId="{B735D084-C80F-5855-1BE5-B07ECD339AE9}"/>
          </ac:spMkLst>
        </pc:spChg>
      </pc:sldChg>
      <pc:sldChg chg="modSp">
        <pc:chgData name="K PAVAN KUAMR" userId="S::pavan.20211isd0027@presidencyuniversity.in::80f66336-7476-4794-88c7-cff6f9eee3df" providerId="AD" clId="Web-{CB127162-A7EB-9528-57EE-BBE8106ACD9F}" dt="2025-01-10T17:05:48.686" v="351" actId="20577"/>
        <pc:sldMkLst>
          <pc:docMk/>
          <pc:sldMk cId="0" sldId="261"/>
        </pc:sldMkLst>
        <pc:spChg chg="mod">
          <ac:chgData name="K PAVAN KUAMR" userId="S::pavan.20211isd0027@presidencyuniversity.in::80f66336-7476-4794-88c7-cff6f9eee3df" providerId="AD" clId="Web-{CB127162-A7EB-9528-57EE-BBE8106ACD9F}" dt="2025-01-10T17:05:48.686" v="351" actId="20577"/>
          <ac:spMkLst>
            <pc:docMk/>
            <pc:sldMk cId="0" sldId="261"/>
            <ac:spMk id="3" creationId="{084694B6-337A-7C60-B402-69E046F85147}"/>
          </ac:spMkLst>
        </pc:spChg>
      </pc:sldChg>
      <pc:sldChg chg="modSp">
        <pc:chgData name="K PAVAN KUAMR" userId="S::pavan.20211isd0027@presidencyuniversity.in::80f66336-7476-4794-88c7-cff6f9eee3df" providerId="AD" clId="Web-{CB127162-A7EB-9528-57EE-BBE8106ACD9F}" dt="2025-01-10T16:51:41.808" v="239" actId="20577"/>
        <pc:sldMkLst>
          <pc:docMk/>
          <pc:sldMk cId="0" sldId="264"/>
        </pc:sldMkLst>
        <pc:spChg chg="mod">
          <ac:chgData name="K PAVAN KUAMR" userId="S::pavan.20211isd0027@presidencyuniversity.in::80f66336-7476-4794-88c7-cff6f9eee3df" providerId="AD" clId="Web-{CB127162-A7EB-9528-57EE-BBE8106ACD9F}" dt="2025-01-10T16:51:41.808" v="239" actId="20577"/>
          <ac:spMkLst>
            <pc:docMk/>
            <pc:sldMk cId="0" sldId="264"/>
            <ac:spMk id="2" creationId="{00000000-0000-0000-0000-000000000000}"/>
          </ac:spMkLst>
        </pc:spChg>
        <pc:spChg chg="mod">
          <ac:chgData name="K PAVAN KUAMR" userId="S::pavan.20211isd0027@presidencyuniversity.in::80f66336-7476-4794-88c7-cff6f9eee3df" providerId="AD" clId="Web-{CB127162-A7EB-9528-57EE-BBE8106ACD9F}" dt="2025-01-10T16:51:12.557" v="237" actId="20577"/>
          <ac:spMkLst>
            <pc:docMk/>
            <pc:sldMk cId="0" sldId="264"/>
            <ac:spMk id="3" creationId="{FE158228-CDD3-C784-4103-03F70CE05835}"/>
          </ac:spMkLst>
        </pc:spChg>
      </pc:sldChg>
      <pc:sldChg chg="addSp delSp modSp mod setBg">
        <pc:chgData name="K PAVAN KUAMR" userId="S::pavan.20211isd0027@presidencyuniversity.in::80f66336-7476-4794-88c7-cff6f9eee3df" providerId="AD" clId="Web-{CB127162-A7EB-9528-57EE-BBE8106ACD9F}" dt="2025-01-10T16:57:37.206" v="288" actId="20577"/>
        <pc:sldMkLst>
          <pc:docMk/>
          <pc:sldMk cId="0" sldId="267"/>
        </pc:sldMkLst>
        <pc:spChg chg="mod">
          <ac:chgData name="K PAVAN KUAMR" userId="S::pavan.20211isd0027@presidencyuniversity.in::80f66336-7476-4794-88c7-cff6f9eee3df" providerId="AD" clId="Web-{CB127162-A7EB-9528-57EE-BBE8106ACD9F}" dt="2025-01-10T16:57:37.206" v="288" actId="20577"/>
          <ac:spMkLst>
            <pc:docMk/>
            <pc:sldMk cId="0" sldId="267"/>
            <ac:spMk id="2" creationId="{00000000-0000-0000-0000-000000000000}"/>
          </ac:spMkLst>
        </pc:spChg>
        <pc:spChg chg="add del">
          <ac:chgData name="K PAVAN KUAMR" userId="S::pavan.20211isd0027@presidencyuniversity.in::80f66336-7476-4794-88c7-cff6f9eee3df" providerId="AD" clId="Web-{CB127162-A7EB-9528-57EE-BBE8106ACD9F}" dt="2025-01-10T16:53:24.701" v="245"/>
          <ac:spMkLst>
            <pc:docMk/>
            <pc:sldMk cId="0" sldId="267"/>
            <ac:spMk id="9" creationId="{99ED5833-B85B-4103-8A3B-CAB0308E6C15}"/>
          </ac:spMkLst>
        </pc:spChg>
        <pc:spChg chg="add del">
          <ac:chgData name="K PAVAN KUAMR" userId="S::pavan.20211isd0027@presidencyuniversity.in::80f66336-7476-4794-88c7-cff6f9eee3df" providerId="AD" clId="Web-{CB127162-A7EB-9528-57EE-BBE8106ACD9F}" dt="2025-01-10T16:53:37.701" v="251"/>
          <ac:spMkLst>
            <pc:docMk/>
            <pc:sldMk cId="0" sldId="267"/>
            <ac:spMk id="11" creationId="{AB5E08C4-8CDD-4623-A5B8-E998C6DEE3B7}"/>
          </ac:spMkLst>
        </pc:spChg>
        <pc:spChg chg="add del">
          <ac:chgData name="K PAVAN KUAMR" userId="S::pavan.20211isd0027@presidencyuniversity.in::80f66336-7476-4794-88c7-cff6f9eee3df" providerId="AD" clId="Web-{CB127162-A7EB-9528-57EE-BBE8106ACD9F}" dt="2025-01-10T16:53:37.701" v="252"/>
          <ac:spMkLst>
            <pc:docMk/>
            <pc:sldMk cId="0" sldId="267"/>
            <ac:spMk id="12" creationId="{2151139A-886F-4B97-8815-729AD3831BBD}"/>
          </ac:spMkLst>
        </pc:spChg>
        <pc:spChg chg="add del">
          <ac:chgData name="K PAVAN KUAMR" userId="S::pavan.20211isd0027@presidencyuniversity.in::80f66336-7476-4794-88c7-cff6f9eee3df" providerId="AD" clId="Web-{CB127162-A7EB-9528-57EE-BBE8106ACD9F}" dt="2025-01-10T16:53:37.701" v="250"/>
          <ac:spMkLst>
            <pc:docMk/>
            <pc:sldMk cId="0" sldId="267"/>
            <ac:spMk id="13" creationId="{15F33878-D502-4FFA-8ACE-F2AECDB2A23F}"/>
          </ac:spMkLst>
        </pc:spChg>
        <pc:spChg chg="add del">
          <ac:chgData name="K PAVAN KUAMR" userId="S::pavan.20211isd0027@presidencyuniversity.in::80f66336-7476-4794-88c7-cff6f9eee3df" providerId="AD" clId="Web-{CB127162-A7EB-9528-57EE-BBE8106ACD9F}" dt="2025-01-10T16:53:37.701" v="249"/>
          <ac:spMkLst>
            <pc:docMk/>
            <pc:sldMk cId="0" sldId="267"/>
            <ac:spMk id="15" creationId="{D3539FEE-81D3-4406-802E-60B20B16F4F6}"/>
          </ac:spMkLst>
        </pc:spChg>
        <pc:spChg chg="add del">
          <ac:chgData name="K PAVAN KUAMR" userId="S::pavan.20211isd0027@presidencyuniversity.in::80f66336-7476-4794-88c7-cff6f9eee3df" providerId="AD" clId="Web-{CB127162-A7EB-9528-57EE-BBE8106ACD9F}" dt="2025-01-10T16:53:37.701" v="248"/>
          <ac:spMkLst>
            <pc:docMk/>
            <pc:sldMk cId="0" sldId="267"/>
            <ac:spMk id="17" creationId="{DC701763-729E-462F-A5A8-E0DEFEB1E2E4}"/>
          </ac:spMkLst>
        </pc:spChg>
        <pc:picChg chg="add mod ord">
          <ac:chgData name="K PAVAN KUAMR" userId="S::pavan.20211isd0027@presidencyuniversity.in::80f66336-7476-4794-88c7-cff6f9eee3df" providerId="AD" clId="Web-{CB127162-A7EB-9528-57EE-BBE8106ACD9F}" dt="2025-01-10T16:54:32.858" v="260" actId="1076"/>
          <ac:picMkLst>
            <pc:docMk/>
            <pc:sldMk cId="0" sldId="267"/>
            <ac:picMk id="3" creationId="{765F166F-FD2A-4756-07C8-1554EDE316AD}"/>
          </ac:picMkLst>
        </pc:picChg>
        <pc:picChg chg="add mod">
          <ac:chgData name="K PAVAN KUAMR" userId="S::pavan.20211isd0027@presidencyuniversity.in::80f66336-7476-4794-88c7-cff6f9eee3df" providerId="AD" clId="Web-{CB127162-A7EB-9528-57EE-BBE8106ACD9F}" dt="2025-01-10T16:54:36.890" v="261" actId="1076"/>
          <ac:picMkLst>
            <pc:docMk/>
            <pc:sldMk cId="0" sldId="267"/>
            <ac:picMk id="4" creationId="{92ED6151-4CED-9278-C87B-1ECBE81BA04F}"/>
          </ac:picMkLst>
        </pc:picChg>
        <pc:picChg chg="add del mod">
          <ac:chgData name="K PAVAN KUAMR" userId="S::pavan.20211isd0027@presidencyuniversity.in::80f66336-7476-4794-88c7-cff6f9eee3df" providerId="AD" clId="Web-{CB127162-A7EB-9528-57EE-BBE8106ACD9F}" dt="2025-01-10T16:55:46.844" v="272"/>
          <ac:picMkLst>
            <pc:docMk/>
            <pc:sldMk cId="0" sldId="267"/>
            <ac:picMk id="5" creationId="{33481000-57BF-531F-8E95-57882644348C}"/>
          </ac:picMkLst>
        </pc:picChg>
      </pc:sldChg>
      <pc:sldChg chg="del">
        <pc:chgData name="K PAVAN KUAMR" userId="S::pavan.20211isd0027@presidencyuniversity.in::80f66336-7476-4794-88c7-cff6f9eee3df" providerId="AD" clId="Web-{CB127162-A7EB-9528-57EE-BBE8106ACD9F}" dt="2025-01-10T16:52:22.746" v="240"/>
        <pc:sldMkLst>
          <pc:docMk/>
          <pc:sldMk cId="0" sldId="268"/>
        </pc:sldMkLst>
      </pc:sldChg>
      <pc:sldChg chg="modSp">
        <pc:chgData name="K PAVAN KUAMR" userId="S::pavan.20211isd0027@presidencyuniversity.in::80f66336-7476-4794-88c7-cff6f9eee3df" providerId="AD" clId="Web-{CB127162-A7EB-9528-57EE-BBE8106ACD9F}" dt="2025-01-10T17:01:46.213" v="310" actId="20577"/>
        <pc:sldMkLst>
          <pc:docMk/>
          <pc:sldMk cId="625028038" sldId="274"/>
        </pc:sldMkLst>
        <pc:spChg chg="mod">
          <ac:chgData name="K PAVAN KUAMR" userId="S::pavan.20211isd0027@presidencyuniversity.in::80f66336-7476-4794-88c7-cff6f9eee3df" providerId="AD" clId="Web-{CB127162-A7EB-9528-57EE-BBE8106ACD9F}" dt="2025-01-10T17:01:46.213" v="310" actId="20577"/>
          <ac:spMkLst>
            <pc:docMk/>
            <pc:sldMk cId="625028038" sldId="274"/>
            <ac:spMk id="3" creationId="{9E497EE5-4EC3-5F57-E167-FD11551A4D0C}"/>
          </ac:spMkLst>
        </pc:spChg>
      </pc:sldChg>
      <pc:sldChg chg="modSp">
        <pc:chgData name="K PAVAN KUAMR" userId="S::pavan.20211isd0027@presidencyuniversity.in::80f66336-7476-4794-88c7-cff6f9eee3df" providerId="AD" clId="Web-{CB127162-A7EB-9528-57EE-BBE8106ACD9F}" dt="2025-01-10T17:03:40.387" v="339" actId="20577"/>
        <pc:sldMkLst>
          <pc:docMk/>
          <pc:sldMk cId="960813345" sldId="275"/>
        </pc:sldMkLst>
        <pc:spChg chg="mod">
          <ac:chgData name="K PAVAN KUAMR" userId="S::pavan.20211isd0027@presidencyuniversity.in::80f66336-7476-4794-88c7-cff6f9eee3df" providerId="AD" clId="Web-{CB127162-A7EB-9528-57EE-BBE8106ACD9F}" dt="2025-01-10T17:03:40.387" v="339" actId="20577"/>
          <ac:spMkLst>
            <pc:docMk/>
            <pc:sldMk cId="960813345" sldId="275"/>
            <ac:spMk id="3" creationId="{B735D084-C80F-5855-1BE5-B07ECD339AE9}"/>
          </ac:spMkLst>
        </pc:spChg>
      </pc:sldChg>
      <pc:sldChg chg="modSp">
        <pc:chgData name="K PAVAN KUAMR" userId="S::pavan.20211isd0027@presidencyuniversity.in::80f66336-7476-4794-88c7-cff6f9eee3df" providerId="AD" clId="Web-{CB127162-A7EB-9528-57EE-BBE8106ACD9F}" dt="2025-01-10T17:06:36.078" v="352" actId="20577"/>
        <pc:sldMkLst>
          <pc:docMk/>
          <pc:sldMk cId="2330238733" sldId="281"/>
        </pc:sldMkLst>
        <pc:spChg chg="mod">
          <ac:chgData name="K PAVAN KUAMR" userId="S::pavan.20211isd0027@presidencyuniversity.in::80f66336-7476-4794-88c7-cff6f9eee3df" providerId="AD" clId="Web-{CB127162-A7EB-9528-57EE-BBE8106ACD9F}" dt="2025-01-10T17:06:36.078" v="352" actId="20577"/>
          <ac:spMkLst>
            <pc:docMk/>
            <pc:sldMk cId="2330238733" sldId="281"/>
            <ac:spMk id="3" creationId="{E70756B0-BCB0-8A45-0F8D-963D91E59CF6}"/>
          </ac:spMkLst>
        </pc:spChg>
      </pc:sldChg>
      <pc:sldChg chg="modSp">
        <pc:chgData name="K PAVAN KUAMR" userId="S::pavan.20211isd0027@presidencyuniversity.in::80f66336-7476-4794-88c7-cff6f9eee3df" providerId="AD" clId="Web-{CB127162-A7EB-9528-57EE-BBE8106ACD9F}" dt="2025-01-10T16:58:41.551" v="300" actId="1076"/>
        <pc:sldMkLst>
          <pc:docMk/>
          <pc:sldMk cId="3674564123" sldId="282"/>
        </pc:sldMkLst>
        <pc:spChg chg="mod">
          <ac:chgData name="K PAVAN KUAMR" userId="S::pavan.20211isd0027@presidencyuniversity.in::80f66336-7476-4794-88c7-cff6f9eee3df" providerId="AD" clId="Web-{CB127162-A7EB-9528-57EE-BBE8106ACD9F}" dt="2025-01-10T16:58:38.301" v="299" actId="20577"/>
          <ac:spMkLst>
            <pc:docMk/>
            <pc:sldMk cId="3674564123" sldId="282"/>
            <ac:spMk id="8" creationId="{F465F82C-0515-F7FD-B227-3B660D660649}"/>
          </ac:spMkLst>
        </pc:spChg>
        <pc:picChg chg="mod">
          <ac:chgData name="K PAVAN KUAMR" userId="S::pavan.20211isd0027@presidencyuniversity.in::80f66336-7476-4794-88c7-cff6f9eee3df" providerId="AD" clId="Web-{CB127162-A7EB-9528-57EE-BBE8106ACD9F}" dt="2025-01-10T16:58:41.551" v="300" actId="1076"/>
          <ac:picMkLst>
            <pc:docMk/>
            <pc:sldMk cId="3674564123" sldId="282"/>
            <ac:picMk id="7" creationId="{CF607A7E-9559-267E-D046-3DCBC94E95AC}"/>
          </ac:picMkLst>
        </pc:picChg>
      </pc:sldChg>
      <pc:sldChg chg="addSp delSp modSp">
        <pc:chgData name="K PAVAN KUAMR" userId="S::pavan.20211isd0027@presidencyuniversity.in::80f66336-7476-4794-88c7-cff6f9eee3df" providerId="AD" clId="Web-{CB127162-A7EB-9528-57EE-BBE8106ACD9F}" dt="2025-01-10T16:56:31.829" v="278" actId="1076"/>
        <pc:sldMkLst>
          <pc:docMk/>
          <pc:sldMk cId="2827052769" sldId="285"/>
        </pc:sldMkLst>
        <pc:picChg chg="add mod">
          <ac:chgData name="K PAVAN KUAMR" userId="S::pavan.20211isd0027@presidencyuniversity.in::80f66336-7476-4794-88c7-cff6f9eee3df" providerId="AD" clId="Web-{CB127162-A7EB-9528-57EE-BBE8106ACD9F}" dt="2025-01-10T16:56:31.829" v="278" actId="1076"/>
          <ac:picMkLst>
            <pc:docMk/>
            <pc:sldMk cId="2827052769" sldId="285"/>
            <ac:picMk id="2" creationId="{116071C5-2D5D-53BB-037B-71E0EB06AE50}"/>
          </ac:picMkLst>
        </pc:picChg>
        <pc:picChg chg="del mod">
          <ac:chgData name="K PAVAN KUAMR" userId="S::pavan.20211isd0027@presidencyuniversity.in::80f66336-7476-4794-88c7-cff6f9eee3df" providerId="AD" clId="Web-{CB127162-A7EB-9528-57EE-BBE8106ACD9F}" dt="2025-01-10T16:55:06.640" v="265"/>
          <ac:picMkLst>
            <pc:docMk/>
            <pc:sldMk cId="2827052769" sldId="285"/>
            <ac:picMk id="5" creationId="{FC72EB1C-C581-5742-CB24-343C2BA1C150}"/>
          </ac:picMkLst>
        </pc:picChg>
      </pc:sldChg>
    </pc:docChg>
  </pc:docChgLst>
  <pc:docChgLst>
    <pc:chgData name="K PAVAN KUAMR" userId="S::pavan.20211isd0027@presidencyuniversity.in::80f66336-7476-4794-88c7-cff6f9eee3df" providerId="AD" clId="Web-{DA5AC460-7A0D-4D60-D1C0-730EBDA9DD8A}"/>
    <pc:docChg chg="addSld delSld modSld">
      <pc:chgData name="K PAVAN KUAMR" userId="S::pavan.20211isd0027@presidencyuniversity.in::80f66336-7476-4794-88c7-cff6f9eee3df" providerId="AD" clId="Web-{DA5AC460-7A0D-4D60-D1C0-730EBDA9DD8A}" dt="2025-01-10T16:33:06.833" v="699" actId="1076"/>
      <pc:docMkLst>
        <pc:docMk/>
      </pc:docMkLst>
      <pc:sldChg chg="addSp modSp mod modClrScheme chgLayout">
        <pc:chgData name="K PAVAN KUAMR" userId="S::pavan.20211isd0027@presidencyuniversity.in::80f66336-7476-4794-88c7-cff6f9eee3df" providerId="AD" clId="Web-{DA5AC460-7A0D-4D60-D1C0-730EBDA9DD8A}" dt="2025-01-10T09:18:51.801" v="123" actId="20577"/>
        <pc:sldMkLst>
          <pc:docMk/>
          <pc:sldMk cId="0" sldId="258"/>
        </pc:sldMkLst>
        <pc:spChg chg="mod ord">
          <ac:chgData name="K PAVAN KUAMR" userId="S::pavan.20211isd0027@presidencyuniversity.in::80f66336-7476-4794-88c7-cff6f9eee3df" providerId="AD" clId="Web-{DA5AC460-7A0D-4D60-D1C0-730EBDA9DD8A}" dt="2025-01-10T09:13:43.873" v="17"/>
          <ac:spMkLst>
            <pc:docMk/>
            <pc:sldMk cId="0" sldId="258"/>
            <ac:spMk id="2" creationId="{00000000-0000-0000-0000-000000000000}"/>
          </ac:spMkLst>
        </pc:spChg>
        <pc:spChg chg="add mod ord">
          <ac:chgData name="K PAVAN KUAMR" userId="S::pavan.20211isd0027@presidencyuniversity.in::80f66336-7476-4794-88c7-cff6f9eee3df" providerId="AD" clId="Web-{DA5AC460-7A0D-4D60-D1C0-730EBDA9DD8A}" dt="2025-01-10T09:18:51.801" v="123" actId="20577"/>
          <ac:spMkLst>
            <pc:docMk/>
            <pc:sldMk cId="0" sldId="258"/>
            <ac:spMk id="3" creationId="{B735D084-C80F-5855-1BE5-B07ECD339AE9}"/>
          </ac:spMkLst>
        </pc:spChg>
      </pc:sldChg>
      <pc:sldChg chg="addSp delSp modSp">
        <pc:chgData name="K PAVAN KUAMR" userId="S::pavan.20211isd0027@presidencyuniversity.in::80f66336-7476-4794-88c7-cff6f9eee3df" providerId="AD" clId="Web-{DA5AC460-7A0D-4D60-D1C0-730EBDA9DD8A}" dt="2025-01-10T09:30:48.378" v="213"/>
        <pc:sldMkLst>
          <pc:docMk/>
          <pc:sldMk cId="0" sldId="259"/>
        </pc:sldMkLst>
        <pc:spChg chg="add del">
          <ac:chgData name="K PAVAN KUAMR" userId="S::pavan.20211isd0027@presidencyuniversity.in::80f66336-7476-4794-88c7-cff6f9eee3df" providerId="AD" clId="Web-{DA5AC460-7A0D-4D60-D1C0-730EBDA9DD8A}" dt="2025-01-10T09:24:10.479" v="125"/>
          <ac:spMkLst>
            <pc:docMk/>
            <pc:sldMk cId="0" sldId="259"/>
            <ac:spMk id="3" creationId="{8FD0C3ED-C4B8-17AE-3780-A50833B5E74E}"/>
          </ac:spMkLst>
        </pc:spChg>
        <pc:graphicFrameChg chg="add del modGraphic">
          <ac:chgData name="K PAVAN KUAMR" userId="S::pavan.20211isd0027@presidencyuniversity.in::80f66336-7476-4794-88c7-cff6f9eee3df" providerId="AD" clId="Web-{DA5AC460-7A0D-4D60-D1C0-730EBDA9DD8A}" dt="2025-01-10T09:24:43.527" v="130"/>
          <ac:graphicFrameMkLst>
            <pc:docMk/>
            <pc:sldMk cId="0" sldId="259"/>
            <ac:graphicFrameMk id="4" creationId="{2A7684A0-BE3C-E384-D7C0-1BD4697DEC65}"/>
          </ac:graphicFrameMkLst>
        </pc:graphicFrameChg>
        <pc:graphicFrameChg chg="add del mod modGraphic">
          <ac:chgData name="K PAVAN KUAMR" userId="S::pavan.20211isd0027@presidencyuniversity.in::80f66336-7476-4794-88c7-cff6f9eee3df" providerId="AD" clId="Web-{DA5AC460-7A0D-4D60-D1C0-730EBDA9DD8A}" dt="2025-01-10T09:30:48.378" v="213"/>
          <ac:graphicFrameMkLst>
            <pc:docMk/>
            <pc:sldMk cId="0" sldId="259"/>
            <ac:graphicFrameMk id="5" creationId="{B6551F58-7ADA-6002-3FD4-B0DD89621D48}"/>
          </ac:graphicFrameMkLst>
        </pc:graphicFrameChg>
      </pc:sldChg>
      <pc:sldChg chg="addSp modSp mod modClrScheme chgLayout">
        <pc:chgData name="K PAVAN KUAMR" userId="S::pavan.20211isd0027@presidencyuniversity.in::80f66336-7476-4794-88c7-cff6f9eee3df" providerId="AD" clId="Web-{DA5AC460-7A0D-4D60-D1C0-730EBDA9DD8A}" dt="2025-01-10T09:50:47.762" v="497" actId="20577"/>
        <pc:sldMkLst>
          <pc:docMk/>
          <pc:sldMk cId="0" sldId="260"/>
        </pc:sldMkLst>
        <pc:spChg chg="mod ord">
          <ac:chgData name="K PAVAN KUAMR" userId="S::pavan.20211isd0027@presidencyuniversity.in::80f66336-7476-4794-88c7-cff6f9eee3df" providerId="AD" clId="Web-{DA5AC460-7A0D-4D60-D1C0-730EBDA9DD8A}" dt="2025-01-10T09:46:43.398" v="462"/>
          <ac:spMkLst>
            <pc:docMk/>
            <pc:sldMk cId="0" sldId="260"/>
            <ac:spMk id="2" creationId="{00000000-0000-0000-0000-000000000000}"/>
          </ac:spMkLst>
        </pc:spChg>
        <pc:spChg chg="add mod ord">
          <ac:chgData name="K PAVAN KUAMR" userId="S::pavan.20211isd0027@presidencyuniversity.in::80f66336-7476-4794-88c7-cff6f9eee3df" providerId="AD" clId="Web-{DA5AC460-7A0D-4D60-D1C0-730EBDA9DD8A}" dt="2025-01-10T09:50:47.762" v="497" actId="20577"/>
          <ac:spMkLst>
            <pc:docMk/>
            <pc:sldMk cId="0" sldId="260"/>
            <ac:spMk id="3" creationId="{F6597441-2FEC-432D-6F55-17397E825457}"/>
          </ac:spMkLst>
        </pc:spChg>
      </pc:sldChg>
      <pc:sldChg chg="addSp modSp mod modClrScheme chgLayout">
        <pc:chgData name="K PAVAN KUAMR" userId="S::pavan.20211isd0027@presidencyuniversity.in::80f66336-7476-4794-88c7-cff6f9eee3df" providerId="AD" clId="Web-{DA5AC460-7A0D-4D60-D1C0-730EBDA9DD8A}" dt="2025-01-10T09:43:49.925" v="461" actId="20577"/>
        <pc:sldMkLst>
          <pc:docMk/>
          <pc:sldMk cId="0" sldId="261"/>
        </pc:sldMkLst>
        <pc:spChg chg="mod ord">
          <ac:chgData name="K PAVAN KUAMR" userId="S::pavan.20211isd0027@presidencyuniversity.in::80f66336-7476-4794-88c7-cff6f9eee3df" providerId="AD" clId="Web-{DA5AC460-7A0D-4D60-D1C0-730EBDA9DD8A}" dt="2025-01-10T09:41:46.923" v="403"/>
          <ac:spMkLst>
            <pc:docMk/>
            <pc:sldMk cId="0" sldId="261"/>
            <ac:spMk id="2" creationId="{00000000-0000-0000-0000-000000000000}"/>
          </ac:spMkLst>
        </pc:spChg>
        <pc:spChg chg="add mod ord">
          <ac:chgData name="K PAVAN KUAMR" userId="S::pavan.20211isd0027@presidencyuniversity.in::80f66336-7476-4794-88c7-cff6f9eee3df" providerId="AD" clId="Web-{DA5AC460-7A0D-4D60-D1C0-730EBDA9DD8A}" dt="2025-01-10T09:43:49.925" v="461" actId="20577"/>
          <ac:spMkLst>
            <pc:docMk/>
            <pc:sldMk cId="0" sldId="261"/>
            <ac:spMk id="3" creationId="{084694B6-337A-7C60-B402-69E046F85147}"/>
          </ac:spMkLst>
        </pc:spChg>
      </pc:sldChg>
      <pc:sldChg chg="addSp modSp mod modClrScheme chgLayout">
        <pc:chgData name="K PAVAN KUAMR" userId="S::pavan.20211isd0027@presidencyuniversity.in::80f66336-7476-4794-88c7-cff6f9eee3df" providerId="AD" clId="Web-{DA5AC460-7A0D-4D60-D1C0-730EBDA9DD8A}" dt="2025-01-10T10:00:39.461" v="525" actId="20577"/>
        <pc:sldMkLst>
          <pc:docMk/>
          <pc:sldMk cId="0" sldId="262"/>
        </pc:sldMkLst>
        <pc:spChg chg="mod ord">
          <ac:chgData name="K PAVAN KUAMR" userId="S::pavan.20211isd0027@presidencyuniversity.in::80f66336-7476-4794-88c7-cff6f9eee3df" providerId="AD" clId="Web-{DA5AC460-7A0D-4D60-D1C0-730EBDA9DD8A}" dt="2025-01-10T09:55:28.486" v="498"/>
          <ac:spMkLst>
            <pc:docMk/>
            <pc:sldMk cId="0" sldId="262"/>
            <ac:spMk id="2" creationId="{00000000-0000-0000-0000-000000000000}"/>
          </ac:spMkLst>
        </pc:spChg>
        <pc:spChg chg="add mod ord">
          <ac:chgData name="K PAVAN KUAMR" userId="S::pavan.20211isd0027@presidencyuniversity.in::80f66336-7476-4794-88c7-cff6f9eee3df" providerId="AD" clId="Web-{DA5AC460-7A0D-4D60-D1C0-730EBDA9DD8A}" dt="2025-01-10T10:00:39.461" v="525" actId="20577"/>
          <ac:spMkLst>
            <pc:docMk/>
            <pc:sldMk cId="0" sldId="262"/>
            <ac:spMk id="3" creationId="{E70756B0-BCB0-8A45-0F8D-963D91E59CF6}"/>
          </ac:spMkLst>
        </pc:spChg>
      </pc:sldChg>
      <pc:sldChg chg="addSp delSp modSp">
        <pc:chgData name="K PAVAN KUAMR" userId="S::pavan.20211isd0027@presidencyuniversity.in::80f66336-7476-4794-88c7-cff6f9eee3df" providerId="AD" clId="Web-{DA5AC460-7A0D-4D60-D1C0-730EBDA9DD8A}" dt="2025-01-10T16:30:25.254" v="691" actId="14100"/>
        <pc:sldMkLst>
          <pc:docMk/>
          <pc:sldMk cId="0" sldId="263"/>
        </pc:sldMkLst>
        <pc:picChg chg="add del mod">
          <ac:chgData name="K PAVAN KUAMR" userId="S::pavan.20211isd0027@presidencyuniversity.in::80f66336-7476-4794-88c7-cff6f9eee3df" providerId="AD" clId="Web-{DA5AC460-7A0D-4D60-D1C0-730EBDA9DD8A}" dt="2025-01-10T16:29:21.175" v="679"/>
          <ac:picMkLst>
            <pc:docMk/>
            <pc:sldMk cId="0" sldId="263"/>
            <ac:picMk id="3" creationId="{0FA6399C-AB27-D521-31E9-9AD2999D9DD9}"/>
          </ac:picMkLst>
        </pc:picChg>
        <pc:picChg chg="add mod">
          <ac:chgData name="K PAVAN KUAMR" userId="S::pavan.20211isd0027@presidencyuniversity.in::80f66336-7476-4794-88c7-cff6f9eee3df" providerId="AD" clId="Web-{DA5AC460-7A0D-4D60-D1C0-730EBDA9DD8A}" dt="2025-01-10T16:30:25.254" v="691" actId="14100"/>
          <ac:picMkLst>
            <pc:docMk/>
            <pc:sldMk cId="0" sldId="263"/>
            <ac:picMk id="4" creationId="{66592EF3-2B9B-8898-BDF7-319A5D9332DC}"/>
          </ac:picMkLst>
        </pc:picChg>
      </pc:sldChg>
      <pc:sldChg chg="addSp modSp mod modClrScheme chgLayout">
        <pc:chgData name="K PAVAN KUAMR" userId="S::pavan.20211isd0027@presidencyuniversity.in::80f66336-7476-4794-88c7-cff6f9eee3df" providerId="AD" clId="Web-{DA5AC460-7A0D-4D60-D1C0-730EBDA9DD8A}" dt="2025-01-10T15:49:18.802" v="611" actId="20577"/>
        <pc:sldMkLst>
          <pc:docMk/>
          <pc:sldMk cId="0" sldId="264"/>
        </pc:sldMkLst>
        <pc:spChg chg="mod ord">
          <ac:chgData name="K PAVAN KUAMR" userId="S::pavan.20211isd0027@presidencyuniversity.in::80f66336-7476-4794-88c7-cff6f9eee3df" providerId="AD" clId="Web-{DA5AC460-7A0D-4D60-D1C0-730EBDA9DD8A}" dt="2025-01-10T15:45:11.360" v="587"/>
          <ac:spMkLst>
            <pc:docMk/>
            <pc:sldMk cId="0" sldId="264"/>
            <ac:spMk id="2" creationId="{00000000-0000-0000-0000-000000000000}"/>
          </ac:spMkLst>
        </pc:spChg>
        <pc:spChg chg="add mod ord">
          <ac:chgData name="K PAVAN KUAMR" userId="S::pavan.20211isd0027@presidencyuniversity.in::80f66336-7476-4794-88c7-cff6f9eee3df" providerId="AD" clId="Web-{DA5AC460-7A0D-4D60-D1C0-730EBDA9DD8A}" dt="2025-01-10T15:49:18.802" v="611" actId="20577"/>
          <ac:spMkLst>
            <pc:docMk/>
            <pc:sldMk cId="0" sldId="264"/>
            <ac:spMk id="3" creationId="{FE158228-CDD3-C784-4103-03F70CE05835}"/>
          </ac:spMkLst>
        </pc:spChg>
      </pc:sldChg>
      <pc:sldChg chg="addSp modSp mod modClrScheme chgLayout">
        <pc:chgData name="K PAVAN KUAMR" userId="S::pavan.20211isd0027@presidencyuniversity.in::80f66336-7476-4794-88c7-cff6f9eee3df" providerId="AD" clId="Web-{DA5AC460-7A0D-4D60-D1C0-730EBDA9DD8A}" dt="2025-01-10T15:52:21.039" v="621" actId="1076"/>
        <pc:sldMkLst>
          <pc:docMk/>
          <pc:sldMk cId="0" sldId="265"/>
        </pc:sldMkLst>
        <pc:spChg chg="mod ord">
          <ac:chgData name="K PAVAN KUAMR" userId="S::pavan.20211isd0027@presidencyuniversity.in::80f66336-7476-4794-88c7-cff6f9eee3df" providerId="AD" clId="Web-{DA5AC460-7A0D-4D60-D1C0-730EBDA9DD8A}" dt="2025-01-10T15:52:21.039" v="621" actId="1076"/>
          <ac:spMkLst>
            <pc:docMk/>
            <pc:sldMk cId="0" sldId="265"/>
            <ac:spMk id="2" creationId="{00000000-0000-0000-0000-000000000000}"/>
          </ac:spMkLst>
        </pc:spChg>
        <pc:spChg chg="add mod ord">
          <ac:chgData name="K PAVAN KUAMR" userId="S::pavan.20211isd0027@presidencyuniversity.in::80f66336-7476-4794-88c7-cff6f9eee3df" providerId="AD" clId="Web-{DA5AC460-7A0D-4D60-D1C0-730EBDA9DD8A}" dt="2025-01-10T15:52:14.258" v="620" actId="1076"/>
          <ac:spMkLst>
            <pc:docMk/>
            <pc:sldMk cId="0" sldId="265"/>
            <ac:spMk id="3" creationId="{3AA24E08-FC8F-DB2F-6B16-C54C911F2D39}"/>
          </ac:spMkLst>
        </pc:spChg>
      </pc:sldChg>
      <pc:sldChg chg="addSp modSp mod modClrScheme chgLayout">
        <pc:chgData name="K PAVAN KUAMR" userId="S::pavan.20211isd0027@presidencyuniversity.in::80f66336-7476-4794-88c7-cff6f9eee3df" providerId="AD" clId="Web-{DA5AC460-7A0D-4D60-D1C0-730EBDA9DD8A}" dt="2025-01-10T15:53:43.822" v="640" actId="20577"/>
        <pc:sldMkLst>
          <pc:docMk/>
          <pc:sldMk cId="0" sldId="266"/>
        </pc:sldMkLst>
        <pc:spChg chg="mod ord">
          <ac:chgData name="K PAVAN KUAMR" userId="S::pavan.20211isd0027@presidencyuniversity.in::80f66336-7476-4794-88c7-cff6f9eee3df" providerId="AD" clId="Web-{DA5AC460-7A0D-4D60-D1C0-730EBDA9DD8A}" dt="2025-01-10T15:53:02.728" v="623"/>
          <ac:spMkLst>
            <pc:docMk/>
            <pc:sldMk cId="0" sldId="266"/>
            <ac:spMk id="2" creationId="{00000000-0000-0000-0000-000000000000}"/>
          </ac:spMkLst>
        </pc:spChg>
        <pc:spChg chg="add mod ord">
          <ac:chgData name="K PAVAN KUAMR" userId="S::pavan.20211isd0027@presidencyuniversity.in::80f66336-7476-4794-88c7-cff6f9eee3df" providerId="AD" clId="Web-{DA5AC460-7A0D-4D60-D1C0-730EBDA9DD8A}" dt="2025-01-10T15:53:43.822" v="640" actId="20577"/>
          <ac:spMkLst>
            <pc:docMk/>
            <pc:sldMk cId="0" sldId="266"/>
            <ac:spMk id="3" creationId="{9C93712B-1215-E889-2DE4-C196E6145B48}"/>
          </ac:spMkLst>
        </pc:spChg>
      </pc:sldChg>
      <pc:sldChg chg="addSp delSp modSp mod modClrScheme chgLayout">
        <pc:chgData name="K PAVAN KUAMR" userId="S::pavan.20211isd0027@presidencyuniversity.in::80f66336-7476-4794-88c7-cff6f9eee3df" providerId="AD" clId="Web-{DA5AC460-7A0D-4D60-D1C0-730EBDA9DD8A}" dt="2025-01-10T09:11:13.807" v="16" actId="20577"/>
        <pc:sldMkLst>
          <pc:docMk/>
          <pc:sldMk cId="625028038" sldId="274"/>
        </pc:sldMkLst>
        <pc:spChg chg="add del mod ord">
          <ac:chgData name="K PAVAN KUAMR" userId="S::pavan.20211isd0027@presidencyuniversity.in::80f66336-7476-4794-88c7-cff6f9eee3df" providerId="AD" clId="Web-{DA5AC460-7A0D-4D60-D1C0-730EBDA9DD8A}" dt="2025-01-10T09:10:12.994" v="8"/>
          <ac:spMkLst>
            <pc:docMk/>
            <pc:sldMk cId="625028038" sldId="274"/>
            <ac:spMk id="2" creationId="{907CD89F-31D0-53A2-BBE9-FED672A677CB}"/>
          </ac:spMkLst>
        </pc:spChg>
        <pc:spChg chg="add mod ord">
          <ac:chgData name="K PAVAN KUAMR" userId="S::pavan.20211isd0027@presidencyuniversity.in::80f66336-7476-4794-88c7-cff6f9eee3df" providerId="AD" clId="Web-{DA5AC460-7A0D-4D60-D1C0-730EBDA9DD8A}" dt="2025-01-10T09:11:13.807" v="16" actId="20577"/>
          <ac:spMkLst>
            <pc:docMk/>
            <pc:sldMk cId="625028038" sldId="274"/>
            <ac:spMk id="3" creationId="{9E497EE5-4EC3-5F57-E167-FD11551A4D0C}"/>
          </ac:spMkLst>
        </pc:spChg>
        <pc:spChg chg="del mod">
          <ac:chgData name="K PAVAN KUAMR" userId="S::pavan.20211isd0027@presidencyuniversity.in::80f66336-7476-4794-88c7-cff6f9eee3df" providerId="AD" clId="Web-{DA5AC460-7A0D-4D60-D1C0-730EBDA9DD8A}" dt="2025-01-10T09:07:44.522" v="2"/>
          <ac:spMkLst>
            <pc:docMk/>
            <pc:sldMk cId="625028038" sldId="274"/>
            <ac:spMk id="5" creationId="{476BA344-EAD2-6231-ECF6-923925D9FBC5}"/>
          </ac:spMkLst>
        </pc:spChg>
      </pc:sldChg>
      <pc:sldChg chg="addSp delSp modSp add replId">
        <pc:chgData name="K PAVAN KUAMR" userId="S::pavan.20211isd0027@presidencyuniversity.in::80f66336-7476-4794-88c7-cff6f9eee3df" providerId="AD" clId="Web-{DA5AC460-7A0D-4D60-D1C0-730EBDA9DD8A}" dt="2025-01-10T10:01:48.025" v="554" actId="20577"/>
        <pc:sldMkLst>
          <pc:docMk/>
          <pc:sldMk cId="960813345" sldId="275"/>
        </pc:sldMkLst>
        <pc:spChg chg="del">
          <ac:chgData name="K PAVAN KUAMR" userId="S::pavan.20211isd0027@presidencyuniversity.in::80f66336-7476-4794-88c7-cff6f9eee3df" providerId="AD" clId="Web-{DA5AC460-7A0D-4D60-D1C0-730EBDA9DD8A}" dt="2025-01-10T09:14:34.624" v="24"/>
          <ac:spMkLst>
            <pc:docMk/>
            <pc:sldMk cId="960813345" sldId="275"/>
            <ac:spMk id="2" creationId="{00000000-0000-0000-0000-000000000000}"/>
          </ac:spMkLst>
        </pc:spChg>
        <pc:spChg chg="mod">
          <ac:chgData name="K PAVAN KUAMR" userId="S::pavan.20211isd0027@presidencyuniversity.in::80f66336-7476-4794-88c7-cff6f9eee3df" providerId="AD" clId="Web-{DA5AC460-7A0D-4D60-D1C0-730EBDA9DD8A}" dt="2025-01-10T10:01:48.025" v="554" actId="20577"/>
          <ac:spMkLst>
            <pc:docMk/>
            <pc:sldMk cId="960813345" sldId="275"/>
            <ac:spMk id="3" creationId="{B735D084-C80F-5855-1BE5-B07ECD339AE9}"/>
          </ac:spMkLst>
        </pc:spChg>
        <pc:spChg chg="add del mod">
          <ac:chgData name="K PAVAN KUAMR" userId="S::pavan.20211isd0027@presidencyuniversity.in::80f66336-7476-4794-88c7-cff6f9eee3df" providerId="AD" clId="Web-{DA5AC460-7A0D-4D60-D1C0-730EBDA9DD8A}" dt="2025-01-10T09:14:38.952" v="25"/>
          <ac:spMkLst>
            <pc:docMk/>
            <pc:sldMk cId="960813345" sldId="275"/>
            <ac:spMk id="5" creationId="{F4DBB03E-1766-A8F3-9DAC-675B8DABB2FF}"/>
          </ac:spMkLst>
        </pc:spChg>
      </pc:sldChg>
      <pc:sldChg chg="modSp add replId">
        <pc:chgData name="K PAVAN KUAMR" userId="S::pavan.20211isd0027@presidencyuniversity.in::80f66336-7476-4794-88c7-cff6f9eee3df" providerId="AD" clId="Web-{DA5AC460-7A0D-4D60-D1C0-730EBDA9DD8A}" dt="2025-01-10T10:01:14.243" v="533" actId="20577"/>
        <pc:sldMkLst>
          <pc:docMk/>
          <pc:sldMk cId="4189602342" sldId="276"/>
        </pc:sldMkLst>
        <pc:spChg chg="mod">
          <ac:chgData name="K PAVAN KUAMR" userId="S::pavan.20211isd0027@presidencyuniversity.in::80f66336-7476-4794-88c7-cff6f9eee3df" providerId="AD" clId="Web-{DA5AC460-7A0D-4D60-D1C0-730EBDA9DD8A}" dt="2025-01-10T10:01:14.243" v="533" actId="20577"/>
          <ac:spMkLst>
            <pc:docMk/>
            <pc:sldMk cId="4189602342" sldId="276"/>
            <ac:spMk id="3" creationId="{B735D084-C80F-5855-1BE5-B07ECD339AE9}"/>
          </ac:spMkLst>
        </pc:spChg>
      </pc:sldChg>
      <pc:sldChg chg="delSp modSp add replId">
        <pc:chgData name="K PAVAN KUAMR" userId="S::pavan.20211isd0027@presidencyuniversity.in::80f66336-7476-4794-88c7-cff6f9eee3df" providerId="AD" clId="Web-{DA5AC460-7A0D-4D60-D1C0-730EBDA9DD8A}" dt="2025-01-10T09:37:56.074" v="331"/>
        <pc:sldMkLst>
          <pc:docMk/>
          <pc:sldMk cId="3702727373" sldId="277"/>
        </pc:sldMkLst>
        <pc:spChg chg="del mod">
          <ac:chgData name="K PAVAN KUAMR" userId="S::pavan.20211isd0027@presidencyuniversity.in::80f66336-7476-4794-88c7-cff6f9eee3df" providerId="AD" clId="Web-{DA5AC460-7A0D-4D60-D1C0-730EBDA9DD8A}" dt="2025-01-10T09:31:04.050" v="217"/>
          <ac:spMkLst>
            <pc:docMk/>
            <pc:sldMk cId="3702727373" sldId="277"/>
            <ac:spMk id="2" creationId="{00000000-0000-0000-0000-000000000000}"/>
          </ac:spMkLst>
        </pc:spChg>
        <pc:graphicFrameChg chg="mod modGraphic">
          <ac:chgData name="K PAVAN KUAMR" userId="S::pavan.20211isd0027@presidencyuniversity.in::80f66336-7476-4794-88c7-cff6f9eee3df" providerId="AD" clId="Web-{DA5AC460-7A0D-4D60-D1C0-730EBDA9DD8A}" dt="2025-01-10T09:37:56.074" v="331"/>
          <ac:graphicFrameMkLst>
            <pc:docMk/>
            <pc:sldMk cId="3702727373" sldId="277"/>
            <ac:graphicFrameMk id="5" creationId="{B6551F58-7ADA-6002-3FD4-B0DD89621D48}"/>
          </ac:graphicFrameMkLst>
        </pc:graphicFrameChg>
      </pc:sldChg>
      <pc:sldChg chg="delSp modSp add replId">
        <pc:chgData name="K PAVAN KUAMR" userId="S::pavan.20211isd0027@presidencyuniversity.in::80f66336-7476-4794-88c7-cff6f9eee3df" providerId="AD" clId="Web-{DA5AC460-7A0D-4D60-D1C0-730EBDA9DD8A}" dt="2025-01-10T09:40:51.640" v="402"/>
        <pc:sldMkLst>
          <pc:docMk/>
          <pc:sldMk cId="857192623" sldId="278"/>
        </pc:sldMkLst>
        <pc:spChg chg="del mod">
          <ac:chgData name="K PAVAN KUAMR" userId="S::pavan.20211isd0027@presidencyuniversity.in::80f66336-7476-4794-88c7-cff6f9eee3df" providerId="AD" clId="Web-{DA5AC460-7A0D-4D60-D1C0-730EBDA9DD8A}" dt="2025-01-10T09:38:21.091" v="333"/>
          <ac:spMkLst>
            <pc:docMk/>
            <pc:sldMk cId="857192623" sldId="278"/>
            <ac:spMk id="2" creationId="{00000000-0000-0000-0000-000000000000}"/>
          </ac:spMkLst>
        </pc:spChg>
        <pc:graphicFrameChg chg="mod modGraphic">
          <ac:chgData name="K PAVAN KUAMR" userId="S::pavan.20211isd0027@presidencyuniversity.in::80f66336-7476-4794-88c7-cff6f9eee3df" providerId="AD" clId="Web-{DA5AC460-7A0D-4D60-D1C0-730EBDA9DD8A}" dt="2025-01-10T09:40:51.640" v="402"/>
          <ac:graphicFrameMkLst>
            <pc:docMk/>
            <pc:sldMk cId="857192623" sldId="278"/>
            <ac:graphicFrameMk id="5" creationId="{B6551F58-7ADA-6002-3FD4-B0DD89621D48}"/>
          </ac:graphicFrameMkLst>
        </pc:graphicFrameChg>
      </pc:sldChg>
      <pc:sldChg chg="delSp modSp add replId">
        <pc:chgData name="K PAVAN KUAMR" userId="S::pavan.20211isd0027@presidencyuniversity.in::80f66336-7476-4794-88c7-cff6f9eee3df" providerId="AD" clId="Web-{DA5AC460-7A0D-4D60-D1C0-730EBDA9DD8A}" dt="2025-01-10T09:49:58.995" v="491" actId="20577"/>
        <pc:sldMkLst>
          <pc:docMk/>
          <pc:sldMk cId="1161365982" sldId="279"/>
        </pc:sldMkLst>
        <pc:spChg chg="del mod">
          <ac:chgData name="K PAVAN KUAMR" userId="S::pavan.20211isd0027@presidencyuniversity.in::80f66336-7476-4794-88c7-cff6f9eee3df" providerId="AD" clId="Web-{DA5AC460-7A0D-4D60-D1C0-730EBDA9DD8A}" dt="2025-01-10T09:47:54.102" v="475"/>
          <ac:spMkLst>
            <pc:docMk/>
            <pc:sldMk cId="1161365982" sldId="279"/>
            <ac:spMk id="2" creationId="{00000000-0000-0000-0000-000000000000}"/>
          </ac:spMkLst>
        </pc:spChg>
        <pc:spChg chg="mod">
          <ac:chgData name="K PAVAN KUAMR" userId="S::pavan.20211isd0027@presidencyuniversity.in::80f66336-7476-4794-88c7-cff6f9eee3df" providerId="AD" clId="Web-{DA5AC460-7A0D-4D60-D1C0-730EBDA9DD8A}" dt="2025-01-10T09:49:58.995" v="491" actId="20577"/>
          <ac:spMkLst>
            <pc:docMk/>
            <pc:sldMk cId="1161365982" sldId="279"/>
            <ac:spMk id="3" creationId="{F6597441-2FEC-432D-6F55-17397E825457}"/>
          </ac:spMkLst>
        </pc:spChg>
      </pc:sldChg>
      <pc:sldChg chg="addSp delSp modSp add del replId">
        <pc:chgData name="K PAVAN KUAMR" userId="S::pavan.20211isd0027@presidencyuniversity.in::80f66336-7476-4794-88c7-cff6f9eee3df" providerId="AD" clId="Web-{DA5AC460-7A0D-4D60-D1C0-730EBDA9DD8A}" dt="2025-01-10T15:36:39.914" v="561"/>
        <pc:sldMkLst>
          <pc:docMk/>
          <pc:sldMk cId="3319193769" sldId="280"/>
        </pc:sldMkLst>
        <pc:spChg chg="del mod">
          <ac:chgData name="K PAVAN KUAMR" userId="S::pavan.20211isd0027@presidencyuniversity.in::80f66336-7476-4794-88c7-cff6f9eee3df" providerId="AD" clId="Web-{DA5AC460-7A0D-4D60-D1C0-730EBDA9DD8A}" dt="2025-01-10T09:56:19.300" v="511"/>
          <ac:spMkLst>
            <pc:docMk/>
            <pc:sldMk cId="3319193769" sldId="280"/>
            <ac:spMk id="2" creationId="{00000000-0000-0000-0000-000000000000}"/>
          </ac:spMkLst>
        </pc:spChg>
        <pc:spChg chg="del mod">
          <ac:chgData name="K PAVAN KUAMR" userId="S::pavan.20211isd0027@presidencyuniversity.in::80f66336-7476-4794-88c7-cff6f9eee3df" providerId="AD" clId="Web-{DA5AC460-7A0D-4D60-D1C0-730EBDA9DD8A}" dt="2025-01-10T15:35:18.553" v="559"/>
          <ac:spMkLst>
            <pc:docMk/>
            <pc:sldMk cId="3319193769" sldId="280"/>
            <ac:spMk id="3" creationId="{E70756B0-BCB0-8A45-0F8D-963D91E59CF6}"/>
          </ac:spMkLst>
        </pc:spChg>
        <pc:spChg chg="add del mod">
          <ac:chgData name="K PAVAN KUAMR" userId="S::pavan.20211isd0027@presidencyuniversity.in::80f66336-7476-4794-88c7-cff6f9eee3df" providerId="AD" clId="Web-{DA5AC460-7A0D-4D60-D1C0-730EBDA9DD8A}" dt="2025-01-10T09:56:50.676" v="512"/>
          <ac:spMkLst>
            <pc:docMk/>
            <pc:sldMk cId="3319193769" sldId="280"/>
            <ac:spMk id="5" creationId="{B0591E95-49BC-B557-C741-1CECC6BC62D3}"/>
          </ac:spMkLst>
        </pc:spChg>
      </pc:sldChg>
      <pc:sldChg chg="modSp add replId">
        <pc:chgData name="K PAVAN KUAMR" userId="S::pavan.20211isd0027@presidencyuniversity.in::80f66336-7476-4794-88c7-cff6f9eee3df" providerId="AD" clId="Web-{DA5AC460-7A0D-4D60-D1C0-730EBDA9DD8A}" dt="2025-01-10T10:02:26.510" v="556" actId="1076"/>
        <pc:sldMkLst>
          <pc:docMk/>
          <pc:sldMk cId="2330238733" sldId="281"/>
        </pc:sldMkLst>
        <pc:spChg chg="mod">
          <ac:chgData name="K PAVAN KUAMR" userId="S::pavan.20211isd0027@presidencyuniversity.in::80f66336-7476-4794-88c7-cff6f9eee3df" providerId="AD" clId="Web-{DA5AC460-7A0D-4D60-D1C0-730EBDA9DD8A}" dt="2025-01-10T10:02:26.510" v="556" actId="1076"/>
          <ac:spMkLst>
            <pc:docMk/>
            <pc:sldMk cId="2330238733" sldId="281"/>
            <ac:spMk id="3" creationId="{E70756B0-BCB0-8A45-0F8D-963D91E59CF6}"/>
          </ac:spMkLst>
        </pc:spChg>
      </pc:sldChg>
      <pc:sldChg chg="addSp delSp modSp add mod replId modClrScheme chgLayout">
        <pc:chgData name="K PAVAN KUAMR" userId="S::pavan.20211isd0027@presidencyuniversity.in::80f66336-7476-4794-88c7-cff6f9eee3df" providerId="AD" clId="Web-{DA5AC460-7A0D-4D60-D1C0-730EBDA9DD8A}" dt="2025-01-10T15:40:42.590" v="586" actId="1076"/>
        <pc:sldMkLst>
          <pc:docMk/>
          <pc:sldMk cId="3674564123" sldId="282"/>
        </pc:sldMkLst>
        <pc:spChg chg="del mod">
          <ac:chgData name="K PAVAN KUAMR" userId="S::pavan.20211isd0027@presidencyuniversity.in::80f66336-7476-4794-88c7-cff6f9eee3df" providerId="AD" clId="Web-{DA5AC460-7A0D-4D60-D1C0-730EBDA9DD8A}" dt="2025-01-10T15:36:54.415" v="563"/>
          <ac:spMkLst>
            <pc:docMk/>
            <pc:sldMk cId="3674564123" sldId="282"/>
            <ac:spMk id="2" creationId="{00000000-0000-0000-0000-000000000000}"/>
          </ac:spMkLst>
        </pc:spChg>
        <pc:spChg chg="del mod">
          <ac:chgData name="K PAVAN KUAMR" userId="S::pavan.20211isd0027@presidencyuniversity.in::80f66336-7476-4794-88c7-cff6f9eee3df" providerId="AD" clId="Web-{DA5AC460-7A0D-4D60-D1C0-730EBDA9DD8A}" dt="2025-01-10T15:38:43.604" v="567"/>
          <ac:spMkLst>
            <pc:docMk/>
            <pc:sldMk cId="3674564123" sldId="282"/>
            <ac:spMk id="3" creationId="{E70756B0-BCB0-8A45-0F8D-963D91E59CF6}"/>
          </ac:spMkLst>
        </pc:spChg>
        <pc:spChg chg="add del mod">
          <ac:chgData name="K PAVAN KUAMR" userId="S::pavan.20211isd0027@presidencyuniversity.in::80f66336-7476-4794-88c7-cff6f9eee3df" providerId="AD" clId="Web-{DA5AC460-7A0D-4D60-D1C0-730EBDA9DD8A}" dt="2025-01-10T15:39:34.698" v="574"/>
          <ac:spMkLst>
            <pc:docMk/>
            <pc:sldMk cId="3674564123" sldId="282"/>
            <ac:spMk id="4" creationId="{609AD68A-497F-BC7F-7AF4-8A17B41DE3D4}"/>
          </ac:spMkLst>
        </pc:spChg>
        <pc:spChg chg="add del mod">
          <ac:chgData name="K PAVAN KUAMR" userId="S::pavan.20211isd0027@presidencyuniversity.in::80f66336-7476-4794-88c7-cff6f9eee3df" providerId="AD" clId="Web-{DA5AC460-7A0D-4D60-D1C0-730EBDA9DD8A}" dt="2025-01-10T15:39:41.433" v="575"/>
          <ac:spMkLst>
            <pc:docMk/>
            <pc:sldMk cId="3674564123" sldId="282"/>
            <ac:spMk id="5" creationId="{DF5CE1A9-33D7-427E-E2C2-26FE10434704}"/>
          </ac:spMkLst>
        </pc:spChg>
        <pc:spChg chg="add mod ord">
          <ac:chgData name="K PAVAN KUAMR" userId="S::pavan.20211isd0027@presidencyuniversity.in::80f66336-7476-4794-88c7-cff6f9eee3df" providerId="AD" clId="Web-{DA5AC460-7A0D-4D60-D1C0-730EBDA9DD8A}" dt="2025-01-10T15:40:39.528" v="585" actId="20577"/>
          <ac:spMkLst>
            <pc:docMk/>
            <pc:sldMk cId="3674564123" sldId="282"/>
            <ac:spMk id="8" creationId="{F465F82C-0515-F7FD-B227-3B660D660649}"/>
          </ac:spMkLst>
        </pc:spChg>
        <pc:picChg chg="add del mod">
          <ac:chgData name="K PAVAN KUAMR" userId="S::pavan.20211isd0027@presidencyuniversity.in::80f66336-7476-4794-88c7-cff6f9eee3df" providerId="AD" clId="Web-{DA5AC460-7A0D-4D60-D1C0-730EBDA9DD8A}" dt="2025-01-10T15:39:28.980" v="572"/>
          <ac:picMkLst>
            <pc:docMk/>
            <pc:sldMk cId="3674564123" sldId="282"/>
            <ac:picMk id="6" creationId="{880C8BE6-9457-2210-E2AC-582A9BA36A37}"/>
          </ac:picMkLst>
        </pc:picChg>
        <pc:picChg chg="add mod">
          <ac:chgData name="K PAVAN KUAMR" userId="S::pavan.20211isd0027@presidencyuniversity.in::80f66336-7476-4794-88c7-cff6f9eee3df" providerId="AD" clId="Web-{DA5AC460-7A0D-4D60-D1C0-730EBDA9DD8A}" dt="2025-01-10T15:40:42.590" v="586" actId="1076"/>
          <ac:picMkLst>
            <pc:docMk/>
            <pc:sldMk cId="3674564123" sldId="282"/>
            <ac:picMk id="7" creationId="{CF607A7E-9559-267E-D046-3DCBC94E95AC}"/>
          </ac:picMkLst>
        </pc:picChg>
      </pc:sldChg>
      <pc:sldChg chg="addSp delSp modSp add mod replId modClrScheme chgLayout">
        <pc:chgData name="K PAVAN KUAMR" userId="S::pavan.20211isd0027@presidencyuniversity.in::80f66336-7476-4794-88c7-cff6f9eee3df" providerId="AD" clId="Web-{DA5AC460-7A0D-4D60-D1C0-730EBDA9DD8A}" dt="2025-01-10T15:55:38.058" v="666" actId="20577"/>
        <pc:sldMkLst>
          <pc:docMk/>
          <pc:sldMk cId="879483983" sldId="283"/>
        </pc:sldMkLst>
        <pc:spChg chg="del">
          <ac:chgData name="K PAVAN KUAMR" userId="S::pavan.20211isd0027@presidencyuniversity.in::80f66336-7476-4794-88c7-cff6f9eee3df" providerId="AD" clId="Web-{DA5AC460-7A0D-4D60-D1C0-730EBDA9DD8A}" dt="2025-01-10T15:53:51.869" v="641"/>
          <ac:spMkLst>
            <pc:docMk/>
            <pc:sldMk cId="879483983" sldId="283"/>
            <ac:spMk id="2" creationId="{00000000-0000-0000-0000-000000000000}"/>
          </ac:spMkLst>
        </pc:spChg>
        <pc:spChg chg="add del mod ord">
          <ac:chgData name="K PAVAN KUAMR" userId="S::pavan.20211isd0027@presidencyuniversity.in::80f66336-7476-4794-88c7-cff6f9eee3df" providerId="AD" clId="Web-{DA5AC460-7A0D-4D60-D1C0-730EBDA9DD8A}" dt="2025-01-10T15:54:05.073" v="643"/>
          <ac:spMkLst>
            <pc:docMk/>
            <pc:sldMk cId="879483983" sldId="283"/>
            <ac:spMk id="4" creationId="{AA8356E0-6113-15B5-7444-CBB57202E4AD}"/>
          </ac:spMkLst>
        </pc:spChg>
        <pc:spChg chg="add mod ord">
          <ac:chgData name="K PAVAN KUAMR" userId="S::pavan.20211isd0027@presidencyuniversity.in::80f66336-7476-4794-88c7-cff6f9eee3df" providerId="AD" clId="Web-{DA5AC460-7A0D-4D60-D1C0-730EBDA9DD8A}" dt="2025-01-10T15:55:38.058" v="666" actId="20577"/>
          <ac:spMkLst>
            <pc:docMk/>
            <pc:sldMk cId="879483983" sldId="283"/>
            <ac:spMk id="5" creationId="{7EDD71BA-9F4A-59C2-D9F6-3991CB2F9D3D}"/>
          </ac:spMkLst>
        </pc:spChg>
      </pc:sldChg>
      <pc:sldChg chg="modSp add replId">
        <pc:chgData name="K PAVAN KUAMR" userId="S::pavan.20211isd0027@presidencyuniversity.in::80f66336-7476-4794-88c7-cff6f9eee3df" providerId="AD" clId="Web-{DA5AC460-7A0D-4D60-D1C0-730EBDA9DD8A}" dt="2025-01-10T15:55:58.496" v="675" actId="20577"/>
        <pc:sldMkLst>
          <pc:docMk/>
          <pc:sldMk cId="3479657091" sldId="284"/>
        </pc:sldMkLst>
        <pc:spChg chg="mod">
          <ac:chgData name="K PAVAN KUAMR" userId="S::pavan.20211isd0027@presidencyuniversity.in::80f66336-7476-4794-88c7-cff6f9eee3df" providerId="AD" clId="Web-{DA5AC460-7A0D-4D60-D1C0-730EBDA9DD8A}" dt="2025-01-10T15:55:58.496" v="675" actId="20577"/>
          <ac:spMkLst>
            <pc:docMk/>
            <pc:sldMk cId="3479657091" sldId="284"/>
            <ac:spMk id="5" creationId="{7EDD71BA-9F4A-59C2-D9F6-3991CB2F9D3D}"/>
          </ac:spMkLst>
        </pc:spChg>
      </pc:sldChg>
      <pc:sldChg chg="addSp delSp modSp add replId">
        <pc:chgData name="K PAVAN KUAMR" userId="S::pavan.20211isd0027@presidencyuniversity.in::80f66336-7476-4794-88c7-cff6f9eee3df" providerId="AD" clId="Web-{DA5AC460-7A0D-4D60-D1C0-730EBDA9DD8A}" dt="2025-01-10T16:33:06.833" v="699" actId="1076"/>
        <pc:sldMkLst>
          <pc:docMk/>
          <pc:sldMk cId="2827052769" sldId="285"/>
        </pc:sldMkLst>
        <pc:spChg chg="del">
          <ac:chgData name="K PAVAN KUAMR" userId="S::pavan.20211isd0027@presidencyuniversity.in::80f66336-7476-4794-88c7-cff6f9eee3df" providerId="AD" clId="Web-{DA5AC460-7A0D-4D60-D1C0-730EBDA9DD8A}" dt="2025-01-10T16:32:29.849" v="693"/>
          <ac:spMkLst>
            <pc:docMk/>
            <pc:sldMk cId="2827052769" sldId="285"/>
            <ac:spMk id="2" creationId="{00000000-0000-0000-0000-000000000000}"/>
          </ac:spMkLst>
        </pc:spChg>
        <pc:spChg chg="add del mod">
          <ac:chgData name="K PAVAN KUAMR" userId="S::pavan.20211isd0027@presidencyuniversity.in::80f66336-7476-4794-88c7-cff6f9eee3df" providerId="AD" clId="Web-{DA5AC460-7A0D-4D60-D1C0-730EBDA9DD8A}" dt="2025-01-10T16:32:38.333" v="694"/>
          <ac:spMkLst>
            <pc:docMk/>
            <pc:sldMk cId="2827052769" sldId="285"/>
            <ac:spMk id="4" creationId="{1AD84F56-5B32-3678-BC12-CCA9534A677A}"/>
          </ac:spMkLst>
        </pc:spChg>
        <pc:picChg chg="add mod">
          <ac:chgData name="K PAVAN KUAMR" userId="S::pavan.20211isd0027@presidencyuniversity.in::80f66336-7476-4794-88c7-cff6f9eee3df" providerId="AD" clId="Web-{DA5AC460-7A0D-4D60-D1C0-730EBDA9DD8A}" dt="2025-01-10T16:33:06.833" v="699" actId="1076"/>
          <ac:picMkLst>
            <pc:docMk/>
            <pc:sldMk cId="2827052769" sldId="285"/>
            <ac:picMk id="5" creationId="{FC72EB1C-C581-5742-CB24-343C2BA1C15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5846063"/>
            <a:ext cx="12192000" cy="1011935"/>
          </a:xfrm>
          <a:prstGeom prst="rect">
            <a:avLst/>
          </a:prstGeom>
        </p:spPr>
      </p:pic>
      <p:sp>
        <p:nvSpPr>
          <p:cNvPr id="2" name="Holder 2"/>
          <p:cNvSpPr>
            <a:spLocks noGrp="1"/>
          </p:cNvSpPr>
          <p:nvPr>
            <p:ph type="title"/>
          </p:nvPr>
        </p:nvSpPr>
        <p:spPr>
          <a:xfrm>
            <a:off x="917575" y="275444"/>
            <a:ext cx="8938260" cy="1056640"/>
          </a:xfrm>
          <a:prstGeom prst="rect">
            <a:avLst/>
          </a:prstGeom>
        </p:spPr>
        <p:txBody>
          <a:bodyPr wrap="square" lIns="0" tIns="0" rIns="0" bIns="0">
            <a:spAutoFit/>
          </a:bodyPr>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869950" y="1618361"/>
            <a:ext cx="10961370" cy="393763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1/13/2025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mailto:mAP@0.5:0.95" TargetMode="External"/><Relationship Id="rId2" Type="http://schemas.openxmlformats.org/officeDocument/2006/relationships/hyperlink" Target="mailto:mAP@0.5"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42058" y="1140416"/>
            <a:ext cx="10961370" cy="4010072"/>
          </a:xfrm>
          <a:prstGeom prst="rect">
            <a:avLst/>
          </a:prstGeom>
        </p:spPr>
        <p:txBody>
          <a:bodyPr vert="horz" wrap="square" lIns="0" tIns="16510" rIns="0" bIns="0" rtlCol="0" anchor="t">
            <a:spAutoFit/>
          </a:bodyPr>
          <a:lstStyle/>
          <a:p>
            <a:pPr algn="ctr">
              <a:lnSpc>
                <a:spcPct val="100000"/>
              </a:lnSpc>
              <a:spcBef>
                <a:spcPts val="770"/>
              </a:spcBef>
            </a:pPr>
            <a:r>
              <a:rPr lang="en-US" sz="3200" dirty="0"/>
              <a:t>HUMAN LIFE DETECTION DURING FIRE</a:t>
            </a:r>
            <a:endParaRPr sz="3200" dirty="0">
              <a:latin typeface="Verdana"/>
              <a:cs typeface="Verdana"/>
            </a:endParaRPr>
          </a:p>
          <a:p>
            <a:pPr algn="ctr">
              <a:spcBef>
                <a:spcPts val="770"/>
              </a:spcBef>
            </a:pPr>
            <a:endParaRPr lang="en-US" sz="3200" dirty="0"/>
          </a:p>
          <a:p>
            <a:pPr marL="12700">
              <a:lnSpc>
                <a:spcPct val="100000"/>
              </a:lnSpc>
            </a:pPr>
            <a:r>
              <a:rPr sz="2400" b="1" dirty="0">
                <a:latin typeface="Calibri"/>
                <a:cs typeface="Calibri"/>
              </a:rPr>
              <a:t>Batch</a:t>
            </a:r>
            <a:r>
              <a:rPr sz="2400" b="1" spc="-105" dirty="0">
                <a:latin typeface="Calibri"/>
                <a:cs typeface="Calibri"/>
              </a:rPr>
              <a:t> </a:t>
            </a:r>
            <a:r>
              <a:rPr sz="2400" b="1" spc="-10" dirty="0">
                <a:latin typeface="Calibri"/>
                <a:cs typeface="Calibri"/>
              </a:rPr>
              <a:t>Number:</a:t>
            </a:r>
            <a:r>
              <a:rPr lang="en-US" sz="2400" b="1" spc="-10" dirty="0">
                <a:latin typeface="Calibri"/>
                <a:cs typeface="Calibri"/>
              </a:rPr>
              <a:t> ISD-04</a:t>
            </a:r>
            <a:endParaRPr sz="2400" dirty="0">
              <a:latin typeface="Calibri"/>
              <a:cs typeface="Calibri"/>
            </a:endParaRPr>
          </a:p>
          <a:p>
            <a:pPr marL="6524625">
              <a:lnSpc>
                <a:spcPct val="100000"/>
              </a:lnSpc>
              <a:spcBef>
                <a:spcPts val="1650"/>
              </a:spcBef>
            </a:pPr>
            <a:r>
              <a:rPr sz="2000" b="1" dirty="0">
                <a:latin typeface="Verdana"/>
                <a:cs typeface="Verdana"/>
              </a:rPr>
              <a:t>Under</a:t>
            </a:r>
            <a:r>
              <a:rPr sz="2000" b="1" spc="-10" dirty="0">
                <a:latin typeface="Verdana"/>
                <a:cs typeface="Verdana"/>
              </a:rPr>
              <a:t> </a:t>
            </a:r>
            <a:r>
              <a:rPr sz="2000" b="1" dirty="0">
                <a:latin typeface="Verdana"/>
                <a:cs typeface="Verdana"/>
              </a:rPr>
              <a:t>the</a:t>
            </a:r>
            <a:r>
              <a:rPr sz="2000" b="1" spc="-40" dirty="0">
                <a:latin typeface="Verdana"/>
                <a:cs typeface="Verdana"/>
              </a:rPr>
              <a:t> </a:t>
            </a:r>
            <a:r>
              <a:rPr sz="2000" b="1" dirty="0">
                <a:latin typeface="Verdana"/>
                <a:cs typeface="Verdana"/>
              </a:rPr>
              <a:t>Supervision</a:t>
            </a:r>
            <a:r>
              <a:rPr sz="2000" b="1" spc="-65" dirty="0">
                <a:latin typeface="Verdana"/>
                <a:cs typeface="Verdana"/>
              </a:rPr>
              <a:t> </a:t>
            </a:r>
            <a:r>
              <a:rPr sz="2000" b="1" spc="-25" dirty="0">
                <a:latin typeface="Verdana"/>
                <a:cs typeface="Verdana"/>
              </a:rPr>
              <a:t>of,</a:t>
            </a:r>
            <a:endParaRPr lang="en-US" sz="2000" dirty="0">
              <a:latin typeface="Verdana"/>
              <a:cs typeface="Verdana"/>
            </a:endParaRPr>
          </a:p>
          <a:p>
            <a:pPr>
              <a:lnSpc>
                <a:spcPct val="100000"/>
              </a:lnSpc>
              <a:spcBef>
                <a:spcPts val="425"/>
              </a:spcBef>
            </a:pPr>
            <a:endParaRPr lang="en-US" sz="2000">
              <a:latin typeface="Verdana"/>
              <a:cs typeface="Verdana"/>
            </a:endParaRPr>
          </a:p>
          <a:p>
            <a:pPr marL="5681345">
              <a:lnSpc>
                <a:spcPct val="100000"/>
              </a:lnSpc>
            </a:pPr>
            <a:r>
              <a:rPr lang="en-US" sz="1700" b="1" dirty="0" err="1">
                <a:latin typeface="Verdana"/>
                <a:cs typeface="Verdana"/>
              </a:rPr>
              <a:t>Prof.Monisha</a:t>
            </a:r>
            <a:r>
              <a:rPr lang="en-US" sz="1700" b="1" dirty="0">
                <a:latin typeface="Verdana"/>
                <a:cs typeface="Verdana"/>
              </a:rPr>
              <a:t> Gupta</a:t>
            </a:r>
            <a:endParaRPr lang="en-US" sz="1700" dirty="0">
              <a:latin typeface="Verdana"/>
              <a:cs typeface="Verdana"/>
            </a:endParaRPr>
          </a:p>
          <a:p>
            <a:pPr marL="5681345" marR="5080">
              <a:lnSpc>
                <a:spcPts val="1880"/>
              </a:lnSpc>
              <a:spcBef>
                <a:spcPts val="409"/>
              </a:spcBef>
            </a:pPr>
            <a:r>
              <a:rPr lang="en-US" sz="1700" b="1" spc="-10" dirty="0">
                <a:latin typeface="Verdana"/>
                <a:cs typeface="Verdana"/>
              </a:rPr>
              <a:t>Assistant</a:t>
            </a:r>
            <a:r>
              <a:rPr sz="1700" b="1" spc="-10" dirty="0">
                <a:latin typeface="Verdana"/>
                <a:cs typeface="Verdana"/>
              </a:rPr>
              <a:t> Professor</a:t>
            </a:r>
            <a:endParaRPr sz="1700" dirty="0">
              <a:latin typeface="Verdana"/>
              <a:cs typeface="Verdana"/>
            </a:endParaRPr>
          </a:p>
          <a:p>
            <a:pPr marL="5681345" marR="5080">
              <a:lnSpc>
                <a:spcPts val="1880"/>
              </a:lnSpc>
              <a:spcBef>
                <a:spcPts val="409"/>
              </a:spcBef>
            </a:pPr>
            <a:endParaRPr lang="en-US" sz="1700" b="1" spc="-10" dirty="0">
              <a:latin typeface="Verdana"/>
              <a:cs typeface="Verdana"/>
            </a:endParaRPr>
          </a:p>
          <a:p>
            <a:pPr marL="5681345" marR="122555">
              <a:lnSpc>
                <a:spcPts val="1800"/>
              </a:lnSpc>
              <a:spcBef>
                <a:spcPts val="434"/>
              </a:spcBef>
            </a:pPr>
            <a:r>
              <a:rPr sz="1700" b="1" dirty="0">
                <a:latin typeface="Verdana"/>
                <a:cs typeface="Verdana"/>
              </a:rPr>
              <a:t>School</a:t>
            </a:r>
            <a:r>
              <a:rPr sz="1700" b="1" spc="-70" dirty="0">
                <a:latin typeface="Verdana"/>
                <a:cs typeface="Verdana"/>
              </a:rPr>
              <a:t> </a:t>
            </a:r>
            <a:r>
              <a:rPr sz="1700" b="1" dirty="0">
                <a:latin typeface="Verdana"/>
                <a:cs typeface="Verdana"/>
              </a:rPr>
              <a:t>of</a:t>
            </a:r>
            <a:r>
              <a:rPr sz="1700" b="1" spc="-55" dirty="0">
                <a:latin typeface="Verdana"/>
                <a:cs typeface="Verdana"/>
              </a:rPr>
              <a:t> </a:t>
            </a:r>
            <a:r>
              <a:rPr sz="1700" b="1" dirty="0">
                <a:latin typeface="Verdana"/>
                <a:cs typeface="Verdana"/>
              </a:rPr>
              <a:t>Computer</a:t>
            </a:r>
            <a:r>
              <a:rPr sz="1700" b="1" spc="-40" dirty="0">
                <a:latin typeface="Verdana"/>
                <a:cs typeface="Verdana"/>
              </a:rPr>
              <a:t> </a:t>
            </a:r>
            <a:r>
              <a:rPr sz="1700" b="1" dirty="0">
                <a:latin typeface="Verdana"/>
                <a:cs typeface="Verdana"/>
              </a:rPr>
              <a:t>Science</a:t>
            </a:r>
            <a:r>
              <a:rPr sz="1700" b="1" spc="-95" dirty="0">
                <a:latin typeface="Verdana"/>
                <a:cs typeface="Verdana"/>
              </a:rPr>
              <a:t> </a:t>
            </a:r>
            <a:r>
              <a:rPr sz="1700" b="1" dirty="0">
                <a:latin typeface="Verdana"/>
                <a:cs typeface="Verdana"/>
              </a:rPr>
              <a:t>Engineering</a:t>
            </a:r>
            <a:r>
              <a:rPr sz="1700" b="1" spc="-80" dirty="0">
                <a:latin typeface="Verdana"/>
                <a:cs typeface="Verdana"/>
              </a:rPr>
              <a:t> </a:t>
            </a:r>
            <a:r>
              <a:rPr sz="1700" b="1" spc="-50" dirty="0">
                <a:latin typeface="Verdana"/>
                <a:cs typeface="Verdana"/>
              </a:rPr>
              <a:t>&amp; </a:t>
            </a:r>
            <a:r>
              <a:rPr sz="1700" b="1" dirty="0">
                <a:latin typeface="Verdana"/>
                <a:cs typeface="Verdana"/>
              </a:rPr>
              <a:t>Information</a:t>
            </a:r>
            <a:r>
              <a:rPr sz="1700" b="1" spc="-110" dirty="0">
                <a:latin typeface="Verdana"/>
                <a:cs typeface="Verdana"/>
              </a:rPr>
              <a:t> </a:t>
            </a:r>
            <a:r>
              <a:rPr sz="1700" b="1" spc="-10" dirty="0">
                <a:latin typeface="Verdana"/>
                <a:cs typeface="Verdana"/>
              </a:rPr>
              <a:t>Science</a:t>
            </a:r>
            <a:endParaRPr sz="1700" dirty="0">
              <a:latin typeface="Verdana"/>
              <a:cs typeface="Verdana"/>
            </a:endParaRPr>
          </a:p>
          <a:p>
            <a:pPr marL="5681345">
              <a:lnSpc>
                <a:spcPct val="100000"/>
              </a:lnSpc>
              <a:spcBef>
                <a:spcPts val="195"/>
              </a:spcBef>
            </a:pPr>
            <a:r>
              <a:rPr sz="1700" b="1" dirty="0">
                <a:latin typeface="Verdana"/>
                <a:cs typeface="Verdana"/>
              </a:rPr>
              <a:t>Presidency</a:t>
            </a:r>
            <a:r>
              <a:rPr sz="1700" b="1" spc="-95" dirty="0">
                <a:latin typeface="Verdana"/>
                <a:cs typeface="Verdana"/>
              </a:rPr>
              <a:t> </a:t>
            </a:r>
            <a:r>
              <a:rPr sz="1700" b="1" spc="-10" dirty="0">
                <a:latin typeface="Verdana"/>
                <a:cs typeface="Verdana"/>
              </a:rPr>
              <a:t>University</a:t>
            </a:r>
            <a:endParaRPr sz="1700" dirty="0">
              <a:latin typeface="Verdana"/>
              <a:cs typeface="Verdana"/>
            </a:endParaRPr>
          </a:p>
        </p:txBody>
      </p:sp>
      <p:sp>
        <p:nvSpPr>
          <p:cNvPr id="4" name="object 4"/>
          <p:cNvSpPr txBox="1">
            <a:spLocks noGrp="1"/>
          </p:cNvSpPr>
          <p:nvPr>
            <p:ph type="title"/>
          </p:nvPr>
        </p:nvSpPr>
        <p:spPr>
          <a:xfrm>
            <a:off x="917575" y="275444"/>
            <a:ext cx="8938260" cy="475708"/>
          </a:xfrm>
          <a:prstGeom prst="rect">
            <a:avLst/>
          </a:prstGeom>
        </p:spPr>
        <p:txBody>
          <a:bodyPr vert="horz" wrap="square" lIns="0" tIns="12065" rIns="0" bIns="0" rtlCol="0" anchor="t">
            <a:spAutoFit/>
          </a:bodyPr>
          <a:lstStyle/>
          <a:p>
            <a:pPr marL="4098290" marR="5080" indent="-2574925" algn="ctr">
              <a:lnSpc>
                <a:spcPct val="122900"/>
              </a:lnSpc>
              <a:spcBef>
                <a:spcPts val="95"/>
              </a:spcBef>
            </a:pPr>
            <a:r>
              <a:rPr sz="2750" b="1" spc="-25" dirty="0">
                <a:latin typeface="Verdana"/>
                <a:cs typeface="Verdana"/>
              </a:rPr>
              <a:t> </a:t>
            </a:r>
            <a:r>
              <a:rPr sz="2750" b="1" dirty="0">
                <a:latin typeface="Verdana"/>
                <a:cs typeface="Verdana"/>
              </a:rPr>
              <a:t>VIVA-</a:t>
            </a:r>
            <a:r>
              <a:rPr lang="en-US" sz="2750" b="1" spc="-20" dirty="0">
                <a:latin typeface="Verdana"/>
                <a:cs typeface="Verdana"/>
              </a:rPr>
              <a:t>V</a:t>
            </a:r>
            <a:r>
              <a:rPr sz="2750" b="1" spc="-20" dirty="0">
                <a:latin typeface="Verdana"/>
                <a:cs typeface="Verdana"/>
              </a:rPr>
              <a:t>OCE</a:t>
            </a:r>
            <a:endParaRPr sz="2750" dirty="0">
              <a:latin typeface="Verdana"/>
              <a:cs typeface="Verdana"/>
            </a:endParaRPr>
          </a:p>
        </p:txBody>
      </p:sp>
      <p:graphicFrame>
        <p:nvGraphicFramePr>
          <p:cNvPr id="2" name="Table 1">
            <a:extLst>
              <a:ext uri="{FF2B5EF4-FFF2-40B4-BE49-F238E27FC236}">
                <a16:creationId xmlns:a16="http://schemas.microsoft.com/office/drawing/2014/main" id="{A45D4025-79A4-6778-CA8C-ADA7EB212072}"/>
              </a:ext>
            </a:extLst>
          </p:cNvPr>
          <p:cNvGraphicFramePr>
            <a:graphicFrameLocks noGrp="1"/>
          </p:cNvGraphicFramePr>
          <p:nvPr>
            <p:extLst>
              <p:ext uri="{D42A27DB-BD31-4B8C-83A1-F6EECF244321}">
                <p14:modId xmlns:p14="http://schemas.microsoft.com/office/powerpoint/2010/main" val="627881778"/>
              </p:ext>
            </p:extLst>
          </p:nvPr>
        </p:nvGraphicFramePr>
        <p:xfrm>
          <a:off x="741123" y="3340273"/>
          <a:ext cx="5398163" cy="1807503"/>
        </p:xfrm>
        <a:graphic>
          <a:graphicData uri="http://schemas.openxmlformats.org/drawingml/2006/table">
            <a:tbl>
              <a:tblPr firstRow="1" bandRow="1">
                <a:tableStyleId>{5C22544A-7EE6-4342-B048-85BDC9FD1C3A}</a:tableStyleId>
              </a:tblPr>
              <a:tblGrid>
                <a:gridCol w="2241176">
                  <a:extLst>
                    <a:ext uri="{9D8B030D-6E8A-4147-A177-3AD203B41FA5}">
                      <a16:colId xmlns:a16="http://schemas.microsoft.com/office/drawing/2014/main" val="4213834933"/>
                    </a:ext>
                  </a:extLst>
                </a:gridCol>
                <a:gridCol w="3156987">
                  <a:extLst>
                    <a:ext uri="{9D8B030D-6E8A-4147-A177-3AD203B41FA5}">
                      <a16:colId xmlns:a16="http://schemas.microsoft.com/office/drawing/2014/main" val="568625967"/>
                    </a:ext>
                  </a:extLst>
                </a:gridCol>
              </a:tblGrid>
              <a:tr h="490257">
                <a:tc>
                  <a:txBody>
                    <a:bodyPr/>
                    <a:lstStyle/>
                    <a:p>
                      <a:r>
                        <a:rPr lang="en-US" dirty="0">
                          <a:solidFill>
                            <a:schemeClr val="tx1"/>
                          </a:solidFill>
                        </a:rPr>
                        <a:t>Roll Number</a:t>
                      </a:r>
                    </a:p>
                  </a:txBody>
                  <a:tcPr/>
                </a:tc>
                <a:tc>
                  <a:txBody>
                    <a:bodyPr/>
                    <a:lstStyle/>
                    <a:p>
                      <a:r>
                        <a:rPr lang="en-US" dirty="0">
                          <a:solidFill>
                            <a:schemeClr val="tx1"/>
                          </a:solidFill>
                        </a:rPr>
                        <a:t>Student Name</a:t>
                      </a:r>
                    </a:p>
                  </a:txBody>
                  <a:tcPr/>
                </a:tc>
                <a:extLst>
                  <a:ext uri="{0D108BD9-81ED-4DB2-BD59-A6C34878D82A}">
                    <a16:rowId xmlns:a16="http://schemas.microsoft.com/office/drawing/2014/main" val="4282386532"/>
                  </a:ext>
                </a:extLst>
              </a:tr>
              <a:tr h="439082">
                <a:tc>
                  <a:txBody>
                    <a:bodyPr/>
                    <a:lstStyle/>
                    <a:p>
                      <a:r>
                        <a:rPr lang="en-US" dirty="0">
                          <a:solidFill>
                            <a:schemeClr val="tx1"/>
                          </a:solidFill>
                        </a:rPr>
                        <a:t>20211ISD0007</a:t>
                      </a:r>
                    </a:p>
                  </a:txBody>
                  <a:tcPr/>
                </a:tc>
                <a:tc>
                  <a:txBody>
                    <a:bodyPr/>
                    <a:lstStyle/>
                    <a:p>
                      <a:r>
                        <a:rPr lang="en-US" dirty="0"/>
                        <a:t>SUNKU SAI YASWANTH</a:t>
                      </a:r>
                    </a:p>
                  </a:txBody>
                  <a:tcPr/>
                </a:tc>
                <a:extLst>
                  <a:ext uri="{0D108BD9-81ED-4DB2-BD59-A6C34878D82A}">
                    <a16:rowId xmlns:a16="http://schemas.microsoft.com/office/drawing/2014/main" val="1688087202"/>
                  </a:ext>
                </a:extLst>
              </a:tr>
              <a:tr h="439082">
                <a:tc>
                  <a:txBody>
                    <a:bodyPr/>
                    <a:lstStyle/>
                    <a:p>
                      <a:r>
                        <a:rPr lang="en-US" dirty="0"/>
                        <a:t>20211ISD0015</a:t>
                      </a:r>
                    </a:p>
                  </a:txBody>
                  <a:tcPr/>
                </a:tc>
                <a:tc>
                  <a:txBody>
                    <a:bodyPr/>
                    <a:lstStyle/>
                    <a:p>
                      <a:r>
                        <a:rPr lang="en-US" dirty="0"/>
                        <a:t>GAJJALA AKHILA</a:t>
                      </a:r>
                    </a:p>
                  </a:txBody>
                  <a:tcPr/>
                </a:tc>
                <a:extLst>
                  <a:ext uri="{0D108BD9-81ED-4DB2-BD59-A6C34878D82A}">
                    <a16:rowId xmlns:a16="http://schemas.microsoft.com/office/drawing/2014/main" val="3717854082"/>
                  </a:ext>
                </a:extLst>
              </a:tr>
              <a:tr h="439082">
                <a:tc>
                  <a:txBody>
                    <a:bodyPr/>
                    <a:lstStyle/>
                    <a:p>
                      <a:r>
                        <a:rPr lang="en-US" dirty="0"/>
                        <a:t>20211ISD0027</a:t>
                      </a:r>
                    </a:p>
                  </a:txBody>
                  <a:tcPr/>
                </a:tc>
                <a:tc>
                  <a:txBody>
                    <a:bodyPr/>
                    <a:lstStyle/>
                    <a:p>
                      <a:r>
                        <a:rPr lang="en-US" dirty="0"/>
                        <a:t>K PAVAN KUMAR</a:t>
                      </a:r>
                    </a:p>
                  </a:txBody>
                  <a:tcPr/>
                </a:tc>
                <a:extLst>
                  <a:ext uri="{0D108BD9-81ED-4DB2-BD59-A6C34878D82A}">
                    <a16:rowId xmlns:a16="http://schemas.microsoft.com/office/drawing/2014/main" val="828437396"/>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5E860-926C-4D41-5348-4D621D3D3EF3}"/>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15158655-07B1-696F-5A98-CA844CBC31BA}"/>
              </a:ext>
            </a:extLst>
          </p:cNvPr>
          <p:cNvSpPr txBox="1">
            <a:spLocks/>
          </p:cNvSpPr>
          <p:nvPr/>
        </p:nvSpPr>
        <p:spPr>
          <a:xfrm>
            <a:off x="1069975" y="427844"/>
            <a:ext cx="8759825" cy="1030878"/>
          </a:xfrm>
          <a:prstGeom prst="rect">
            <a:avLst/>
          </a:prstGeom>
        </p:spPr>
        <p:txBody>
          <a:bodyPr vert="horz" wrap="square" lIns="0" tIns="350348" rIns="0" bIns="0" rtlCol="0">
            <a:spAutoFit/>
          </a:bodyPr>
          <a:lstStyle>
            <a:lvl1pPr>
              <a:defRPr sz="4400" b="0" i="0">
                <a:solidFill>
                  <a:schemeClr val="tx1"/>
                </a:solidFill>
                <a:latin typeface="Calibri Light"/>
                <a:ea typeface="+mj-ea"/>
                <a:cs typeface="Calibri Light"/>
              </a:defRPr>
            </a:lvl1pPr>
          </a:lstStyle>
          <a:p>
            <a:pPr marL="12700">
              <a:spcBef>
                <a:spcPts val="130"/>
              </a:spcBef>
            </a:pPr>
            <a:r>
              <a:rPr lang="en-US" spc="-45"/>
              <a:t>Introduction</a:t>
            </a:r>
          </a:p>
        </p:txBody>
      </p:sp>
      <p:sp>
        <p:nvSpPr>
          <p:cNvPr id="3" name="Text Placeholder 2">
            <a:extLst>
              <a:ext uri="{FF2B5EF4-FFF2-40B4-BE49-F238E27FC236}">
                <a16:creationId xmlns:a16="http://schemas.microsoft.com/office/drawing/2014/main" id="{9E497EE5-4EC3-5F57-E167-FD11551A4D0C}"/>
              </a:ext>
            </a:extLst>
          </p:cNvPr>
          <p:cNvSpPr>
            <a:spLocks noGrp="1"/>
          </p:cNvSpPr>
          <p:nvPr>
            <p:ph type="body" idx="1"/>
          </p:nvPr>
        </p:nvSpPr>
        <p:spPr>
          <a:xfrm>
            <a:off x="1068279" y="1607923"/>
            <a:ext cx="10512521" cy="4062651"/>
          </a:xfrm>
        </p:spPr>
        <p:txBody>
          <a:bodyPr wrap="square" lIns="0" tIns="0" rIns="0" bIns="0" anchor="t">
            <a:spAutoFit/>
          </a:bodyPr>
          <a:lstStyle/>
          <a:p>
            <a:pPr algn="just"/>
            <a:r>
              <a:rPr lang="en-US" sz="2400" dirty="0">
                <a:ea typeface="+mn-lt"/>
                <a:cs typeface="+mn-lt"/>
              </a:rPr>
              <a:t>This project aims to develop a real-time detection system using YOLOv8 and YOLOv9 deep learning algorithms to identify humans, fire, and smoke in images and live camera feeds. The system will provide visual feedback in emergency situations, enhancing safety in fire-prone areas. It also compares the performance of YOLOv8 and YOLOv9 in terms of accuracy and speed. The project addresses challenges like lower image clarity from laptop cameras, aiming to create a reliable system for real-time hazard detection. By leveraging a comprehensive dataset from </a:t>
            </a:r>
            <a:r>
              <a:rPr lang="en-US" sz="2400" dirty="0" err="1">
                <a:ea typeface="+mn-lt"/>
                <a:cs typeface="+mn-lt"/>
              </a:rPr>
              <a:t>Roboflow</a:t>
            </a:r>
            <a:r>
              <a:rPr lang="en-US" sz="2400" dirty="0">
                <a:ea typeface="+mn-lt"/>
                <a:cs typeface="+mn-lt"/>
              </a:rPr>
              <a:t>, the system will be capable of functioning in various environments, such as buildings, factories, and forests. Using Python and Google </a:t>
            </a:r>
            <a:r>
              <a:rPr lang="en-US" sz="2400" dirty="0" err="1">
                <a:ea typeface="+mn-lt"/>
                <a:cs typeface="+mn-lt"/>
              </a:rPr>
              <a:t>Colab</a:t>
            </a:r>
            <a:r>
              <a:rPr lang="en-US" sz="2400" dirty="0">
                <a:ea typeface="+mn-lt"/>
                <a:cs typeface="+mn-lt"/>
              </a:rPr>
              <a:t>, the system will be trained and implemented to provide fast visuals, improving response times and contributing to AI-driven safety solutions.</a:t>
            </a:r>
            <a:endParaRPr lang="en-US" sz="2400" dirty="0">
              <a:ea typeface="Calibri"/>
              <a:cs typeface="Calibri"/>
            </a:endParaRPr>
          </a:p>
        </p:txBody>
      </p:sp>
    </p:spTree>
    <p:extLst>
      <p:ext uri="{BB962C8B-B14F-4D97-AF65-F5344CB8AC3E}">
        <p14:creationId xmlns:p14="http://schemas.microsoft.com/office/powerpoint/2010/main" val="625028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50348" rIns="0" bIns="0" rtlCol="0">
            <a:spAutoFit/>
          </a:bodyPr>
          <a:lstStyle/>
          <a:p>
            <a:pPr marL="12700">
              <a:lnSpc>
                <a:spcPct val="100000"/>
              </a:lnSpc>
              <a:spcBef>
                <a:spcPts val="130"/>
              </a:spcBef>
            </a:pPr>
            <a:r>
              <a:rPr spc="-50"/>
              <a:t>Literature</a:t>
            </a:r>
            <a:r>
              <a:rPr spc="-165"/>
              <a:t> </a:t>
            </a:r>
            <a:r>
              <a:rPr spc="-30"/>
              <a:t>Review</a:t>
            </a:r>
          </a:p>
        </p:txBody>
      </p:sp>
      <p:sp>
        <p:nvSpPr>
          <p:cNvPr id="3" name="Text Placeholder 2">
            <a:extLst>
              <a:ext uri="{FF2B5EF4-FFF2-40B4-BE49-F238E27FC236}">
                <a16:creationId xmlns:a16="http://schemas.microsoft.com/office/drawing/2014/main" id="{B735D084-C80F-5855-1BE5-B07ECD339AE9}"/>
              </a:ext>
            </a:extLst>
          </p:cNvPr>
          <p:cNvSpPr>
            <a:spLocks noGrp="1"/>
          </p:cNvSpPr>
          <p:nvPr>
            <p:ph type="body" idx="1"/>
          </p:nvPr>
        </p:nvSpPr>
        <p:spPr>
          <a:xfrm>
            <a:off x="922142" y="1440909"/>
            <a:ext cx="10961370" cy="4154984"/>
          </a:xfrm>
        </p:spPr>
        <p:txBody>
          <a:bodyPr wrap="square" lIns="0" tIns="0" rIns="0" bIns="0" anchor="t">
            <a:spAutoFit/>
          </a:bodyPr>
          <a:lstStyle/>
          <a:p>
            <a:pPr marL="285750" indent="-285750" algn="l">
              <a:buFont typeface="Arial"/>
              <a:buChar char="•"/>
            </a:pPr>
            <a:r>
              <a:rPr lang="en-US" b="1" dirty="0">
                <a:ea typeface="+mn-lt"/>
                <a:cs typeface="+mn-lt"/>
              </a:rPr>
              <a:t>Wireless Fire Detection Monitoring System (2015)</a:t>
            </a:r>
            <a:endParaRPr lang="en-US" dirty="0"/>
          </a:p>
          <a:p>
            <a:pPr algn="l"/>
            <a:r>
              <a:rPr lang="en-US" dirty="0">
                <a:ea typeface="+mn-lt"/>
                <a:cs typeface="+mn-lt"/>
              </a:rPr>
              <a:t> This system uses wireless communication and sensors to provide real-time fire updates, improving fire rescue                       </a:t>
            </a:r>
          </a:p>
          <a:p>
            <a:pPr algn="l"/>
            <a:r>
              <a:rPr lang="en-US" dirty="0">
                <a:ea typeface="+mn-lt"/>
                <a:cs typeface="+mn-lt"/>
              </a:rPr>
              <a:t>     operations.</a:t>
            </a:r>
            <a:endParaRPr lang="en-US" dirty="0"/>
          </a:p>
          <a:p>
            <a:pPr algn="l"/>
            <a:r>
              <a:rPr lang="en-US" i="1" dirty="0">
                <a:ea typeface="+mn-lt"/>
                <a:cs typeface="+mn-lt"/>
              </a:rPr>
              <a:t> Advantages:</a:t>
            </a:r>
            <a:r>
              <a:rPr lang="en-US" dirty="0">
                <a:ea typeface="+mn-lt"/>
                <a:cs typeface="+mn-lt"/>
              </a:rPr>
              <a:t> Real-time updates, remote monitoring, and faster communication.</a:t>
            </a:r>
            <a:endParaRPr lang="en-US" dirty="0"/>
          </a:p>
          <a:p>
            <a:pPr algn="l"/>
            <a:r>
              <a:rPr lang="en-US" i="1" dirty="0">
                <a:ea typeface="+mn-lt"/>
                <a:cs typeface="+mn-lt"/>
              </a:rPr>
              <a:t> Limitations:</a:t>
            </a:r>
            <a:r>
              <a:rPr lang="en-US" dirty="0">
                <a:ea typeface="+mn-lt"/>
                <a:cs typeface="+mn-lt"/>
              </a:rPr>
              <a:t> Reliance on network reliability, interference, and high setup costs.</a:t>
            </a:r>
            <a:endParaRPr lang="en-US" dirty="0"/>
          </a:p>
          <a:p>
            <a:pPr marL="285750" indent="-285750" algn="l">
              <a:buFont typeface="Arial"/>
              <a:buChar char="•"/>
            </a:pPr>
            <a:r>
              <a:rPr lang="en-US" b="1" dirty="0">
                <a:ea typeface="+mn-lt"/>
                <a:cs typeface="+mn-lt"/>
              </a:rPr>
              <a:t>Human Detection in Burning Buildings (2018)</a:t>
            </a:r>
            <a:endParaRPr lang="en-US" dirty="0"/>
          </a:p>
          <a:p>
            <a:pPr algn="l"/>
            <a:r>
              <a:rPr lang="en-US" dirty="0">
                <a:ea typeface="+mn-lt"/>
                <a:cs typeface="+mn-lt"/>
              </a:rPr>
              <a:t> Deep learning is used to detect humans in burning buildings, improving rescue efforts in hazardous environments.</a:t>
            </a:r>
            <a:endParaRPr lang="en-US" dirty="0"/>
          </a:p>
          <a:p>
            <a:pPr algn="l"/>
            <a:r>
              <a:rPr lang="en-US" i="1" dirty="0">
                <a:ea typeface="+mn-lt"/>
                <a:cs typeface="+mn-lt"/>
              </a:rPr>
              <a:t> Advantages:</a:t>
            </a:r>
            <a:r>
              <a:rPr lang="en-US" dirty="0">
                <a:ea typeface="+mn-lt"/>
                <a:cs typeface="+mn-lt"/>
              </a:rPr>
              <a:t> Accurate human detection, quicker victim identification.</a:t>
            </a:r>
            <a:endParaRPr lang="en-US" dirty="0"/>
          </a:p>
          <a:p>
            <a:pPr algn="l"/>
            <a:r>
              <a:rPr lang="en-US" i="1" dirty="0">
                <a:ea typeface="+mn-lt"/>
                <a:cs typeface="+mn-lt"/>
              </a:rPr>
              <a:t> Limitations:</a:t>
            </a:r>
            <a:r>
              <a:rPr lang="en-US" dirty="0">
                <a:ea typeface="+mn-lt"/>
                <a:cs typeface="+mn-lt"/>
              </a:rPr>
              <a:t> Requires large datasets, high processing power, and struggles with thick smoke.</a:t>
            </a:r>
            <a:endParaRPr lang="en-US" dirty="0"/>
          </a:p>
          <a:p>
            <a:pPr marL="285750" indent="-285750" algn="l">
              <a:buFont typeface="Arial"/>
              <a:buChar char="•"/>
            </a:pPr>
            <a:r>
              <a:rPr lang="en-US" b="1" dirty="0">
                <a:ea typeface="+mn-lt"/>
                <a:cs typeface="+mn-lt"/>
              </a:rPr>
              <a:t>Thermal Imaging for Human Detection (2020)</a:t>
            </a:r>
            <a:endParaRPr lang="en-US" dirty="0"/>
          </a:p>
          <a:p>
            <a:pPr algn="l"/>
            <a:r>
              <a:rPr lang="en-US" dirty="0">
                <a:ea typeface="+mn-lt"/>
                <a:cs typeface="+mn-lt"/>
              </a:rPr>
              <a:t> A thermal imaging system detects human presence in fire scenarios and activates fire suppression.</a:t>
            </a:r>
            <a:endParaRPr lang="en-US" dirty="0"/>
          </a:p>
          <a:p>
            <a:pPr algn="l"/>
            <a:r>
              <a:rPr lang="en-US" i="1" dirty="0">
                <a:ea typeface="+mn-lt"/>
                <a:cs typeface="+mn-lt"/>
              </a:rPr>
              <a:t> Advantages:</a:t>
            </a:r>
            <a:r>
              <a:rPr lang="en-US" dirty="0">
                <a:ea typeface="+mn-lt"/>
                <a:cs typeface="+mn-lt"/>
              </a:rPr>
              <a:t> High accuracy, rapid detection, and adaptability.</a:t>
            </a:r>
            <a:endParaRPr lang="en-US" dirty="0"/>
          </a:p>
          <a:p>
            <a:pPr algn="l"/>
            <a:r>
              <a:rPr lang="en-US" i="1" dirty="0">
                <a:ea typeface="+mn-lt"/>
                <a:cs typeface="+mn-lt"/>
              </a:rPr>
              <a:t> Limitations:</a:t>
            </a:r>
            <a:r>
              <a:rPr lang="en-US" dirty="0">
                <a:ea typeface="+mn-lt"/>
                <a:cs typeface="+mn-lt"/>
              </a:rPr>
              <a:t> Challenges with fluctuating temperatures and distinguishing human heat.</a:t>
            </a:r>
            <a:endParaRPr lang="en-US" dirty="0"/>
          </a:p>
          <a:p>
            <a:pPr marL="285750" indent="-285750" algn="l">
              <a:buFont typeface="Arial"/>
              <a:buChar char="•"/>
            </a:pPr>
            <a:r>
              <a:rPr lang="en-US" b="1" dirty="0">
                <a:ea typeface="+mn-lt"/>
                <a:cs typeface="+mn-lt"/>
              </a:rPr>
              <a:t>Real-Time Fire Detection System (2020)</a:t>
            </a:r>
            <a:endParaRPr lang="en-US" dirty="0"/>
          </a:p>
          <a:p>
            <a:pPr algn="l"/>
            <a:r>
              <a:rPr lang="en-US" dirty="0">
                <a:ea typeface="+mn-lt"/>
                <a:cs typeface="+mn-lt"/>
              </a:rPr>
              <a:t> Combines image processing and sensor data to detect fires.</a:t>
            </a:r>
            <a:endParaRPr lang="en-US" dirty="0">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735D084-C80F-5855-1BE5-B07ECD339AE9}"/>
              </a:ext>
            </a:extLst>
          </p:cNvPr>
          <p:cNvSpPr>
            <a:spLocks noGrp="1"/>
          </p:cNvSpPr>
          <p:nvPr>
            <p:ph type="body" idx="1"/>
          </p:nvPr>
        </p:nvSpPr>
        <p:spPr>
          <a:xfrm>
            <a:off x="828197" y="658032"/>
            <a:ext cx="10961370" cy="5539978"/>
          </a:xfrm>
        </p:spPr>
        <p:txBody>
          <a:bodyPr wrap="square" lIns="0" tIns="0" rIns="0" bIns="0" anchor="t">
            <a:spAutoFit/>
          </a:bodyPr>
          <a:lstStyle/>
          <a:p>
            <a:pPr algn="l"/>
            <a:r>
              <a:rPr lang="en-US" i="1" dirty="0">
                <a:ea typeface="+mn-lt"/>
                <a:cs typeface="+mn-lt"/>
              </a:rPr>
              <a:t> Advantages:</a:t>
            </a:r>
            <a:r>
              <a:rPr lang="en-US" dirty="0">
                <a:ea typeface="+mn-lt"/>
                <a:cs typeface="+mn-lt"/>
              </a:rPr>
              <a:t> Rapid detection, enhanced response times.</a:t>
            </a:r>
            <a:endParaRPr lang="en-US" dirty="0"/>
          </a:p>
          <a:p>
            <a:pPr algn="l"/>
            <a:r>
              <a:rPr lang="en-US" i="1" dirty="0">
                <a:ea typeface="+mn-lt"/>
                <a:cs typeface="+mn-lt"/>
              </a:rPr>
              <a:t> Limitations:</a:t>
            </a:r>
            <a:r>
              <a:rPr lang="en-US" dirty="0">
                <a:ea typeface="+mn-lt"/>
                <a:cs typeface="+mn-lt"/>
              </a:rPr>
              <a:t> Sensor and image processing accuracy.</a:t>
            </a:r>
          </a:p>
          <a:p>
            <a:pPr algn="l">
              <a:buFont typeface="Arial"/>
              <a:buChar char="•"/>
            </a:pPr>
            <a:r>
              <a:rPr lang="en-US" b="1" dirty="0">
                <a:ea typeface="+mn-lt"/>
                <a:cs typeface="+mn-lt"/>
              </a:rPr>
              <a:t>   Smart Fire Prevention System (2021)</a:t>
            </a:r>
            <a:endParaRPr lang="en-US" dirty="0"/>
          </a:p>
          <a:p>
            <a:pPr algn="l"/>
            <a:r>
              <a:rPr lang="en-US" dirty="0">
                <a:ea typeface="+mn-lt"/>
                <a:cs typeface="+mn-lt"/>
              </a:rPr>
              <a:t> An IoT-based system monitors conditions for early fire detection and prevention.</a:t>
            </a:r>
          </a:p>
          <a:p>
            <a:pPr algn="l"/>
            <a:r>
              <a:rPr lang="en-US" i="1" dirty="0">
                <a:ea typeface="+mn-lt"/>
                <a:cs typeface="+mn-lt"/>
              </a:rPr>
              <a:t> Advantages:</a:t>
            </a:r>
            <a:r>
              <a:rPr lang="en-US" dirty="0">
                <a:ea typeface="+mn-lt"/>
                <a:cs typeface="+mn-lt"/>
              </a:rPr>
              <a:t> Real-time monitoring, early detection, automation.</a:t>
            </a:r>
          </a:p>
          <a:p>
            <a:pPr algn="l"/>
            <a:r>
              <a:rPr lang="en-US" i="1" dirty="0">
                <a:ea typeface="+mn-lt"/>
                <a:cs typeface="+mn-lt"/>
              </a:rPr>
              <a:t> Limitations:</a:t>
            </a:r>
            <a:r>
              <a:rPr lang="en-US" dirty="0">
                <a:ea typeface="+mn-lt"/>
                <a:cs typeface="+mn-lt"/>
              </a:rPr>
              <a:t> High costs, network dependence, maintenance needs.</a:t>
            </a:r>
          </a:p>
          <a:p>
            <a:pPr algn="l">
              <a:buFont typeface="Arial"/>
              <a:buChar char="•"/>
            </a:pPr>
            <a:r>
              <a:rPr lang="en-US" b="1" dirty="0">
                <a:ea typeface="+mn-lt"/>
                <a:cs typeface="+mn-lt"/>
              </a:rPr>
              <a:t>   Fire Detection with YOLOv5 (2021)</a:t>
            </a:r>
            <a:endParaRPr lang="en-US">
              <a:ea typeface="+mn-lt"/>
              <a:cs typeface="+mn-lt"/>
            </a:endParaRPr>
          </a:p>
          <a:p>
            <a:pPr algn="l"/>
            <a:r>
              <a:rPr lang="en-US" dirty="0">
                <a:ea typeface="+mn-lt"/>
                <a:cs typeface="+mn-lt"/>
              </a:rPr>
              <a:t> Uses YOLOv5 for fire detection across different environments, showcasing real-time capabilities.</a:t>
            </a:r>
          </a:p>
          <a:p>
            <a:pPr algn="l"/>
            <a:r>
              <a:rPr lang="en-US" i="1" dirty="0">
                <a:ea typeface="+mn-lt"/>
                <a:cs typeface="+mn-lt"/>
              </a:rPr>
              <a:t> Advantages:</a:t>
            </a:r>
            <a:r>
              <a:rPr lang="en-US" dirty="0">
                <a:ea typeface="+mn-lt"/>
                <a:cs typeface="+mn-lt"/>
              </a:rPr>
              <a:t> High accuracy, rapid detection, adaptability.</a:t>
            </a:r>
          </a:p>
          <a:p>
            <a:pPr algn="l"/>
            <a:r>
              <a:rPr lang="en-US" i="1" dirty="0">
                <a:ea typeface="+mn-lt"/>
                <a:cs typeface="+mn-lt"/>
              </a:rPr>
              <a:t> Limitations:</a:t>
            </a:r>
            <a:r>
              <a:rPr lang="en-US" dirty="0">
                <a:ea typeface="+mn-lt"/>
                <a:cs typeface="+mn-lt"/>
              </a:rPr>
              <a:t> High computational needs and challenges with small or obscured fires.</a:t>
            </a:r>
          </a:p>
          <a:p>
            <a:pPr algn="l">
              <a:buFont typeface="Arial"/>
              <a:buChar char="•"/>
            </a:pPr>
            <a:r>
              <a:rPr lang="en-US" b="1" dirty="0">
                <a:ea typeface="+mn-lt"/>
                <a:cs typeface="+mn-lt"/>
              </a:rPr>
              <a:t>   Forest Fire Detection with RCNN (2022)</a:t>
            </a:r>
            <a:endParaRPr lang="en-US" dirty="0">
              <a:ea typeface="+mn-lt"/>
              <a:cs typeface="+mn-lt"/>
            </a:endParaRPr>
          </a:p>
          <a:p>
            <a:pPr algn="l"/>
            <a:r>
              <a:rPr lang="en-US" dirty="0">
                <a:ea typeface="+mn-lt"/>
                <a:cs typeface="+mn-lt"/>
              </a:rPr>
              <a:t> An RCNN system detects and predicts forest fires using image processing.</a:t>
            </a:r>
          </a:p>
          <a:p>
            <a:pPr algn="l"/>
            <a:r>
              <a:rPr lang="en-US" i="1" dirty="0">
                <a:ea typeface="+mn-lt"/>
                <a:cs typeface="+mn-lt"/>
              </a:rPr>
              <a:t> Advantages:</a:t>
            </a:r>
            <a:r>
              <a:rPr lang="en-US" dirty="0">
                <a:ea typeface="+mn-lt"/>
                <a:cs typeface="+mn-lt"/>
              </a:rPr>
              <a:t> Accurate fire detection, improved response times.</a:t>
            </a:r>
          </a:p>
          <a:p>
            <a:pPr algn="l"/>
            <a:r>
              <a:rPr lang="en-US" i="1" dirty="0">
                <a:ea typeface="+mn-lt"/>
                <a:cs typeface="+mn-lt"/>
              </a:rPr>
              <a:t> Limitations:</a:t>
            </a:r>
            <a:r>
              <a:rPr lang="en-US" dirty="0">
                <a:ea typeface="+mn-lt"/>
                <a:cs typeface="+mn-lt"/>
              </a:rPr>
              <a:t> Relies on image quality and struggles with poor visibility.</a:t>
            </a:r>
          </a:p>
          <a:p>
            <a:pPr algn="l">
              <a:buFont typeface="Arial"/>
              <a:buChar char="•"/>
            </a:pPr>
            <a:r>
              <a:rPr lang="en-US" b="1" dirty="0">
                <a:ea typeface="+mn-lt"/>
                <a:cs typeface="+mn-lt"/>
              </a:rPr>
              <a:t>   Hybrid Human Detection for Indoor Disasters (2022)</a:t>
            </a:r>
            <a:endParaRPr lang="en-US" dirty="0">
              <a:ea typeface="+mn-lt"/>
              <a:cs typeface="+mn-lt"/>
            </a:endParaRPr>
          </a:p>
          <a:p>
            <a:pPr algn="l"/>
            <a:r>
              <a:rPr lang="en-US" dirty="0">
                <a:ea typeface="+mn-lt"/>
                <a:cs typeface="+mn-lt"/>
              </a:rPr>
              <a:t> Combines detection techniques to locate disaster victims in indoor environments.</a:t>
            </a:r>
          </a:p>
          <a:p>
            <a:pPr algn="l"/>
            <a:r>
              <a:rPr lang="en-US" i="1" dirty="0">
                <a:ea typeface="+mn-lt"/>
                <a:cs typeface="+mn-lt"/>
              </a:rPr>
              <a:t> Advantages:</a:t>
            </a:r>
            <a:r>
              <a:rPr lang="en-US" dirty="0">
                <a:ea typeface="+mn-lt"/>
                <a:cs typeface="+mn-lt"/>
              </a:rPr>
              <a:t> Enhanced accuracy and faster rescue operations.</a:t>
            </a:r>
          </a:p>
          <a:p>
            <a:pPr algn="l"/>
            <a:r>
              <a:rPr lang="en-US" i="1" dirty="0">
                <a:ea typeface="+mn-lt"/>
                <a:cs typeface="+mn-lt"/>
              </a:rPr>
              <a:t> Limitations:</a:t>
            </a:r>
            <a:r>
              <a:rPr lang="en-US" dirty="0">
                <a:ea typeface="+mn-lt"/>
                <a:cs typeface="+mn-lt"/>
              </a:rPr>
              <a:t> Performance affected by smoke, debris, and poor visibility.</a:t>
            </a:r>
          </a:p>
          <a:p>
            <a:pPr algn="l">
              <a:buFont typeface="Arial"/>
              <a:buChar char="•"/>
            </a:pPr>
            <a:endParaRPr lang="en-US" b="1">
              <a:ea typeface="Calibri"/>
              <a:cs typeface="Calibri"/>
            </a:endParaRPr>
          </a:p>
          <a:p>
            <a:pPr marL="285750" indent="-285750" algn="l">
              <a:buFont typeface="Arial"/>
              <a:buChar char="•"/>
            </a:pPr>
            <a:endParaRPr lang="en-US">
              <a:ea typeface="Calibri"/>
              <a:cs typeface="Calibri"/>
            </a:endParaRPr>
          </a:p>
        </p:txBody>
      </p:sp>
    </p:spTree>
    <p:extLst>
      <p:ext uri="{BB962C8B-B14F-4D97-AF65-F5344CB8AC3E}">
        <p14:creationId xmlns:p14="http://schemas.microsoft.com/office/powerpoint/2010/main" val="960813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735D084-C80F-5855-1BE5-B07ECD339AE9}"/>
              </a:ext>
            </a:extLst>
          </p:cNvPr>
          <p:cNvSpPr>
            <a:spLocks noGrp="1"/>
          </p:cNvSpPr>
          <p:nvPr>
            <p:ph type="body" idx="1"/>
          </p:nvPr>
        </p:nvSpPr>
        <p:spPr>
          <a:xfrm>
            <a:off x="828197" y="658032"/>
            <a:ext cx="10961370" cy="1107996"/>
          </a:xfrm>
        </p:spPr>
        <p:txBody>
          <a:bodyPr wrap="square" lIns="0" tIns="0" rIns="0" bIns="0" anchor="t">
            <a:spAutoFit/>
          </a:bodyPr>
          <a:lstStyle/>
          <a:p>
            <a:pPr marL="285750" indent="-285750" algn="l">
              <a:buFont typeface="Arial,Sans-Serif"/>
              <a:buChar char="•"/>
            </a:pPr>
            <a:r>
              <a:rPr lang="en-US" b="1">
                <a:ea typeface="+mn-lt"/>
                <a:cs typeface="+mn-lt"/>
              </a:rPr>
              <a:t>Forest Fire and Smoke Detection (2023)</a:t>
            </a:r>
            <a:endParaRPr lang="en-US">
              <a:ea typeface="+mn-lt"/>
              <a:cs typeface="+mn-lt"/>
            </a:endParaRPr>
          </a:p>
          <a:p>
            <a:pPr algn="l"/>
            <a:r>
              <a:rPr lang="en-US">
                <a:ea typeface="+mn-lt"/>
                <a:cs typeface="+mn-lt"/>
              </a:rPr>
              <a:t> Uses deep learning to detect forest fires and smoke, continuously learning to improve accuracy.</a:t>
            </a:r>
          </a:p>
          <a:p>
            <a:pPr algn="l"/>
            <a:r>
              <a:rPr lang="en-US" i="1">
                <a:ea typeface="+mn-lt"/>
                <a:cs typeface="+mn-lt"/>
              </a:rPr>
              <a:t> Advantages:</a:t>
            </a:r>
            <a:r>
              <a:rPr lang="en-US">
                <a:ea typeface="+mn-lt"/>
                <a:cs typeface="+mn-lt"/>
              </a:rPr>
              <a:t> Adaptive to new data, improving detection over time.</a:t>
            </a:r>
          </a:p>
          <a:p>
            <a:pPr algn="l"/>
            <a:r>
              <a:rPr lang="en-US" i="1">
                <a:ea typeface="+mn-lt"/>
                <a:cs typeface="+mn-lt"/>
              </a:rPr>
              <a:t> Limitations:</a:t>
            </a:r>
            <a:r>
              <a:rPr lang="en-US">
                <a:ea typeface="+mn-lt"/>
                <a:cs typeface="+mn-lt"/>
              </a:rPr>
              <a:t> Requires large datasets, struggles with dynamic environments.</a:t>
            </a:r>
            <a:endParaRPr lang="en-US">
              <a:ea typeface="Calibri"/>
              <a:cs typeface="Calibri"/>
            </a:endParaRPr>
          </a:p>
        </p:txBody>
      </p:sp>
    </p:spTree>
    <p:extLst>
      <p:ext uri="{BB962C8B-B14F-4D97-AF65-F5344CB8AC3E}">
        <p14:creationId xmlns:p14="http://schemas.microsoft.com/office/powerpoint/2010/main" val="4189602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50348" rIns="0" bIns="0" rtlCol="0">
            <a:spAutoFit/>
          </a:bodyPr>
          <a:lstStyle/>
          <a:p>
            <a:pPr marL="12700">
              <a:lnSpc>
                <a:spcPct val="100000"/>
              </a:lnSpc>
              <a:spcBef>
                <a:spcPts val="130"/>
              </a:spcBef>
            </a:pPr>
            <a:r>
              <a:rPr spc="-50"/>
              <a:t>Research</a:t>
            </a:r>
            <a:r>
              <a:rPr spc="-200"/>
              <a:t> </a:t>
            </a:r>
            <a:r>
              <a:t>Gaps</a:t>
            </a:r>
            <a:r>
              <a:rPr spc="-175"/>
              <a:t> </a:t>
            </a:r>
            <a:r>
              <a:rPr spc="-20"/>
              <a:t>Identified</a:t>
            </a:r>
          </a:p>
        </p:txBody>
      </p:sp>
      <p:graphicFrame>
        <p:nvGraphicFramePr>
          <p:cNvPr id="5" name="Table 4">
            <a:extLst>
              <a:ext uri="{FF2B5EF4-FFF2-40B4-BE49-F238E27FC236}">
                <a16:creationId xmlns:a16="http://schemas.microsoft.com/office/drawing/2014/main" id="{B6551F58-7ADA-6002-3FD4-B0DD89621D48}"/>
              </a:ext>
            </a:extLst>
          </p:cNvPr>
          <p:cNvGraphicFramePr>
            <a:graphicFrameLocks noGrp="1"/>
          </p:cNvGraphicFramePr>
          <p:nvPr>
            <p:extLst>
              <p:ext uri="{D42A27DB-BD31-4B8C-83A1-F6EECF244321}">
                <p14:modId xmlns:p14="http://schemas.microsoft.com/office/powerpoint/2010/main" val="4141713044"/>
              </p:ext>
            </p:extLst>
          </p:nvPr>
        </p:nvGraphicFramePr>
        <p:xfrm>
          <a:off x="915653" y="1453061"/>
          <a:ext cx="10565082" cy="4046106"/>
        </p:xfrm>
        <a:graphic>
          <a:graphicData uri="http://schemas.openxmlformats.org/drawingml/2006/table">
            <a:tbl>
              <a:tblPr firstRow="1" bandRow="1"/>
              <a:tblGrid>
                <a:gridCol w="672352">
                  <a:extLst>
                    <a:ext uri="{9D8B030D-6E8A-4147-A177-3AD203B41FA5}">
                      <a16:colId xmlns:a16="http://schemas.microsoft.com/office/drawing/2014/main" val="3653951905"/>
                    </a:ext>
                  </a:extLst>
                </a:gridCol>
                <a:gridCol w="3445808">
                  <a:extLst>
                    <a:ext uri="{9D8B030D-6E8A-4147-A177-3AD203B41FA5}">
                      <a16:colId xmlns:a16="http://schemas.microsoft.com/office/drawing/2014/main" val="628619530"/>
                    </a:ext>
                  </a:extLst>
                </a:gridCol>
                <a:gridCol w="3613895">
                  <a:extLst>
                    <a:ext uri="{9D8B030D-6E8A-4147-A177-3AD203B41FA5}">
                      <a16:colId xmlns:a16="http://schemas.microsoft.com/office/drawing/2014/main" val="681362389"/>
                    </a:ext>
                  </a:extLst>
                </a:gridCol>
                <a:gridCol w="2833027">
                  <a:extLst>
                    <a:ext uri="{9D8B030D-6E8A-4147-A177-3AD203B41FA5}">
                      <a16:colId xmlns:a16="http://schemas.microsoft.com/office/drawing/2014/main" val="148213489"/>
                    </a:ext>
                  </a:extLst>
                </a:gridCol>
              </a:tblGrid>
              <a:tr h="479946">
                <a:tc>
                  <a:txBody>
                    <a:bodyPr/>
                    <a:lstStyle/>
                    <a:p>
                      <a:pPr lvl="0">
                        <a:buNone/>
                      </a:pPr>
                      <a:r>
                        <a:rPr lang="en-US" b="0" i="0" u="none" strike="noStrike" noProof="0" err="1">
                          <a:latin typeface="Calibri"/>
                        </a:rPr>
                        <a:t>S.No</a:t>
                      </a:r>
                      <a:r>
                        <a:rPr lang="en-US" b="0" i="0" u="none" strike="noStrike" noProof="0">
                          <a:latin typeface="Calibri"/>
                        </a:rPr>
                        <a:t> </a:t>
                      </a:r>
                    </a:p>
                  </a:txBody>
                  <a:tcPr/>
                </a:tc>
                <a:tc>
                  <a:txBody>
                    <a:bodyPr/>
                    <a:lstStyle/>
                    <a:p>
                      <a:pPr lvl="0">
                        <a:buNone/>
                      </a:pPr>
                      <a:r>
                        <a:rPr lang="en-US" sz="1800" b="0" i="0" u="none" strike="noStrike" noProof="0">
                          <a:solidFill>
                            <a:srgbClr val="000000"/>
                          </a:solidFill>
                          <a:latin typeface="Calibri"/>
                        </a:rPr>
                        <a:t>Authors </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Title </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Limitations (Research Gaps)</a:t>
                      </a:r>
                    </a:p>
                  </a:txBody>
                  <a:tcPr/>
                </a:tc>
                <a:extLst>
                  <a:ext uri="{0D108BD9-81ED-4DB2-BD59-A6C34878D82A}">
                    <a16:rowId xmlns:a16="http://schemas.microsoft.com/office/drawing/2014/main" val="3446512359"/>
                  </a:ext>
                </a:extLst>
              </a:tr>
              <a:tr h="479946">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1 </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Muhammad Salihin Ahmad Azmil, M. S., </a:t>
                      </a:r>
                      <a:r>
                        <a:rPr lang="en-US" sz="1800" b="0" i="0" u="none" strike="noStrike" noProof="0" err="1">
                          <a:solidFill>
                            <a:srgbClr val="000000"/>
                          </a:solidFill>
                          <a:latin typeface="Calibri"/>
                        </a:rPr>
                        <a:t>Ya'acob</a:t>
                      </a:r>
                      <a:r>
                        <a:rPr lang="en-US" sz="1800" b="0" i="0" u="none" strike="noStrike" noProof="0">
                          <a:solidFill>
                            <a:srgbClr val="000000"/>
                          </a:solidFill>
                          <a:latin typeface="Calibri"/>
                        </a:rPr>
                        <a:t>, N., Tahar, K. N., &amp; Sarnin, S. S. </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Wireless fire detection monitoring system for fire and rescue application (2015) </a:t>
                      </a:r>
                    </a:p>
                    <a:p>
                      <a:pPr lvl="0">
                        <a:buNone/>
                      </a:pPr>
                      <a:endParaRPr lang="en-US"/>
                    </a:p>
                  </a:txBody>
                  <a:tcPr/>
                </a:tc>
                <a:tc>
                  <a:txBody>
                    <a:bodyPr/>
                    <a:lstStyle/>
                    <a:p>
                      <a:pPr lvl="0">
                        <a:buNone/>
                      </a:pPr>
                      <a:r>
                        <a:rPr lang="en-US" sz="1800" b="0" i="0" u="none" strike="noStrike" noProof="0">
                          <a:solidFill>
                            <a:srgbClr val="000000"/>
                          </a:solidFill>
                          <a:latin typeface="Calibri"/>
                        </a:rPr>
                        <a:t>Limited range of wireless communication, require frequent maintenance and updates</a:t>
                      </a:r>
                      <a:endParaRPr lang="en-US"/>
                    </a:p>
                  </a:txBody>
                  <a:tcPr/>
                </a:tc>
                <a:extLst>
                  <a:ext uri="{0D108BD9-81ED-4DB2-BD59-A6C34878D82A}">
                    <a16:rowId xmlns:a16="http://schemas.microsoft.com/office/drawing/2014/main" val="3255110122"/>
                  </a:ext>
                </a:extLst>
              </a:tr>
              <a:tr h="479946">
                <a:tc>
                  <a:txBody>
                    <a:bodyPr/>
                    <a:lstStyle/>
                    <a:p>
                      <a:pPr lvl="0">
                        <a:buNone/>
                      </a:pPr>
                      <a:r>
                        <a:rPr lang="en-US" sz="1800" b="0" i="0" u="none" strike="noStrike" noProof="0">
                          <a:solidFill>
                            <a:srgbClr val="000000"/>
                          </a:solidFill>
                          <a:latin typeface="Calibri"/>
                        </a:rPr>
                        <a:t>2  </a:t>
                      </a:r>
                      <a:endParaRPr lang="en-US"/>
                    </a:p>
                  </a:txBody>
                  <a:tcPr/>
                </a:tc>
                <a:tc>
                  <a:txBody>
                    <a:bodyPr/>
                    <a:lstStyle/>
                    <a:p>
                      <a:pPr lvl="0">
                        <a:buNone/>
                      </a:pPr>
                      <a:r>
                        <a:rPr lang="en-US" sz="1800" b="0" i="0" u="none" strike="noStrike" noProof="0">
                          <a:solidFill>
                            <a:srgbClr val="000000"/>
                          </a:solidFill>
                          <a:latin typeface="Calibri"/>
                        </a:rPr>
                        <a:t>F. Jaradat and D. Valles</a:t>
                      </a:r>
                      <a:endParaRPr lang="en-US"/>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A Human Detection Approach for Burning Building Sites Using Deep Learning Techniques (2018) </a:t>
                      </a:r>
                    </a:p>
                  </a:txBody>
                  <a:tcPr/>
                </a:tc>
                <a:tc>
                  <a:txBody>
                    <a:bodyPr/>
                    <a:lstStyle/>
                    <a:p>
                      <a:pPr lvl="0">
                        <a:buNone/>
                      </a:pPr>
                      <a:r>
                        <a:rPr lang="en-US" sz="1800" b="0" i="0" u="none" strike="noStrike" noProof="0">
                          <a:solidFill>
                            <a:srgbClr val="000000"/>
                          </a:solidFill>
                          <a:latin typeface="Calibri"/>
                        </a:rPr>
                        <a:t>Requires extensive training data ,Struggles in extreme conditions like dense smoke or high heat.</a:t>
                      </a:r>
                      <a:endParaRPr lang="en-US"/>
                    </a:p>
                  </a:txBody>
                  <a:tcPr/>
                </a:tc>
                <a:extLst>
                  <a:ext uri="{0D108BD9-81ED-4DB2-BD59-A6C34878D82A}">
                    <a16:rowId xmlns:a16="http://schemas.microsoft.com/office/drawing/2014/main" val="1687384145"/>
                  </a:ext>
                </a:extLst>
              </a:tr>
              <a:tr h="479946">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3  </a:t>
                      </a:r>
                    </a:p>
                  </a:txBody>
                  <a:tcPr/>
                </a:tc>
                <a:tc>
                  <a:txBody>
                    <a:bodyPr/>
                    <a:lstStyle/>
                    <a:p>
                      <a:pPr lvl="0">
                        <a:buNone/>
                      </a:pPr>
                      <a:r>
                        <a:rPr lang="en-US" sz="1800" b="0" i="0" u="none" strike="noStrike" noProof="0">
                          <a:solidFill>
                            <a:srgbClr val="000000"/>
                          </a:solidFill>
                          <a:latin typeface="Calibri"/>
                        </a:rPr>
                        <a:t>Seetharaman, R., Sreeja, R. R., Dakshin, S. Vidhul, Nivetha, N., </a:t>
                      </a:r>
                      <a:r>
                        <a:rPr lang="en-US" sz="1800" b="0" i="0" u="none" strike="noStrike" noProof="0" err="1">
                          <a:solidFill>
                            <a:srgbClr val="000000"/>
                          </a:solidFill>
                          <a:latin typeface="Calibri"/>
                        </a:rPr>
                        <a:t>Gowsigan</a:t>
                      </a:r>
                      <a:r>
                        <a:rPr lang="en-US" sz="1800" b="0" i="0" u="none" strike="noStrike" noProof="0">
                          <a:solidFill>
                            <a:srgbClr val="000000"/>
                          </a:solidFill>
                          <a:latin typeface="Calibri"/>
                        </a:rPr>
                        <a:t>, S., &amp; Barath, M. </a:t>
                      </a:r>
                      <a:endParaRPr lang="en-US"/>
                    </a:p>
                  </a:txBody>
                  <a:tcPr/>
                </a:tc>
                <a:tc>
                  <a:txBody>
                    <a:bodyPr/>
                    <a:lstStyle/>
                    <a:p>
                      <a:pPr lvl="0">
                        <a:buNone/>
                      </a:pPr>
                      <a:r>
                        <a:rPr lang="en-US" sz="1800" b="0" i="0" u="none" strike="noStrike" noProof="0">
                          <a:solidFill>
                            <a:srgbClr val="000000"/>
                          </a:solidFill>
                          <a:latin typeface="Calibri"/>
                        </a:rPr>
                        <a:t>Analysis of a Real Time Fire Detection and Intimation System (2020)</a:t>
                      </a:r>
                      <a:endParaRPr lang="en-US"/>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May face false alarms under certain conditions, Depends on network connectivity. </a:t>
                      </a:r>
                    </a:p>
                    <a:p>
                      <a:pPr lvl="0">
                        <a:buNone/>
                      </a:pPr>
                      <a:endParaRPr lang="en-US"/>
                    </a:p>
                  </a:txBody>
                  <a:tcPr/>
                </a:tc>
                <a:extLst>
                  <a:ext uri="{0D108BD9-81ED-4DB2-BD59-A6C34878D82A}">
                    <a16:rowId xmlns:a16="http://schemas.microsoft.com/office/drawing/2014/main" val="418642034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6551F58-7ADA-6002-3FD4-B0DD89621D48}"/>
              </a:ext>
            </a:extLst>
          </p:cNvPr>
          <p:cNvGraphicFramePr>
            <a:graphicFrameLocks noGrp="1"/>
          </p:cNvGraphicFramePr>
          <p:nvPr>
            <p:extLst>
              <p:ext uri="{D42A27DB-BD31-4B8C-83A1-F6EECF244321}">
                <p14:modId xmlns:p14="http://schemas.microsoft.com/office/powerpoint/2010/main" val="1534439117"/>
              </p:ext>
            </p:extLst>
          </p:nvPr>
        </p:nvGraphicFramePr>
        <p:xfrm>
          <a:off x="720246" y="334026"/>
          <a:ext cx="10677192" cy="5408028"/>
        </p:xfrm>
        <a:graphic>
          <a:graphicData uri="http://schemas.openxmlformats.org/drawingml/2006/table">
            <a:tbl>
              <a:tblPr firstRow="1" bandRow="1"/>
              <a:tblGrid>
                <a:gridCol w="679486">
                  <a:extLst>
                    <a:ext uri="{9D8B030D-6E8A-4147-A177-3AD203B41FA5}">
                      <a16:colId xmlns:a16="http://schemas.microsoft.com/office/drawing/2014/main" val="3653951905"/>
                    </a:ext>
                  </a:extLst>
                </a:gridCol>
                <a:gridCol w="3312502">
                  <a:extLst>
                    <a:ext uri="{9D8B030D-6E8A-4147-A177-3AD203B41FA5}">
                      <a16:colId xmlns:a16="http://schemas.microsoft.com/office/drawing/2014/main" val="628619530"/>
                    </a:ext>
                  </a:extLst>
                </a:gridCol>
                <a:gridCol w="3623934">
                  <a:extLst>
                    <a:ext uri="{9D8B030D-6E8A-4147-A177-3AD203B41FA5}">
                      <a16:colId xmlns:a16="http://schemas.microsoft.com/office/drawing/2014/main" val="681362389"/>
                    </a:ext>
                  </a:extLst>
                </a:gridCol>
                <a:gridCol w="3061270">
                  <a:extLst>
                    <a:ext uri="{9D8B030D-6E8A-4147-A177-3AD203B41FA5}">
                      <a16:colId xmlns:a16="http://schemas.microsoft.com/office/drawing/2014/main" val="148213489"/>
                    </a:ext>
                  </a:extLst>
                </a:gridCol>
              </a:tblGrid>
              <a:tr h="1187959">
                <a:tc>
                  <a:txBody>
                    <a:bodyPr/>
                    <a:lstStyle/>
                    <a:p>
                      <a:pPr lvl="0">
                        <a:buNone/>
                      </a:pPr>
                      <a:r>
                        <a:rPr lang="en-US" sz="1800" b="0" i="0" u="none" strike="noStrike" noProof="0">
                          <a:solidFill>
                            <a:srgbClr val="000000"/>
                          </a:solidFill>
                          <a:latin typeface="Calibri"/>
                        </a:rPr>
                        <a:t>4    </a:t>
                      </a:r>
                      <a:endParaRPr lang="en-US"/>
                    </a:p>
                  </a:txBody>
                  <a:tcPr/>
                </a:tc>
                <a:tc>
                  <a:txBody>
                    <a:bodyPr/>
                    <a:lstStyle/>
                    <a:p>
                      <a:pPr lvl="0">
                        <a:buNone/>
                      </a:pPr>
                      <a:r>
                        <a:rPr lang="en-US" sz="1800" b="0" i="0" u="none" strike="noStrike" noProof="0">
                          <a:solidFill>
                            <a:srgbClr val="000000"/>
                          </a:solidFill>
                          <a:latin typeface="Calibri"/>
                        </a:rPr>
                        <a:t>Aathithya, S., Kavya, S., Malavika, J., Raveena, R., Durga, E.</a:t>
                      </a:r>
                      <a:endParaRPr lang="en-US"/>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Detection of Human Existence Using Thermal Imaging for Automated Fire Extinguisher (2020)</a:t>
                      </a:r>
                      <a:endParaRPr lang="en-US"/>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Limited to thermal detection accuracy, Struggles in environments with varying temperatures.</a:t>
                      </a:r>
                      <a:endParaRPr lang="en-US"/>
                    </a:p>
                  </a:txBody>
                  <a:tcPr/>
                </a:tc>
                <a:extLst>
                  <a:ext uri="{0D108BD9-81ED-4DB2-BD59-A6C34878D82A}">
                    <a16:rowId xmlns:a16="http://schemas.microsoft.com/office/drawing/2014/main" val="3446512359"/>
                  </a:ext>
                </a:extLst>
              </a:tr>
              <a:tr h="1406436">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5</a:t>
                      </a:r>
                      <a:endParaRPr lang="en-US"/>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 Zaher, A., Al </a:t>
                      </a:r>
                      <a:r>
                        <a:rPr lang="en-US" sz="1800" b="0" i="0" u="none" strike="noStrike" noProof="0" err="1">
                          <a:solidFill>
                            <a:srgbClr val="000000"/>
                          </a:solidFill>
                          <a:latin typeface="Calibri"/>
                        </a:rPr>
                        <a:t>Faqsh</a:t>
                      </a:r>
                      <a:r>
                        <a:rPr lang="en-US" sz="1800" b="0" i="0" u="none" strike="noStrike" noProof="0">
                          <a:solidFill>
                            <a:srgbClr val="000000"/>
                          </a:solidFill>
                          <a:latin typeface="Calibri"/>
                        </a:rPr>
                        <a:t>, A., </a:t>
                      </a:r>
                      <a:r>
                        <a:rPr lang="en-US" sz="1800" b="0" i="0" u="none" strike="noStrike" noProof="0" err="1">
                          <a:solidFill>
                            <a:srgbClr val="000000"/>
                          </a:solidFill>
                          <a:latin typeface="Calibri"/>
                        </a:rPr>
                        <a:t>Abdulredha</a:t>
                      </a:r>
                      <a:r>
                        <a:rPr lang="en-US" sz="1800" b="0" i="0" u="none" strike="noStrike" noProof="0">
                          <a:solidFill>
                            <a:srgbClr val="000000"/>
                          </a:solidFill>
                          <a:latin typeface="Calibri"/>
                        </a:rPr>
                        <a:t>, H.,</a:t>
                      </a:r>
                      <a:r>
                        <a:rPr lang="en-US" sz="1800" b="0" i="0" u="none" strike="noStrike" noProof="0" err="1">
                          <a:solidFill>
                            <a:srgbClr val="000000"/>
                          </a:solidFill>
                          <a:latin typeface="Calibri"/>
                        </a:rPr>
                        <a:t>Qudaihi</a:t>
                      </a:r>
                      <a:r>
                        <a:rPr lang="en-US" sz="1800" b="0" i="0" u="none" strike="noStrike" noProof="0">
                          <a:solidFill>
                            <a:srgbClr val="000000"/>
                          </a:solidFill>
                          <a:latin typeface="Calibri"/>
                        </a:rPr>
                        <a:t>, H., &amp; </a:t>
                      </a:r>
                      <a:r>
                        <a:rPr lang="en-US" sz="1800" b="0" i="0" u="none" strike="noStrike" noProof="0" err="1">
                          <a:solidFill>
                            <a:srgbClr val="000000"/>
                          </a:solidFill>
                          <a:latin typeface="Calibri"/>
                        </a:rPr>
                        <a:t>Toaube</a:t>
                      </a:r>
                      <a:r>
                        <a:rPr lang="en-US" sz="1800" b="0" i="0" u="none" strike="noStrike" noProof="0">
                          <a:solidFill>
                            <a:srgbClr val="000000"/>
                          </a:solidFill>
                          <a:latin typeface="Calibri"/>
                        </a:rPr>
                        <a:t>, M.</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Al A Fire Prevention/Monitoring Smart System (2021)</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Dependency on sensors, potential high cost, Potential high initial cost. </a:t>
                      </a:r>
                    </a:p>
                  </a:txBody>
                  <a:tcPr/>
                </a:tc>
                <a:extLst>
                  <a:ext uri="{0D108BD9-81ED-4DB2-BD59-A6C34878D82A}">
                    <a16:rowId xmlns:a16="http://schemas.microsoft.com/office/drawing/2014/main" val="3255110122"/>
                  </a:ext>
                </a:extLst>
              </a:tr>
              <a:tr h="1406436">
                <a:tc>
                  <a:txBody>
                    <a:bodyPr/>
                    <a:lstStyle/>
                    <a:p>
                      <a:pPr lvl="0">
                        <a:buNone/>
                      </a:pPr>
                      <a:r>
                        <a:rPr lang="en-US" sz="1800" b="0" i="0" u="none" strike="noStrike" noProof="0">
                          <a:solidFill>
                            <a:srgbClr val="000000"/>
                          </a:solidFill>
                          <a:latin typeface="Calibri"/>
                        </a:rPr>
                        <a:t>6 </a:t>
                      </a:r>
                      <a:endParaRPr lang="en-US"/>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Luo, W.  </a:t>
                      </a:r>
                    </a:p>
                    <a:p>
                      <a:pPr lvl="0">
                        <a:buNone/>
                      </a:pPr>
                      <a:endParaRPr lang="en-US" sz="1800" b="0" i="0" u="none" strike="noStrike" noProof="0">
                        <a:solidFill>
                          <a:srgbClr val="000000"/>
                        </a:solidFill>
                        <a:latin typeface="Calibri"/>
                      </a:endParaRP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Research on fire detection based on YOLOv5 (2021) </a:t>
                      </a:r>
                      <a:endParaRPr lang="en-US"/>
                    </a:p>
                  </a:txBody>
                  <a:tcPr/>
                </a:tc>
                <a:tc>
                  <a:txBody>
                    <a:bodyPr/>
                    <a:lstStyle/>
                    <a:p>
                      <a:pPr lvl="0">
                        <a:buNone/>
                      </a:pPr>
                      <a:r>
                        <a:rPr lang="en-US" sz="1800" b="0" i="0" u="none" strike="noStrike" noProof="0">
                          <a:solidFill>
                            <a:srgbClr val="000000"/>
                          </a:solidFill>
                          <a:latin typeface="Calibri"/>
                        </a:rPr>
                        <a:t>Requires high computational resources, May face challenges in real time processing.</a:t>
                      </a:r>
                      <a:endParaRPr lang="en-US"/>
                    </a:p>
                  </a:txBody>
                  <a:tcPr/>
                </a:tc>
                <a:extLst>
                  <a:ext uri="{0D108BD9-81ED-4DB2-BD59-A6C34878D82A}">
                    <a16:rowId xmlns:a16="http://schemas.microsoft.com/office/drawing/2014/main" val="1687384145"/>
                  </a:ext>
                </a:extLst>
              </a:tr>
              <a:tr h="1406436">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7 </a:t>
                      </a:r>
                      <a:endParaRPr lang="en-US"/>
                    </a:p>
                  </a:txBody>
                  <a:tcPr/>
                </a:tc>
                <a:tc>
                  <a:txBody>
                    <a:bodyPr/>
                    <a:lstStyle/>
                    <a:p>
                      <a:pPr lvl="0">
                        <a:buNone/>
                      </a:pPr>
                      <a:r>
                        <a:rPr lang="en-US" sz="1800" b="0" i="0" u="none" strike="noStrike" noProof="0" err="1">
                          <a:solidFill>
                            <a:srgbClr val="000000"/>
                          </a:solidFill>
                          <a:latin typeface="Calibri"/>
                        </a:rPr>
                        <a:t>Jaeseung</a:t>
                      </a:r>
                      <a:r>
                        <a:rPr lang="en-US" sz="1800" b="0" i="0" u="none" strike="noStrike" noProof="0">
                          <a:solidFill>
                            <a:srgbClr val="000000"/>
                          </a:solidFill>
                          <a:latin typeface="Calibri"/>
                        </a:rPr>
                        <a:t> Baek, Taha J. Alhindi, Young-Seon Jeong, Myong K. Jeong, </a:t>
                      </a:r>
                      <a:r>
                        <a:rPr lang="en-US" sz="1800" b="0" i="0" u="none" strike="noStrike" noProof="0" err="1">
                          <a:solidFill>
                            <a:srgbClr val="000000"/>
                          </a:solidFill>
                          <a:latin typeface="Calibri"/>
                        </a:rPr>
                        <a:t>Seongho</a:t>
                      </a:r>
                      <a:r>
                        <a:rPr lang="en-US" sz="1800" b="0" i="0" u="none" strike="noStrike" noProof="0">
                          <a:solidFill>
                            <a:srgbClr val="000000"/>
                          </a:solidFill>
                          <a:latin typeface="Calibri"/>
                        </a:rPr>
                        <a:t> Seo, </a:t>
                      </a:r>
                      <a:r>
                        <a:rPr lang="en-US" sz="1800" b="0" i="0" u="none" strike="noStrike" noProof="0" err="1">
                          <a:solidFill>
                            <a:srgbClr val="000000"/>
                          </a:solidFill>
                          <a:latin typeface="Calibri"/>
                        </a:rPr>
                        <a:t>Jongseok</a:t>
                      </a:r>
                      <a:r>
                        <a:rPr lang="en-US" sz="1800" b="0" i="0" u="none" strike="noStrike" noProof="0">
                          <a:solidFill>
                            <a:srgbClr val="000000"/>
                          </a:solidFill>
                          <a:latin typeface="Calibri"/>
                        </a:rPr>
                        <a:t> Kang, We Shim, </a:t>
                      </a:r>
                      <a:r>
                        <a:rPr lang="en-US" sz="1800" b="0" i="0" u="none" strike="noStrike" noProof="0" err="1">
                          <a:solidFill>
                            <a:srgbClr val="000000"/>
                          </a:solidFill>
                          <a:latin typeface="Calibri"/>
                        </a:rPr>
                        <a:t>Yoseob</a:t>
                      </a:r>
                      <a:r>
                        <a:rPr lang="en-US" sz="1800" b="0" i="0" u="none" strike="noStrike" noProof="0">
                          <a:solidFill>
                            <a:srgbClr val="000000"/>
                          </a:solidFill>
                          <a:latin typeface="Calibri"/>
                        </a:rPr>
                        <a:t> Heo </a:t>
                      </a:r>
                      <a:endParaRPr lang="en-US"/>
                    </a:p>
                  </a:txBody>
                  <a:tcPr/>
                </a:tc>
                <a:tc>
                  <a:txBody>
                    <a:bodyPr/>
                    <a:lstStyle/>
                    <a:p>
                      <a:pPr lvl="0">
                        <a:buNone/>
                      </a:pPr>
                      <a:r>
                        <a:rPr lang="en-US" sz="1800" b="0" i="0" u="none" strike="noStrike" noProof="0">
                          <a:solidFill>
                            <a:srgbClr val="000000"/>
                          </a:solidFill>
                          <a:latin typeface="Calibri"/>
                        </a:rPr>
                        <a:t>Real-time fire detection system based on dynamic time warping of multichannel sensor networks (2021) </a:t>
                      </a:r>
                      <a:endParaRPr lang="en-US"/>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Complex sensor network integration, Vulnerable to environmental interferences.</a:t>
                      </a:r>
                    </a:p>
                    <a:p>
                      <a:pPr lvl="0" algn="l">
                        <a:lnSpc>
                          <a:spcPct val="100000"/>
                        </a:lnSpc>
                        <a:spcBef>
                          <a:spcPts val="0"/>
                        </a:spcBef>
                        <a:spcAft>
                          <a:spcPts val="0"/>
                        </a:spcAft>
                        <a:buNone/>
                      </a:pPr>
                      <a:endParaRPr lang="en-US" sz="1800" b="0" i="0" u="none" strike="noStrike" noProof="0">
                        <a:solidFill>
                          <a:srgbClr val="000000"/>
                        </a:solidFill>
                        <a:latin typeface="Calibri"/>
                      </a:endParaRPr>
                    </a:p>
                  </a:txBody>
                  <a:tcPr/>
                </a:tc>
                <a:extLst>
                  <a:ext uri="{0D108BD9-81ED-4DB2-BD59-A6C34878D82A}">
                    <a16:rowId xmlns:a16="http://schemas.microsoft.com/office/drawing/2014/main" val="4186420348"/>
                  </a:ext>
                </a:extLst>
              </a:tr>
            </a:tbl>
          </a:graphicData>
        </a:graphic>
      </p:graphicFrame>
    </p:spTree>
    <p:extLst>
      <p:ext uri="{BB962C8B-B14F-4D97-AF65-F5344CB8AC3E}">
        <p14:creationId xmlns:p14="http://schemas.microsoft.com/office/powerpoint/2010/main" val="3702727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6551F58-7ADA-6002-3FD4-B0DD89621D48}"/>
              </a:ext>
            </a:extLst>
          </p:cNvPr>
          <p:cNvGraphicFramePr>
            <a:graphicFrameLocks noGrp="1"/>
          </p:cNvGraphicFramePr>
          <p:nvPr>
            <p:extLst>
              <p:ext uri="{D42A27DB-BD31-4B8C-83A1-F6EECF244321}">
                <p14:modId xmlns:p14="http://schemas.microsoft.com/office/powerpoint/2010/main" val="2011553901"/>
              </p:ext>
            </p:extLst>
          </p:nvPr>
        </p:nvGraphicFramePr>
        <p:xfrm>
          <a:off x="918575" y="448849"/>
          <a:ext cx="10565082" cy="4206154"/>
        </p:xfrm>
        <a:graphic>
          <a:graphicData uri="http://schemas.openxmlformats.org/drawingml/2006/table">
            <a:tbl>
              <a:tblPr firstRow="1" bandRow="1"/>
              <a:tblGrid>
                <a:gridCol w="672352">
                  <a:extLst>
                    <a:ext uri="{9D8B030D-6E8A-4147-A177-3AD203B41FA5}">
                      <a16:colId xmlns:a16="http://schemas.microsoft.com/office/drawing/2014/main" val="3653951905"/>
                    </a:ext>
                  </a:extLst>
                </a:gridCol>
                <a:gridCol w="3445808">
                  <a:extLst>
                    <a:ext uri="{9D8B030D-6E8A-4147-A177-3AD203B41FA5}">
                      <a16:colId xmlns:a16="http://schemas.microsoft.com/office/drawing/2014/main" val="628619530"/>
                    </a:ext>
                  </a:extLst>
                </a:gridCol>
                <a:gridCol w="3613895">
                  <a:extLst>
                    <a:ext uri="{9D8B030D-6E8A-4147-A177-3AD203B41FA5}">
                      <a16:colId xmlns:a16="http://schemas.microsoft.com/office/drawing/2014/main" val="681362389"/>
                    </a:ext>
                  </a:extLst>
                </a:gridCol>
                <a:gridCol w="2833027">
                  <a:extLst>
                    <a:ext uri="{9D8B030D-6E8A-4147-A177-3AD203B41FA5}">
                      <a16:colId xmlns:a16="http://schemas.microsoft.com/office/drawing/2014/main" val="148213489"/>
                    </a:ext>
                  </a:extLst>
                </a:gridCol>
              </a:tblGrid>
              <a:tr h="589612">
                <a:tc>
                  <a:txBody>
                    <a:bodyPr/>
                    <a:lstStyle/>
                    <a:p>
                      <a:pPr lvl="0">
                        <a:buNone/>
                      </a:pPr>
                      <a:r>
                        <a:rPr lang="en-US" sz="1800" b="0" i="0" u="none" strike="noStrike" noProof="0">
                          <a:solidFill>
                            <a:srgbClr val="000000"/>
                          </a:solidFill>
                          <a:latin typeface="Calibri"/>
                        </a:rPr>
                        <a:t>8 </a:t>
                      </a:r>
                      <a:endParaRPr lang="en-US"/>
                    </a:p>
                  </a:txBody>
                  <a:tcPr/>
                </a:tc>
                <a:tc>
                  <a:txBody>
                    <a:bodyPr/>
                    <a:lstStyle/>
                    <a:p>
                      <a:pPr lvl="0">
                        <a:buNone/>
                      </a:pPr>
                      <a:r>
                        <a:rPr lang="en-US" sz="1800" b="0" i="0" u="none" strike="noStrike" noProof="0">
                          <a:solidFill>
                            <a:srgbClr val="000000"/>
                          </a:solidFill>
                          <a:latin typeface="Calibri"/>
                        </a:rPr>
                        <a:t>Lee H-W, Lee K-O, Bae J-H, Kim S-Y, Park Y-Y </a:t>
                      </a:r>
                      <a:endParaRPr lang="en-US"/>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Using Hybrid Algorithms of Human Detection Technique for Detecting Indoor Disaster Victims (2022)</a:t>
                      </a:r>
                      <a:endParaRPr lang="en-US"/>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Complexity in algorithm implementation, Limited by environmental conditions like smoke. </a:t>
                      </a:r>
                      <a:endParaRPr lang="en-US"/>
                    </a:p>
                  </a:txBody>
                  <a:tcPr/>
                </a:tc>
                <a:extLst>
                  <a:ext uri="{0D108BD9-81ED-4DB2-BD59-A6C34878D82A}">
                    <a16:rowId xmlns:a16="http://schemas.microsoft.com/office/drawing/2014/main" val="3446512359"/>
                  </a:ext>
                </a:extLst>
              </a:tr>
              <a:tr h="1508717">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9 </a:t>
                      </a:r>
                      <a:endParaRPr lang="en-US"/>
                    </a:p>
                  </a:txBody>
                  <a:tcPr/>
                </a:tc>
                <a:tc>
                  <a:txBody>
                    <a:bodyPr/>
                    <a:lstStyle/>
                    <a:p>
                      <a:pPr lvl="0" algn="l">
                        <a:lnSpc>
                          <a:spcPct val="100000"/>
                        </a:lnSpc>
                        <a:spcBef>
                          <a:spcPts val="0"/>
                        </a:spcBef>
                        <a:spcAft>
                          <a:spcPts val="0"/>
                        </a:spcAft>
                        <a:buNone/>
                      </a:pPr>
                      <a:r>
                        <a:rPr lang="en-US" sz="1800" b="0" i="0" u="none" strike="noStrike" noProof="0" err="1">
                          <a:solidFill>
                            <a:srgbClr val="000000"/>
                          </a:solidFill>
                          <a:latin typeface="Calibri"/>
                        </a:rPr>
                        <a:t>Chopde</a:t>
                      </a:r>
                      <a:r>
                        <a:rPr lang="en-US" sz="1800" b="0" i="0" u="none" strike="noStrike" noProof="0">
                          <a:solidFill>
                            <a:srgbClr val="000000"/>
                          </a:solidFill>
                          <a:latin typeface="Calibri"/>
                        </a:rPr>
                        <a:t>, Abhay et al </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Forest Fire Detection and Prediction from image processing using RCNN (2022) </a:t>
                      </a:r>
                      <a:endParaRPr lang="en-US"/>
                    </a:p>
                  </a:txBody>
                  <a:tcPr/>
                </a:tc>
                <a:tc>
                  <a:txBody>
                    <a:bodyPr/>
                    <a:lstStyle/>
                    <a:p>
                      <a:pPr lvl="0">
                        <a:buNone/>
                      </a:pPr>
                      <a:r>
                        <a:rPr lang="en-US" sz="1800" b="0" i="0" u="none" strike="noStrike" noProof="0">
                          <a:solidFill>
                            <a:srgbClr val="000000"/>
                          </a:solidFill>
                          <a:latin typeface="Calibri"/>
                        </a:rPr>
                        <a:t>.Dependency on large datasets for training, Relies on clear image quality. </a:t>
                      </a:r>
                      <a:endParaRPr lang="en-US"/>
                    </a:p>
                  </a:txBody>
                  <a:tcPr/>
                </a:tc>
                <a:extLst>
                  <a:ext uri="{0D108BD9-81ED-4DB2-BD59-A6C34878D82A}">
                    <a16:rowId xmlns:a16="http://schemas.microsoft.com/office/drawing/2014/main" val="3255110122"/>
                  </a:ext>
                </a:extLst>
              </a:tr>
              <a:tr h="1508717">
                <a:tc>
                  <a:txBody>
                    <a:bodyPr/>
                    <a:lstStyle/>
                    <a:p>
                      <a:pPr lvl="0">
                        <a:buNone/>
                      </a:pPr>
                      <a:r>
                        <a:rPr lang="en-US" sz="1800" b="0" i="0" u="none" strike="noStrike" noProof="0">
                          <a:solidFill>
                            <a:srgbClr val="000000"/>
                          </a:solidFill>
                          <a:latin typeface="Calibri"/>
                        </a:rPr>
                        <a:t>10</a:t>
                      </a:r>
                      <a:endParaRPr lang="en-US"/>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Sathishkumar, V.E., Cho, J., Subramanian, M., et al. </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Forest fire and smoke detection using deep learning-based learning without forgetting (2023) </a:t>
                      </a:r>
                      <a:endParaRPr lang="en-US"/>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High computational demand for training, Needs continuous retraining with new data. </a:t>
                      </a:r>
                    </a:p>
                    <a:p>
                      <a:pPr lvl="0">
                        <a:buNone/>
                      </a:pPr>
                      <a:endParaRPr lang="en-US" sz="1800" b="0" i="0" u="none" strike="noStrike" noProof="0">
                        <a:solidFill>
                          <a:srgbClr val="000000"/>
                        </a:solidFill>
                        <a:latin typeface="Calibri"/>
                      </a:endParaRPr>
                    </a:p>
                  </a:txBody>
                  <a:tcPr/>
                </a:tc>
                <a:extLst>
                  <a:ext uri="{0D108BD9-81ED-4DB2-BD59-A6C34878D82A}">
                    <a16:rowId xmlns:a16="http://schemas.microsoft.com/office/drawing/2014/main" val="1687384145"/>
                  </a:ext>
                </a:extLst>
              </a:tr>
            </a:tbl>
          </a:graphicData>
        </a:graphic>
      </p:graphicFrame>
    </p:spTree>
    <p:extLst>
      <p:ext uri="{BB962C8B-B14F-4D97-AF65-F5344CB8AC3E}">
        <p14:creationId xmlns:p14="http://schemas.microsoft.com/office/powerpoint/2010/main" val="857192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50348" rIns="0" bIns="0" rtlCol="0">
            <a:spAutoFit/>
          </a:bodyPr>
          <a:lstStyle/>
          <a:p>
            <a:pPr marL="12700">
              <a:lnSpc>
                <a:spcPct val="100000"/>
              </a:lnSpc>
              <a:spcBef>
                <a:spcPts val="130"/>
              </a:spcBef>
            </a:pPr>
            <a:r>
              <a:rPr spc="-45"/>
              <a:t>Proposed</a:t>
            </a:r>
            <a:r>
              <a:rPr spc="-200"/>
              <a:t> </a:t>
            </a:r>
            <a:r>
              <a:rPr spc="-35"/>
              <a:t>Methodology</a:t>
            </a:r>
          </a:p>
        </p:txBody>
      </p:sp>
      <p:sp>
        <p:nvSpPr>
          <p:cNvPr id="3" name="Text Placeholder 2">
            <a:extLst>
              <a:ext uri="{FF2B5EF4-FFF2-40B4-BE49-F238E27FC236}">
                <a16:creationId xmlns:a16="http://schemas.microsoft.com/office/drawing/2014/main" id="{F6597441-2FEC-432D-6F55-17397E825457}"/>
              </a:ext>
            </a:extLst>
          </p:cNvPr>
          <p:cNvSpPr>
            <a:spLocks noGrp="1"/>
          </p:cNvSpPr>
          <p:nvPr>
            <p:ph type="body" idx="1"/>
          </p:nvPr>
        </p:nvSpPr>
        <p:spPr>
          <a:xfrm>
            <a:off x="911703" y="1346964"/>
            <a:ext cx="10188933" cy="6058069"/>
          </a:xfrm>
        </p:spPr>
        <p:txBody>
          <a:bodyPr wrap="square" lIns="0" tIns="0" rIns="0" bIns="0" anchor="t">
            <a:spAutoFit/>
          </a:bodyPr>
          <a:lstStyle/>
          <a:p>
            <a:pPr algn="l"/>
            <a:r>
              <a:rPr lang="en-US" b="1" dirty="0">
                <a:ea typeface="+mn-lt"/>
                <a:cs typeface="+mn-lt"/>
              </a:rPr>
              <a:t>YOLOv8:</a:t>
            </a:r>
            <a:endParaRPr lang="en-US" dirty="0">
              <a:ea typeface="+mn-lt"/>
              <a:cs typeface="+mn-lt"/>
            </a:endParaRPr>
          </a:p>
          <a:p>
            <a:pPr algn="just">
              <a:lnSpc>
                <a:spcPct val="150000"/>
              </a:lnSpc>
              <a:spcAft>
                <a:spcPts val="800"/>
              </a:spcAft>
            </a:pPr>
            <a:r>
              <a:rPr lang="en-US" sz="1800" dirty="0">
                <a:latin typeface="Times New Roman" panose="02020603050405020304" pitchFamily="18" charset="0"/>
                <a:ea typeface="Calibri" panose="020F0502020204030204" pitchFamily="34" charset="0"/>
                <a:cs typeface="Times New Roman" panose="02020603050405020304" pitchFamily="18" charset="0"/>
              </a:rPr>
              <a:t>YOLOv8 algorithm in the fire, smoke, and human detection project begins with data preparation, utilizing a comprehensive dataset sourced from </a:t>
            </a:r>
            <a:r>
              <a:rPr lang="en-US" sz="1800" dirty="0" err="1">
                <a:latin typeface="Times New Roman" panose="02020603050405020304" pitchFamily="18" charset="0"/>
                <a:ea typeface="Calibri" panose="020F0502020204030204" pitchFamily="34" charset="0"/>
                <a:cs typeface="Times New Roman" panose="02020603050405020304" pitchFamily="18" charset="0"/>
              </a:rPr>
              <a:t>Roboflow</a:t>
            </a:r>
            <a:r>
              <a:rPr lang="en-US" sz="1800" dirty="0">
                <a:latin typeface="Times New Roman" panose="02020603050405020304" pitchFamily="18" charset="0"/>
                <a:ea typeface="Calibri" panose="020F0502020204030204" pitchFamily="34" charset="0"/>
                <a:cs typeface="Times New Roman" panose="02020603050405020304" pitchFamily="18" charset="0"/>
              </a:rPr>
              <a:t>. This dataset includes a variety of annotated images containing instances of fire, smoke, and humans in diverse conditions. The images undergo preprocessing, which includes resizing, normalization, and augmentation techniques to enhance model robustness and prevent overfitting. Following data preparation, the YOLOv8 model architecture is established, leveraging its advanced features for real-time object detection. The model is then trained on the prepared dataset using transfer learning, which fine-tunes the pre-trained weights on the YOLOv8 model, allowing it to learn specific characteristics of the target classes more effectively. Hyperparameter tuning is conducted to optimize training parameters such as learning rate, batch size, and epochs, ensuring the model converges efficiently. During training, validation data is used to monitor performance and adjust parameters as necessary. After training completion, the model's accuracy and performance are evaluated using metrics like mean Average Precision (</a:t>
            </a:r>
            <a:r>
              <a:rPr lang="en-US" sz="1800" dirty="0" err="1">
                <a:latin typeface="Times New Roman" panose="02020603050405020304" pitchFamily="18" charset="0"/>
                <a:ea typeface="Calibri" panose="020F0502020204030204" pitchFamily="34" charset="0"/>
                <a:cs typeface="Times New Roman" panose="02020603050405020304" pitchFamily="18" charset="0"/>
              </a:rPr>
              <a:t>mAP</a:t>
            </a:r>
            <a:r>
              <a:rPr lang="en-US" sz="1800" dirty="0">
                <a:latin typeface="Times New Roman" panose="02020603050405020304" pitchFamily="18" charset="0"/>
                <a:ea typeface="Calibri" panose="020F0502020204030204" pitchFamily="34" charset="0"/>
                <a:cs typeface="Times New Roman" panose="02020603050405020304" pitchFamily="18" charset="0"/>
              </a:rPr>
              <a:t>) and Intersection over Union (</a:t>
            </a:r>
            <a:r>
              <a:rPr lang="en-US" sz="1800" dirty="0" err="1">
                <a:latin typeface="Times New Roman" panose="02020603050405020304" pitchFamily="18" charset="0"/>
                <a:ea typeface="Calibri" panose="020F0502020204030204" pitchFamily="34" charset="0"/>
                <a:cs typeface="Times New Roman" panose="02020603050405020304" pitchFamily="18" charset="0"/>
              </a:rPr>
              <a:t>IoU</a:t>
            </a:r>
            <a:r>
              <a:rPr lang="en-US" sz="1800" dirty="0">
                <a:latin typeface="Times New Roman" panose="02020603050405020304" pitchFamily="18" charset="0"/>
                <a:ea typeface="Calibri" panose="020F0502020204030204" pitchFamily="34" charset="0"/>
                <a:cs typeface="Times New Roman" panose="02020603050405020304" pitchFamily="18" charset="0"/>
              </a:rPr>
              <a:t>). Finally, the trained YOLOv8 model is integrated into an application that allows for both image uploads and live camera feeds, providing real-time detection capabilities for users.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l"/>
            <a:endParaRPr lang="en-US" b="1" dirty="0">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6597441-2FEC-432D-6F55-17397E825457}"/>
              </a:ext>
            </a:extLst>
          </p:cNvPr>
          <p:cNvSpPr>
            <a:spLocks noGrp="1"/>
          </p:cNvSpPr>
          <p:nvPr>
            <p:ph type="body" idx="1"/>
          </p:nvPr>
        </p:nvSpPr>
        <p:spPr>
          <a:xfrm>
            <a:off x="577676" y="501457"/>
            <a:ext cx="11201452" cy="4431983"/>
          </a:xfrm>
        </p:spPr>
        <p:txBody>
          <a:bodyPr wrap="square" lIns="0" tIns="0" rIns="0" bIns="0" anchor="t">
            <a:spAutoFit/>
          </a:bodyPr>
          <a:lstStyle/>
          <a:p>
            <a:pPr algn="l"/>
            <a:r>
              <a:rPr lang="en-US" b="1" dirty="0">
                <a:ea typeface="+mn-lt"/>
                <a:cs typeface="+mn-lt"/>
              </a:rPr>
              <a:t> YOLOv9:</a:t>
            </a:r>
            <a:endParaRPr lang="en-US" dirty="0"/>
          </a:p>
          <a:p>
            <a:pPr algn="l"/>
            <a:endParaRPr lang="en-US" b="1" dirty="0">
              <a:ea typeface="+mn-lt"/>
              <a:cs typeface="+mn-lt"/>
            </a:endParaRPr>
          </a:p>
          <a:p>
            <a:pPr algn="l"/>
            <a:r>
              <a:rPr lang="en-US" sz="1800" dirty="0">
                <a:latin typeface="Times New Roman" panose="02020603050405020304" pitchFamily="18" charset="0"/>
                <a:ea typeface="Calibri" panose="020F0502020204030204" pitchFamily="34" charset="0"/>
                <a:cs typeface="Times New Roman" panose="02020603050405020304" pitchFamily="18" charset="0"/>
              </a:rPr>
              <a:t>YOLOv9 algorithm in the fire, smoke, and human detection project builds upon the foundation established by YOLOv8, incorporating enhancements to improve detection accuracy and efficiency. The process begins with the same dataset from </a:t>
            </a:r>
            <a:r>
              <a:rPr lang="en-US" sz="1800" dirty="0" err="1">
                <a:latin typeface="Times New Roman" panose="02020603050405020304" pitchFamily="18" charset="0"/>
                <a:ea typeface="Calibri" panose="020F0502020204030204" pitchFamily="34" charset="0"/>
                <a:cs typeface="Times New Roman" panose="02020603050405020304" pitchFamily="18" charset="0"/>
              </a:rPr>
              <a:t>Roboflow</a:t>
            </a:r>
            <a:r>
              <a:rPr lang="en-US" sz="1800" dirty="0">
                <a:latin typeface="Times New Roman" panose="02020603050405020304" pitchFamily="18" charset="0"/>
                <a:ea typeface="Calibri" panose="020F0502020204030204" pitchFamily="34" charset="0"/>
                <a:cs typeface="Times New Roman" panose="02020603050405020304" pitchFamily="18" charset="0"/>
              </a:rPr>
              <a:t>, which is thoroughly curated and annotated to include various scenarios of fire, smoke, and human presence. Data preprocessing is performed, including resizing images to the appropriate input dimensions, normalizing pixel values, and applying data augmentation techniques to enhance diversity in the training dataset. The YOLOv9 model architecture is then defined, capitalizing on its improved features, such as better backbone networks and enhanced feature pyramid networks for more precise object detection. The training process utilizes transfer learning, initializing the model with weights from pre-trained YOLOv9 models to expedite convergence and enhance learning efficiency. Hyperparameter tuning is conducted to optimize the training process, adjusting parameters like learning rate, batch size, and number of epochs for maximum performance. As the model trains, validation data is used to regularly assess its performance, employing metrics such as mean Average Precision (</a:t>
            </a:r>
            <a:r>
              <a:rPr lang="en-US" sz="1800" dirty="0" err="1">
                <a:latin typeface="Times New Roman" panose="02020603050405020304" pitchFamily="18" charset="0"/>
                <a:ea typeface="Calibri" panose="020F0502020204030204" pitchFamily="34" charset="0"/>
                <a:cs typeface="Times New Roman" panose="02020603050405020304" pitchFamily="18" charset="0"/>
              </a:rPr>
              <a:t>mAP</a:t>
            </a:r>
            <a:r>
              <a:rPr lang="en-US" sz="1800" dirty="0">
                <a:latin typeface="Times New Roman" panose="02020603050405020304" pitchFamily="18" charset="0"/>
                <a:ea typeface="Calibri" panose="020F0502020204030204" pitchFamily="34" charset="0"/>
                <a:cs typeface="Times New Roman" panose="02020603050405020304" pitchFamily="18" charset="0"/>
              </a:rPr>
              <a:t>) and Intersection over Union (</a:t>
            </a:r>
            <a:r>
              <a:rPr lang="en-US" sz="1800" dirty="0" err="1">
                <a:latin typeface="Times New Roman" panose="02020603050405020304" pitchFamily="18" charset="0"/>
                <a:ea typeface="Calibri" panose="020F0502020204030204" pitchFamily="34" charset="0"/>
                <a:cs typeface="Times New Roman" panose="02020603050405020304" pitchFamily="18" charset="0"/>
              </a:rPr>
              <a:t>IoU</a:t>
            </a:r>
            <a:r>
              <a:rPr lang="en-US" sz="1800" dirty="0">
                <a:latin typeface="Times New Roman" panose="02020603050405020304" pitchFamily="18" charset="0"/>
                <a:ea typeface="Calibri" panose="020F0502020204030204" pitchFamily="34" charset="0"/>
                <a:cs typeface="Times New Roman" panose="02020603050405020304" pitchFamily="18" charset="0"/>
              </a:rPr>
              <a:t>) to monitor progress. Upon completion of training, the YOLOv9 model is integrated into an application that supports both image uploads and live camera feeds, delivering real-time detection capabilities for fire, smoke, and human identification in critical environments.</a:t>
            </a:r>
            <a:endParaRPr lang="en-US" b="1" dirty="0">
              <a:ea typeface="Calibri"/>
              <a:cs typeface="Calibri"/>
            </a:endParaRPr>
          </a:p>
        </p:txBody>
      </p:sp>
    </p:spTree>
    <p:extLst>
      <p:ext uri="{BB962C8B-B14F-4D97-AF65-F5344CB8AC3E}">
        <p14:creationId xmlns:p14="http://schemas.microsoft.com/office/powerpoint/2010/main" val="1161365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50348" rIns="0" bIns="0" rtlCol="0">
            <a:spAutoFit/>
          </a:bodyPr>
          <a:lstStyle/>
          <a:p>
            <a:pPr marL="12700">
              <a:lnSpc>
                <a:spcPct val="100000"/>
              </a:lnSpc>
              <a:spcBef>
                <a:spcPts val="130"/>
              </a:spcBef>
            </a:pPr>
            <a:r>
              <a:rPr spc="-30"/>
              <a:t>Objectives</a:t>
            </a:r>
          </a:p>
        </p:txBody>
      </p:sp>
      <p:sp>
        <p:nvSpPr>
          <p:cNvPr id="3" name="Text Placeholder 2">
            <a:extLst>
              <a:ext uri="{FF2B5EF4-FFF2-40B4-BE49-F238E27FC236}">
                <a16:creationId xmlns:a16="http://schemas.microsoft.com/office/drawing/2014/main" id="{084694B6-337A-7C60-B402-69E046F85147}"/>
              </a:ext>
            </a:extLst>
          </p:cNvPr>
          <p:cNvSpPr>
            <a:spLocks noGrp="1"/>
          </p:cNvSpPr>
          <p:nvPr>
            <p:ph type="body" idx="1"/>
          </p:nvPr>
        </p:nvSpPr>
        <p:spPr>
          <a:xfrm>
            <a:off x="911703" y="1618361"/>
            <a:ext cx="11076192" cy="3600986"/>
          </a:xfrm>
        </p:spPr>
        <p:txBody>
          <a:bodyPr wrap="square" lIns="0" tIns="0" rIns="0" bIns="0" anchor="t">
            <a:spAutoFit/>
          </a:bodyPr>
          <a:lstStyle/>
          <a:p>
            <a:pPr marL="285750" indent="-285750" algn="l">
              <a:buFont typeface="Arial"/>
              <a:buChar char="•"/>
            </a:pPr>
            <a:r>
              <a:rPr lang="en-US" b="1" dirty="0">
                <a:ea typeface="+mn-lt"/>
                <a:cs typeface="+mn-lt"/>
              </a:rPr>
              <a:t>Real-Time Detection System:</a:t>
            </a:r>
            <a:endParaRPr lang="en-US" dirty="0"/>
          </a:p>
          <a:p>
            <a:pPr algn="l"/>
            <a:r>
              <a:rPr lang="en-US" dirty="0">
                <a:ea typeface="+mn-lt"/>
                <a:cs typeface="+mn-lt"/>
              </a:rPr>
              <a:t>  Develop a detection system using YOLOv8 and YOLOv9 to accurately identify humans, fire, and smoke in real-time.</a:t>
            </a:r>
            <a:endParaRPr lang="en-US" dirty="0">
              <a:ea typeface="Calibri"/>
              <a:cs typeface="Calibri"/>
            </a:endParaRPr>
          </a:p>
          <a:p>
            <a:pPr marL="285750" indent="-285750" algn="l">
              <a:buFont typeface="Arial"/>
              <a:buChar char="•"/>
            </a:pPr>
            <a:r>
              <a:rPr lang="en-US" b="1" dirty="0">
                <a:ea typeface="+mn-lt"/>
                <a:cs typeface="+mn-lt"/>
              </a:rPr>
              <a:t>Data Utilization</a:t>
            </a:r>
            <a:endParaRPr lang="en-US" dirty="0">
              <a:ea typeface="+mn-lt"/>
              <a:cs typeface="+mn-lt"/>
            </a:endParaRPr>
          </a:p>
          <a:p>
            <a:pPr algn="l"/>
            <a:r>
              <a:rPr lang="en-US" dirty="0">
                <a:ea typeface="+mn-lt"/>
                <a:cs typeface="+mn-lt"/>
              </a:rPr>
              <a:t>  Use a </a:t>
            </a:r>
            <a:r>
              <a:rPr lang="en-US" dirty="0" err="1">
                <a:ea typeface="+mn-lt"/>
                <a:cs typeface="+mn-lt"/>
              </a:rPr>
              <a:t>Roboflow</a:t>
            </a:r>
            <a:r>
              <a:rPr lang="en-US" dirty="0">
                <a:ea typeface="+mn-lt"/>
                <a:cs typeface="+mn-lt"/>
              </a:rPr>
              <a:t> dataset of humans, fire, and smoke to train and validate the models.</a:t>
            </a:r>
            <a:endParaRPr lang="en-US" dirty="0">
              <a:ea typeface="Calibri"/>
              <a:cs typeface="Calibri"/>
            </a:endParaRPr>
          </a:p>
          <a:p>
            <a:pPr marL="285750" indent="-285750" algn="l">
              <a:buFont typeface="Arial"/>
              <a:buChar char="•"/>
            </a:pPr>
            <a:r>
              <a:rPr lang="en-US" b="1" dirty="0">
                <a:ea typeface="+mn-lt"/>
                <a:cs typeface="+mn-lt"/>
              </a:rPr>
              <a:t>Model Implementation and Optimization</a:t>
            </a:r>
          </a:p>
          <a:p>
            <a:pPr algn="l"/>
            <a:r>
              <a:rPr lang="en-US" dirty="0">
                <a:ea typeface="+mn-lt"/>
                <a:cs typeface="+mn-lt"/>
              </a:rPr>
              <a:t>  Implement YOLOv8 and YOLOv9 in Python with Google </a:t>
            </a:r>
            <a:r>
              <a:rPr lang="en-US" dirty="0" err="1">
                <a:ea typeface="+mn-lt"/>
                <a:cs typeface="+mn-lt"/>
              </a:rPr>
              <a:t>Colab</a:t>
            </a:r>
            <a:r>
              <a:rPr lang="en-US" dirty="0">
                <a:ea typeface="+mn-lt"/>
                <a:cs typeface="+mn-lt"/>
              </a:rPr>
              <a:t>, optimizing for accuracy, speed, and efficiency.</a:t>
            </a:r>
            <a:endParaRPr lang="en-US" dirty="0">
              <a:ea typeface="Calibri"/>
              <a:cs typeface="Calibri"/>
            </a:endParaRPr>
          </a:p>
          <a:p>
            <a:pPr marL="285750" indent="-285750" algn="l">
              <a:buFont typeface="Arial"/>
              <a:buChar char="•"/>
            </a:pPr>
            <a:r>
              <a:rPr lang="en-US" b="1" dirty="0">
                <a:ea typeface="+mn-lt"/>
                <a:cs typeface="+mn-lt"/>
              </a:rPr>
              <a:t>Performance Comparison</a:t>
            </a:r>
            <a:endParaRPr lang="en-US" dirty="0">
              <a:ea typeface="+mn-lt"/>
              <a:cs typeface="+mn-lt"/>
            </a:endParaRPr>
          </a:p>
          <a:p>
            <a:pPr algn="l"/>
            <a:r>
              <a:rPr lang="en-US" dirty="0">
                <a:ea typeface="+mn-lt"/>
                <a:cs typeface="+mn-lt"/>
              </a:rPr>
              <a:t>  Compare YOLOv8 and YOLOv9 based on accuracy, speed, and robustness across scenarios.</a:t>
            </a:r>
            <a:endParaRPr lang="en-US" dirty="0">
              <a:ea typeface="Calibri"/>
              <a:cs typeface="Calibri"/>
            </a:endParaRPr>
          </a:p>
          <a:p>
            <a:pPr marL="285750" indent="-285750" algn="l">
              <a:buFont typeface="Arial"/>
              <a:buChar char="•"/>
            </a:pPr>
            <a:r>
              <a:rPr lang="en-US" b="1" dirty="0">
                <a:ea typeface="+mn-lt"/>
                <a:cs typeface="+mn-lt"/>
              </a:rPr>
              <a:t>Real-Time Processing</a:t>
            </a:r>
          </a:p>
          <a:p>
            <a:pPr algn="l"/>
            <a:r>
              <a:rPr lang="en-US" dirty="0">
                <a:ea typeface="+mn-lt"/>
                <a:cs typeface="+mn-lt"/>
              </a:rPr>
              <a:t>  Enable real-time image and video processing from a laptop camera, managing resolution and clarity challenges.</a:t>
            </a:r>
            <a:endParaRPr lang="en-US" dirty="0">
              <a:ea typeface="Calibri"/>
              <a:cs typeface="Calibri"/>
            </a:endParaRPr>
          </a:p>
          <a:p>
            <a:pPr marL="285750" indent="-285750" algn="l">
              <a:buFont typeface="Arial"/>
              <a:buChar char="•"/>
            </a:pPr>
            <a:r>
              <a:rPr lang="en-US" b="1" dirty="0">
                <a:ea typeface="+mn-lt"/>
                <a:cs typeface="+mn-lt"/>
              </a:rPr>
              <a:t>Visual feedback</a:t>
            </a:r>
          </a:p>
          <a:p>
            <a:pPr algn="l"/>
            <a:r>
              <a:rPr lang="en-US" dirty="0">
                <a:ea typeface="+mn-lt"/>
                <a:cs typeface="+mn-lt"/>
              </a:rPr>
              <a:t>  Implement real-time visual feedback to enhance safety and emergency response.</a:t>
            </a:r>
            <a:endParaRPr lang="en-US" dirty="0">
              <a:ea typeface="Calibri"/>
              <a:cs typeface="Calibri"/>
            </a:endParaRPr>
          </a:p>
          <a:p>
            <a:endParaRPr lang="en-US" dirty="0">
              <a:ea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50348" rIns="0" bIns="0" rtlCol="0">
            <a:spAutoFit/>
          </a:bodyPr>
          <a:lstStyle/>
          <a:p>
            <a:pPr marL="12700">
              <a:lnSpc>
                <a:spcPct val="100000"/>
              </a:lnSpc>
              <a:spcBef>
                <a:spcPts val="130"/>
              </a:spcBef>
            </a:pPr>
            <a:r>
              <a:rPr spc="-65" dirty="0"/>
              <a:t>System</a:t>
            </a:r>
            <a:r>
              <a:rPr spc="-150" dirty="0"/>
              <a:t> </a:t>
            </a:r>
            <a:r>
              <a:rPr spc="-25" dirty="0"/>
              <a:t>Design</a:t>
            </a:r>
            <a:r>
              <a:rPr spc="-140" dirty="0"/>
              <a:t> </a:t>
            </a:r>
            <a:r>
              <a:rPr dirty="0"/>
              <a:t>&amp;</a:t>
            </a:r>
            <a:r>
              <a:rPr spc="-125" dirty="0"/>
              <a:t> </a:t>
            </a:r>
            <a:r>
              <a:rPr spc="-35" dirty="0"/>
              <a:t>Implementation</a:t>
            </a:r>
          </a:p>
        </p:txBody>
      </p:sp>
      <p:sp>
        <p:nvSpPr>
          <p:cNvPr id="3" name="Text Placeholder 2">
            <a:extLst>
              <a:ext uri="{FF2B5EF4-FFF2-40B4-BE49-F238E27FC236}">
                <a16:creationId xmlns:a16="http://schemas.microsoft.com/office/drawing/2014/main" id="{E70756B0-BCB0-8A45-0F8D-963D91E59CF6}"/>
              </a:ext>
            </a:extLst>
          </p:cNvPr>
          <p:cNvSpPr>
            <a:spLocks noGrp="1"/>
          </p:cNvSpPr>
          <p:nvPr>
            <p:ph type="body" idx="1"/>
          </p:nvPr>
        </p:nvSpPr>
        <p:spPr>
          <a:xfrm>
            <a:off x="5693787" y="1332084"/>
            <a:ext cx="6413371" cy="4170372"/>
          </a:xfrm>
        </p:spPr>
        <p:txBody>
          <a:bodyPr wrap="square" lIns="0" tIns="0" rIns="0" bIns="0" anchor="t">
            <a:spAutoFit/>
          </a:bodyPr>
          <a:lstStyle/>
          <a:p>
            <a:pPr algn="just">
              <a:lnSpc>
                <a:spcPct val="150000"/>
              </a:lnSpc>
              <a:spcBef>
                <a:spcPts val="1200"/>
              </a:spcBef>
              <a:spcAft>
                <a:spcPts val="1200"/>
              </a:spcAft>
            </a:pPr>
            <a:r>
              <a:rPr lang="en-IN" b="1" dirty="0">
                <a:solidFill>
                  <a:srgbClr val="000000"/>
                </a:solidFill>
                <a:effectLst/>
                <a:latin typeface="Times New Roman" panose="02020603050405020304" pitchFamily="18" charset="0"/>
                <a:ea typeface="Times New Roman" panose="02020603050405020304" pitchFamily="18" charset="0"/>
              </a:rPr>
              <a:t>Data Collection</a:t>
            </a:r>
            <a:endParaRPr lang="en-IN"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r>
              <a:rPr lang="en-IN" b="1" dirty="0">
                <a:solidFill>
                  <a:srgbClr val="000000"/>
                </a:solidFill>
                <a:effectLst/>
                <a:latin typeface="Times New Roman" panose="02020603050405020304" pitchFamily="18" charset="0"/>
                <a:ea typeface="Times New Roman" panose="02020603050405020304" pitchFamily="18" charset="0"/>
              </a:rPr>
              <a:t>Objective</a:t>
            </a:r>
            <a:r>
              <a:rPr lang="en-IN" dirty="0">
                <a:solidFill>
                  <a:srgbClr val="000000"/>
                </a:solidFill>
                <a:effectLst/>
                <a:latin typeface="Times New Roman" panose="02020603050405020304" pitchFamily="18" charset="0"/>
                <a:ea typeface="Times New Roman" panose="02020603050405020304" pitchFamily="18" charset="0"/>
              </a:rPr>
              <a:t>: Collect a comprehensive dataset of images and videos containing instances of fire, smoke, and human presence for training detection models.</a:t>
            </a:r>
          </a:p>
          <a:p>
            <a:pPr marL="342900" indent="-342900" algn="just">
              <a:lnSpc>
                <a:spcPct val="150000"/>
              </a:lnSpc>
              <a:buFont typeface="Symbol" panose="05050102010706020507" pitchFamily="18" charset="2"/>
              <a:buChar char=""/>
            </a:pPr>
            <a:r>
              <a:rPr lang="en-IN" b="1" dirty="0">
                <a:solidFill>
                  <a:srgbClr val="000000"/>
                </a:solidFill>
                <a:effectLst/>
                <a:latin typeface="Times New Roman" panose="02020603050405020304" pitchFamily="18" charset="0"/>
                <a:ea typeface="Times New Roman" panose="02020603050405020304" pitchFamily="18" charset="0"/>
              </a:rPr>
              <a:t>Dataset Split</a:t>
            </a:r>
            <a:r>
              <a:rPr lang="en-IN" dirty="0">
                <a:solidFill>
                  <a:srgbClr val="000000"/>
                </a:solidFill>
                <a:effectLst/>
                <a:latin typeface="Times New Roman" panose="02020603050405020304" pitchFamily="18" charset="0"/>
                <a:ea typeface="Times New Roman" panose="02020603050405020304" pitchFamily="18" charset="0"/>
              </a:rPr>
              <a:t>: Divide the data into training (70%), validation (15%), and testing (15%) subsets to facilitate effective model training, evaluation, and fine-tuning.</a:t>
            </a:r>
            <a:endParaRPr lang="en-IN"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endParaRPr lang="en-IN" dirty="0">
              <a:effectLst/>
              <a:latin typeface="Times New Roman" panose="02020603050405020304" pitchFamily="18" charset="0"/>
              <a:ea typeface="Times New Roman" panose="02020603050405020304" pitchFamily="18" charset="0"/>
            </a:endParaRPr>
          </a:p>
          <a:p>
            <a:pPr lvl="0" algn="just">
              <a:lnSpc>
                <a:spcPct val="150000"/>
              </a:lnSpc>
            </a:pPr>
            <a:endParaRPr lang="en-IN" dirty="0">
              <a:effectLst/>
              <a:latin typeface="Times New Roman" panose="02020603050405020304" pitchFamily="18" charset="0"/>
              <a:ea typeface="Times New Roman" panose="02020603050405020304" pitchFamily="18" charset="0"/>
            </a:endParaRPr>
          </a:p>
          <a:p>
            <a:pPr algn="l"/>
            <a:endParaRPr lang="en-US" b="1" dirty="0">
              <a:ea typeface="Calibri"/>
              <a:cs typeface="Calibri"/>
            </a:endParaRPr>
          </a:p>
        </p:txBody>
      </p:sp>
      <p:pic>
        <p:nvPicPr>
          <p:cNvPr id="4" name="Picture 3">
            <a:extLst>
              <a:ext uri="{FF2B5EF4-FFF2-40B4-BE49-F238E27FC236}">
                <a16:creationId xmlns:a16="http://schemas.microsoft.com/office/drawing/2014/main" id="{0BDFD0FF-E1EA-435A-BAFD-DD8FF64C22B2}"/>
              </a:ext>
            </a:extLst>
          </p:cNvPr>
          <p:cNvPicPr>
            <a:picLocks noChangeAspect="1"/>
          </p:cNvPicPr>
          <p:nvPr/>
        </p:nvPicPr>
        <p:blipFill>
          <a:blip r:embed="rId2"/>
          <a:stretch>
            <a:fillRect/>
          </a:stretch>
        </p:blipFill>
        <p:spPr>
          <a:xfrm>
            <a:off x="84841" y="1197202"/>
            <a:ext cx="5608947" cy="47228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465F82C-0515-F7FD-B227-3B660D660649}"/>
              </a:ext>
            </a:extLst>
          </p:cNvPr>
          <p:cNvSpPr>
            <a:spLocks noGrp="1"/>
          </p:cNvSpPr>
          <p:nvPr>
            <p:ph type="title"/>
          </p:nvPr>
        </p:nvSpPr>
        <p:spPr>
          <a:xfrm>
            <a:off x="282804" y="141402"/>
            <a:ext cx="11717517" cy="6266011"/>
          </a:xfrm>
        </p:spPr>
        <p:txBody>
          <a:bodyPr wrap="square" lIns="0" tIns="0" rIns="0" bIns="0" anchor="t">
            <a:spAutoFit/>
          </a:bodyPr>
          <a:lstStyle/>
          <a:p>
            <a:pPr algn="l">
              <a:lnSpc>
                <a:spcPct val="150000"/>
              </a:lnSpc>
              <a:spcBef>
                <a:spcPts val="1200"/>
              </a:spcBef>
              <a:spcAft>
                <a:spcPts val="1200"/>
              </a:spcAft>
            </a:pPr>
            <a:r>
              <a:rPr lang="en-IN" sz="1800" b="1" dirty="0">
                <a:solidFill>
                  <a:srgbClr val="000000"/>
                </a:solidFill>
                <a:effectLst/>
                <a:latin typeface="Times New Roman" panose="02020603050405020304" pitchFamily="18" charset="0"/>
                <a:ea typeface="Times New Roman" panose="02020603050405020304" pitchFamily="18" charset="0"/>
              </a:rPr>
              <a:t>Data Preprocessing</a:t>
            </a:r>
            <a:br>
              <a:rPr lang="en-IN" sz="1800" dirty="0">
                <a:effectLst/>
                <a:latin typeface="Times New Roman" panose="02020603050405020304" pitchFamily="18" charset="0"/>
                <a:ea typeface="Times New Roman" panose="02020603050405020304" pitchFamily="18" charset="0"/>
              </a:rPr>
            </a:br>
            <a:r>
              <a:rPr lang="en-IN" sz="1800" b="1" dirty="0">
                <a:solidFill>
                  <a:srgbClr val="000000"/>
                </a:solidFill>
                <a:effectLst/>
                <a:latin typeface="Times New Roman" panose="02020603050405020304" pitchFamily="18" charset="0"/>
                <a:ea typeface="Times New Roman" panose="02020603050405020304" pitchFamily="18" charset="0"/>
              </a:rPr>
              <a:t>Image Processing</a:t>
            </a:r>
            <a:r>
              <a:rPr lang="en-IN" sz="1800" dirty="0">
                <a:solidFill>
                  <a:srgbClr val="000000"/>
                </a:solidFill>
                <a:effectLst/>
                <a:latin typeface="Times New Roman" panose="02020603050405020304" pitchFamily="18" charset="0"/>
                <a:ea typeface="Times New Roman" panose="02020603050405020304" pitchFamily="18" charset="0"/>
              </a:rPr>
              <a:t>: Clean and normalize image data by adjusting brightness, contrast, and </a:t>
            </a:r>
            <a:r>
              <a:rPr lang="en-IN" sz="1800" dirty="0" err="1">
                <a:solidFill>
                  <a:srgbClr val="000000"/>
                </a:solidFill>
                <a:effectLst/>
                <a:latin typeface="Times New Roman" panose="02020603050405020304" pitchFamily="18" charset="0"/>
                <a:ea typeface="Times New Roman" panose="02020603050405020304" pitchFamily="18" charset="0"/>
              </a:rPr>
              <a:t>color</a:t>
            </a:r>
            <a:r>
              <a:rPr lang="en-IN" sz="1800" dirty="0">
                <a:solidFill>
                  <a:srgbClr val="000000"/>
                </a:solidFill>
                <a:effectLst/>
                <a:latin typeface="Times New Roman" panose="02020603050405020304" pitchFamily="18" charset="0"/>
                <a:ea typeface="Times New Roman" panose="02020603050405020304" pitchFamily="18" charset="0"/>
              </a:rPr>
              <a:t> balance. Apply augmentation techniques like rotation, scaling, and flipping to increase dataset variety.</a:t>
            </a:r>
            <a:br>
              <a:rPr lang="en-IN" sz="1800" dirty="0">
                <a:effectLst/>
                <a:latin typeface="Times New Roman" panose="02020603050405020304" pitchFamily="18" charset="0"/>
                <a:ea typeface="Times New Roman" panose="02020603050405020304" pitchFamily="18" charset="0"/>
              </a:rPr>
            </a:br>
            <a:r>
              <a:rPr lang="en-IN" sz="1800" b="1" dirty="0">
                <a:solidFill>
                  <a:srgbClr val="000000"/>
                </a:solidFill>
                <a:effectLst/>
                <a:latin typeface="Times New Roman" panose="02020603050405020304" pitchFamily="18" charset="0"/>
                <a:ea typeface="Times New Roman" panose="02020603050405020304" pitchFamily="18" charset="0"/>
              </a:rPr>
              <a:t>Video Processing</a:t>
            </a:r>
            <a:r>
              <a:rPr lang="en-IN" sz="1800" dirty="0">
                <a:solidFill>
                  <a:srgbClr val="000000"/>
                </a:solidFill>
                <a:effectLst/>
                <a:latin typeface="Times New Roman" panose="02020603050405020304" pitchFamily="18" charset="0"/>
                <a:ea typeface="Times New Roman" panose="02020603050405020304" pitchFamily="18" charset="0"/>
              </a:rPr>
              <a:t>: Perform frame extraction, noise reduction, and segmentation on video data. Convert video frames into a consistent format and resolution suitable for model training.</a:t>
            </a:r>
            <a:br>
              <a:rPr lang="en-IN" sz="1800" dirty="0">
                <a:effectLst/>
                <a:latin typeface="Times New Roman" panose="02020603050405020304" pitchFamily="18" charset="0"/>
                <a:ea typeface="Times New Roman" panose="02020603050405020304" pitchFamily="18" charset="0"/>
              </a:rPr>
            </a:br>
            <a:br>
              <a:rPr lang="en-IN" sz="1800" b="1" dirty="0">
                <a:solidFill>
                  <a:srgbClr val="000000"/>
                </a:solidFill>
                <a:effectLst/>
                <a:latin typeface="Times New Roman" panose="02020603050405020304" pitchFamily="18" charset="0"/>
                <a:ea typeface="Times New Roman" panose="02020603050405020304" pitchFamily="18" charset="0"/>
              </a:rPr>
            </a:br>
            <a:r>
              <a:rPr lang="en-IN" sz="1800" b="1" dirty="0">
                <a:solidFill>
                  <a:srgbClr val="000000"/>
                </a:solidFill>
                <a:effectLst/>
                <a:latin typeface="Times New Roman" panose="02020603050405020304" pitchFamily="18" charset="0"/>
                <a:ea typeface="Times New Roman" panose="02020603050405020304" pitchFamily="18" charset="0"/>
              </a:rPr>
              <a:t>Model Training</a:t>
            </a:r>
            <a:br>
              <a:rPr lang="en-IN" sz="1800" dirty="0">
                <a:effectLst/>
                <a:latin typeface="Times New Roman" panose="02020603050405020304" pitchFamily="18" charset="0"/>
                <a:ea typeface="Times New Roman" panose="02020603050405020304" pitchFamily="18" charset="0"/>
              </a:rPr>
            </a:br>
            <a:r>
              <a:rPr lang="en-IN" sz="1800" b="1" dirty="0">
                <a:solidFill>
                  <a:srgbClr val="000000"/>
                </a:solidFill>
                <a:effectLst/>
                <a:latin typeface="Times New Roman" panose="02020603050405020304" pitchFamily="18" charset="0"/>
                <a:ea typeface="Times New Roman" panose="02020603050405020304" pitchFamily="18" charset="0"/>
              </a:rPr>
              <a:t>Detection Models</a:t>
            </a:r>
            <a:r>
              <a:rPr lang="en-IN" sz="1800" dirty="0">
                <a:solidFill>
                  <a:srgbClr val="000000"/>
                </a:solidFill>
                <a:effectLst/>
                <a:latin typeface="Times New Roman" panose="02020603050405020304" pitchFamily="18" charset="0"/>
                <a:ea typeface="Times New Roman" panose="02020603050405020304" pitchFamily="18" charset="0"/>
              </a:rPr>
              <a:t>: Train YOLOv8 and YOLOv9 models using the processed image and video datasets to ensure accurate detection of fire, smoke, and human presence.</a:t>
            </a:r>
            <a:br>
              <a:rPr lang="en-IN" sz="1800" dirty="0">
                <a:solidFill>
                  <a:srgbClr val="000000"/>
                </a:solidFill>
                <a:effectLst/>
                <a:latin typeface="Times New Roman" panose="02020603050405020304" pitchFamily="18" charset="0"/>
                <a:ea typeface="Times New Roman" panose="02020603050405020304" pitchFamily="18" charset="0"/>
              </a:rPr>
            </a:br>
            <a:br>
              <a:rPr lang="en-IN" sz="1800" dirty="0">
                <a:solidFill>
                  <a:srgbClr val="000000"/>
                </a:solidFill>
                <a:effectLst/>
                <a:latin typeface="Times New Roman" panose="02020603050405020304" pitchFamily="18" charset="0"/>
                <a:ea typeface="Times New Roman" panose="02020603050405020304" pitchFamily="18" charset="0"/>
              </a:rPr>
            </a:br>
            <a:r>
              <a:rPr lang="en-IN" sz="1800" b="1" dirty="0">
                <a:solidFill>
                  <a:srgbClr val="000000"/>
                </a:solidFill>
                <a:effectLst/>
                <a:latin typeface="Times New Roman" panose="02020603050405020304" pitchFamily="18" charset="0"/>
                <a:ea typeface="Times New Roman" panose="02020603050405020304" pitchFamily="18" charset="0"/>
              </a:rPr>
              <a:t>Model Evaluation</a:t>
            </a:r>
            <a:br>
              <a:rPr lang="en-IN" sz="1800" dirty="0">
                <a:effectLst/>
                <a:latin typeface="Times New Roman" panose="02020603050405020304" pitchFamily="18" charset="0"/>
                <a:ea typeface="Times New Roman" panose="02020603050405020304" pitchFamily="18" charset="0"/>
              </a:rPr>
            </a:br>
            <a:r>
              <a:rPr lang="en-IN" sz="1800" b="1" dirty="0">
                <a:solidFill>
                  <a:srgbClr val="000000"/>
                </a:solidFill>
                <a:effectLst/>
                <a:latin typeface="Times New Roman" panose="02020603050405020304" pitchFamily="18" charset="0"/>
                <a:ea typeface="Times New Roman" panose="02020603050405020304" pitchFamily="18" charset="0"/>
              </a:rPr>
              <a:t>Performance Metrics</a:t>
            </a:r>
            <a:r>
              <a:rPr lang="en-IN" sz="1800" dirty="0">
                <a:solidFill>
                  <a:srgbClr val="000000"/>
                </a:solidFill>
                <a:effectLst/>
                <a:latin typeface="Times New Roman" panose="02020603050405020304" pitchFamily="18" charset="0"/>
                <a:ea typeface="Times New Roman" panose="02020603050405020304" pitchFamily="18" charset="0"/>
              </a:rPr>
              <a:t>: Assess detection models using metrics such as Intersection over Union (</a:t>
            </a:r>
            <a:r>
              <a:rPr lang="en-IN" sz="1800" dirty="0" err="1">
                <a:solidFill>
                  <a:srgbClr val="000000"/>
                </a:solidFill>
                <a:effectLst/>
                <a:latin typeface="Times New Roman" panose="02020603050405020304" pitchFamily="18" charset="0"/>
                <a:ea typeface="Times New Roman" panose="02020603050405020304" pitchFamily="18" charset="0"/>
              </a:rPr>
              <a:t>IoU</a:t>
            </a:r>
            <a:r>
              <a:rPr lang="en-IN" sz="1800" dirty="0">
                <a:solidFill>
                  <a:srgbClr val="000000"/>
                </a:solidFill>
                <a:effectLst/>
                <a:latin typeface="Times New Roman" panose="02020603050405020304" pitchFamily="18" charset="0"/>
                <a:ea typeface="Times New Roman" panose="02020603050405020304" pitchFamily="18" charset="0"/>
              </a:rPr>
              <a:t>), precision, recall, and F1-score to evaluate model accuracy and effectiveness in identifying fire, smoke, and humans.</a:t>
            </a:r>
            <a:br>
              <a:rPr lang="en-IN" sz="1800" dirty="0">
                <a:effectLst/>
                <a:latin typeface="Times New Roman" panose="02020603050405020304" pitchFamily="18" charset="0"/>
                <a:ea typeface="Times New Roman" panose="02020603050405020304" pitchFamily="18" charset="0"/>
              </a:rPr>
            </a:br>
            <a:br>
              <a:rPr lang="en-IN" sz="1800" dirty="0">
                <a:effectLst/>
                <a:latin typeface="Times New Roman" panose="02020603050405020304" pitchFamily="18" charset="0"/>
                <a:ea typeface="Times New Roman" panose="02020603050405020304" pitchFamily="18" charset="0"/>
              </a:rPr>
            </a:br>
            <a:endParaRPr lang="en-US" sz="1800" dirty="0"/>
          </a:p>
        </p:txBody>
      </p:sp>
    </p:spTree>
    <p:extLst>
      <p:ext uri="{BB962C8B-B14F-4D97-AF65-F5344CB8AC3E}">
        <p14:creationId xmlns:p14="http://schemas.microsoft.com/office/powerpoint/2010/main" val="36745641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70756B0-BCB0-8A45-0F8D-963D91E59CF6}"/>
              </a:ext>
            </a:extLst>
          </p:cNvPr>
          <p:cNvSpPr>
            <a:spLocks noGrp="1"/>
          </p:cNvSpPr>
          <p:nvPr>
            <p:ph type="body" idx="1"/>
          </p:nvPr>
        </p:nvSpPr>
        <p:spPr>
          <a:xfrm>
            <a:off x="207390" y="480580"/>
            <a:ext cx="11896625" cy="9597499"/>
          </a:xfrm>
        </p:spPr>
        <p:txBody>
          <a:bodyPr wrap="square" lIns="0" tIns="0" rIns="0" bIns="0" anchor="t">
            <a:spAutoFit/>
          </a:bodyPr>
          <a:lstStyle/>
          <a:p>
            <a:pPr marL="285750" indent="-285750" algn="just">
              <a:buFont typeface="Arial,Sans-Serif"/>
              <a:buChar char="•"/>
            </a:pPr>
            <a:endParaRPr lang="en-US" dirty="0">
              <a:ea typeface="+mn-lt"/>
              <a:cs typeface="+mn-lt"/>
            </a:endParaRPr>
          </a:p>
          <a:p>
            <a:pPr algn="just"/>
            <a:r>
              <a:rPr lang="en-US" b="1" dirty="0">
                <a:ea typeface="+mn-lt"/>
                <a:cs typeface="+mn-lt"/>
              </a:rPr>
              <a:t>User Implementation:</a:t>
            </a:r>
          </a:p>
          <a:p>
            <a:pPr algn="just">
              <a:lnSpc>
                <a:spcPct val="150000"/>
              </a:lnSpc>
              <a:spcBef>
                <a:spcPts val="1200"/>
              </a:spcBef>
              <a:spcAft>
                <a:spcPts val="1200"/>
              </a:spcAft>
            </a:pPr>
            <a:r>
              <a:rPr lang="en-IN" sz="1800" b="1" dirty="0">
                <a:solidFill>
                  <a:srgbClr val="000000"/>
                </a:solidFill>
                <a:effectLst/>
                <a:latin typeface="Times New Roman" panose="02020603050405020304" pitchFamily="18" charset="0"/>
                <a:ea typeface="Times New Roman" panose="02020603050405020304" pitchFamily="18" charset="0"/>
              </a:rPr>
              <a:t>Register</a:t>
            </a:r>
            <a:r>
              <a:rPr lang="en-IN" b="1" dirty="0">
                <a:latin typeface="Times New Roman" panose="02020603050405020304" pitchFamily="18" charset="0"/>
                <a:ea typeface="Times New Roman" panose="02020603050405020304" pitchFamily="18" charset="0"/>
              </a:rPr>
              <a:t>: </a:t>
            </a:r>
            <a:r>
              <a:rPr lang="en-IN" sz="1800" dirty="0">
                <a:solidFill>
                  <a:srgbClr val="000000"/>
                </a:solidFill>
                <a:effectLst/>
                <a:latin typeface="Times New Roman" panose="02020603050405020304" pitchFamily="18" charset="0"/>
                <a:ea typeface="Times New Roman" panose="02020603050405020304" pitchFamily="18" charset="0"/>
              </a:rPr>
              <a:t>Users create an account to access the fire detection and alert </a:t>
            </a:r>
            <a:r>
              <a:rPr lang="en-IN" sz="1800" dirty="0" err="1">
                <a:solidFill>
                  <a:srgbClr val="000000"/>
                </a:solidFill>
                <a:effectLst/>
                <a:latin typeface="Times New Roman" panose="02020603050405020304" pitchFamily="18" charset="0"/>
                <a:ea typeface="Times New Roman" panose="02020603050405020304" pitchFamily="18" charset="0"/>
              </a:rPr>
              <a:t>system.Registration</a:t>
            </a:r>
            <a:r>
              <a:rPr lang="en-IN" sz="1800" dirty="0">
                <a:solidFill>
                  <a:srgbClr val="000000"/>
                </a:solidFill>
                <a:effectLst/>
                <a:latin typeface="Times New Roman" panose="02020603050405020304" pitchFamily="18" charset="0"/>
                <a:ea typeface="Times New Roman" panose="02020603050405020304" pitchFamily="18" charset="0"/>
              </a:rPr>
              <a:t> includes providing credentials, like user name and password.</a:t>
            </a:r>
          </a:p>
          <a:p>
            <a:pPr algn="just">
              <a:lnSpc>
                <a:spcPct val="150000"/>
              </a:lnSpc>
              <a:spcBef>
                <a:spcPts val="1200"/>
              </a:spcBef>
              <a:spcAft>
                <a:spcPts val="1200"/>
              </a:spcAft>
            </a:pPr>
            <a:r>
              <a:rPr lang="en-IN" sz="1800" b="1" dirty="0">
                <a:solidFill>
                  <a:srgbClr val="000000"/>
                </a:solidFill>
                <a:effectLst/>
                <a:latin typeface="Times New Roman" panose="02020603050405020304" pitchFamily="18" charset="0"/>
                <a:ea typeface="Times New Roman" panose="02020603050405020304" pitchFamily="18" charset="0"/>
              </a:rPr>
              <a:t>Login</a:t>
            </a:r>
            <a:r>
              <a:rPr lang="en-IN" b="1" dirty="0">
                <a:latin typeface="Times New Roman" panose="02020603050405020304" pitchFamily="18" charset="0"/>
                <a:ea typeface="Times New Roman" panose="02020603050405020304" pitchFamily="18" charset="0"/>
              </a:rPr>
              <a:t>: </a:t>
            </a:r>
            <a:r>
              <a:rPr lang="en-IN" sz="1800" dirty="0">
                <a:solidFill>
                  <a:srgbClr val="000000"/>
                </a:solidFill>
                <a:effectLst/>
                <a:latin typeface="Times New Roman" panose="02020603050405020304" pitchFamily="18" charset="0"/>
                <a:ea typeface="Times New Roman" panose="02020603050405020304" pitchFamily="18" charset="0"/>
              </a:rPr>
              <a:t>Registered users log in to access system features.</a:t>
            </a:r>
          </a:p>
          <a:p>
            <a:pPr algn="just">
              <a:lnSpc>
                <a:spcPct val="150000"/>
              </a:lnSpc>
              <a:spcBef>
                <a:spcPts val="1200"/>
              </a:spcBef>
              <a:spcAft>
                <a:spcPts val="1200"/>
              </a:spcAft>
            </a:pPr>
            <a:r>
              <a:rPr lang="en-IN" sz="1800" b="1" dirty="0">
                <a:solidFill>
                  <a:srgbClr val="000000"/>
                </a:solidFill>
                <a:effectLst/>
                <a:latin typeface="Times New Roman" panose="02020603050405020304" pitchFamily="18" charset="0"/>
                <a:ea typeface="Times New Roman" panose="02020603050405020304" pitchFamily="18" charset="0"/>
              </a:rPr>
              <a:t>Input/Upload Image Feed</a:t>
            </a:r>
            <a:r>
              <a:rPr lang="en-IN" b="1" dirty="0">
                <a:latin typeface="Times New Roman" panose="02020603050405020304" pitchFamily="18" charset="0"/>
                <a:ea typeface="Times New Roman" panose="02020603050405020304" pitchFamily="18" charset="0"/>
              </a:rPr>
              <a:t>: </a:t>
            </a:r>
            <a:r>
              <a:rPr lang="en-IN" sz="1800" dirty="0">
                <a:solidFill>
                  <a:srgbClr val="000000"/>
                </a:solidFill>
                <a:effectLst/>
                <a:latin typeface="Times New Roman" panose="02020603050405020304" pitchFamily="18" charset="0"/>
                <a:ea typeface="Times New Roman" panose="02020603050405020304" pitchFamily="18" charset="0"/>
              </a:rPr>
              <a:t>Users upload video feeds or connect live camera feeds for real-time monitoring and detection.</a:t>
            </a:r>
            <a:endParaRPr lang="en-IN" sz="1800" dirty="0">
              <a:effectLst/>
              <a:latin typeface="Times New Roman" panose="02020603050405020304" pitchFamily="18" charset="0"/>
              <a:ea typeface="Times New Roman" panose="02020603050405020304" pitchFamily="18" charset="0"/>
            </a:endParaRPr>
          </a:p>
          <a:p>
            <a:pPr lvl="0" algn="just">
              <a:lnSpc>
                <a:spcPct val="150000"/>
              </a:lnSpc>
            </a:pPr>
            <a:r>
              <a:rPr lang="en-IN" sz="1800" dirty="0">
                <a:solidFill>
                  <a:srgbClr val="000000"/>
                </a:solidFill>
                <a:effectLst/>
                <a:latin typeface="Times New Roman" panose="02020603050405020304" pitchFamily="18" charset="0"/>
                <a:ea typeface="Times New Roman" panose="02020603050405020304" pitchFamily="18" charset="0"/>
              </a:rPr>
              <a:t>Supports video or camera feed integration to monitor areas for fire, smoke, and human presence. Handles receiving and validating input data for processing by detection models.</a:t>
            </a:r>
          </a:p>
          <a:p>
            <a:pPr algn="just">
              <a:lnSpc>
                <a:spcPct val="150000"/>
              </a:lnSpc>
              <a:spcBef>
                <a:spcPts val="1200"/>
              </a:spcBef>
              <a:spcAft>
                <a:spcPts val="1200"/>
              </a:spcAft>
            </a:pPr>
            <a:r>
              <a:rPr lang="en-IN" sz="1800" b="1" dirty="0">
                <a:solidFill>
                  <a:srgbClr val="000000"/>
                </a:solidFill>
                <a:effectLst/>
                <a:latin typeface="Times New Roman" panose="02020603050405020304" pitchFamily="18" charset="0"/>
                <a:ea typeface="Times New Roman" panose="02020603050405020304" pitchFamily="18" charset="0"/>
              </a:rPr>
              <a:t>View Detection Results: </a:t>
            </a:r>
            <a:r>
              <a:rPr lang="en-IN" sz="1800" dirty="0">
                <a:solidFill>
                  <a:srgbClr val="000000"/>
                </a:solidFill>
                <a:effectLst/>
                <a:latin typeface="Times New Roman" panose="02020603050405020304" pitchFamily="18" charset="0"/>
                <a:ea typeface="Times New Roman" panose="02020603050405020304" pitchFamily="18" charset="0"/>
              </a:rPr>
              <a:t>Users view detection results for any identified </a:t>
            </a:r>
            <a:r>
              <a:rPr lang="en-IN" sz="1800" dirty="0" err="1">
                <a:solidFill>
                  <a:srgbClr val="000000"/>
                </a:solidFill>
                <a:effectLst/>
                <a:latin typeface="Times New Roman" panose="02020603050405020304" pitchFamily="18" charset="0"/>
                <a:ea typeface="Times New Roman" panose="02020603050405020304" pitchFamily="18" charset="0"/>
              </a:rPr>
              <a:t>risks.Displays</a:t>
            </a:r>
            <a:r>
              <a:rPr lang="en-IN" sz="1800" dirty="0">
                <a:solidFill>
                  <a:srgbClr val="000000"/>
                </a:solidFill>
                <a:effectLst/>
                <a:latin typeface="Times New Roman" panose="02020603050405020304" pitchFamily="18" charset="0"/>
                <a:ea typeface="Times New Roman" panose="02020603050405020304" pitchFamily="18" charset="0"/>
              </a:rPr>
              <a:t> detected instances of fire, smoke, and human presence in real-time.</a:t>
            </a:r>
          </a:p>
          <a:p>
            <a:pPr algn="just">
              <a:lnSpc>
                <a:spcPct val="150000"/>
              </a:lnSpc>
              <a:spcAft>
                <a:spcPts val="800"/>
              </a:spcAft>
            </a:pPr>
            <a:r>
              <a:rPr lang="en-IN" sz="1800" b="1" dirty="0" err="1">
                <a:solidFill>
                  <a:srgbClr val="000000"/>
                </a:solidFill>
                <a:effectLst/>
                <a:latin typeface="Times New Roman" panose="02020603050405020304" pitchFamily="18" charset="0"/>
                <a:ea typeface="Times New Roman" panose="02020603050405020304" pitchFamily="18" charset="0"/>
              </a:rPr>
              <a:t>Logout</a:t>
            </a:r>
            <a:r>
              <a:rPr lang="en-IN" b="1" dirty="0" err="1">
                <a:latin typeface="Times New Roman" panose="02020603050405020304" pitchFamily="18" charset="0"/>
                <a:ea typeface="Times New Roman" panose="02020603050405020304" pitchFamily="18" charset="0"/>
              </a:rPr>
              <a:t>L</a:t>
            </a:r>
            <a:r>
              <a:rPr lang="en-IN" b="1" dirty="0">
                <a:latin typeface="Times New Roman" panose="02020603050405020304" pitchFamily="18" charset="0"/>
                <a:ea typeface="Times New Roman" panose="02020603050405020304" pitchFamily="18" charset="0"/>
              </a:rPr>
              <a:t>: </a:t>
            </a:r>
            <a:r>
              <a:rPr lang="en-IN" sz="1800" dirty="0">
                <a:solidFill>
                  <a:srgbClr val="000000"/>
                </a:solidFill>
                <a:effectLst/>
                <a:latin typeface="Times New Roman" panose="02020603050405020304" pitchFamily="18" charset="0"/>
                <a:ea typeface="Times New Roman" panose="02020603050405020304" pitchFamily="18" charset="0"/>
              </a:rPr>
              <a:t>Users log out to secure their session and personal data.</a:t>
            </a:r>
            <a:endParaRPr lang="en-IN" sz="1800" dirty="0">
              <a:effectLst/>
              <a:latin typeface="Times New Roman" panose="02020603050405020304" pitchFamily="18" charset="0"/>
              <a:ea typeface="Times New Roman" panose="02020603050405020304" pitchFamily="18" charset="0"/>
            </a:endParaRPr>
          </a:p>
          <a:p>
            <a:pPr algn="just">
              <a:lnSpc>
                <a:spcPct val="150000"/>
              </a:lnSpc>
              <a:spcBef>
                <a:spcPts val="1200"/>
              </a:spcBef>
              <a:spcAft>
                <a:spcPts val="1200"/>
              </a:spcAft>
            </a:pPr>
            <a:endParaRPr lang="en-IN" sz="1800" dirty="0">
              <a:effectLst/>
              <a:latin typeface="Times New Roman" panose="02020603050405020304" pitchFamily="18" charset="0"/>
              <a:ea typeface="Times New Roman" panose="02020603050405020304" pitchFamily="18" charset="0"/>
            </a:endParaRPr>
          </a:p>
          <a:p>
            <a:pPr lvl="0" algn="just">
              <a:lnSpc>
                <a:spcPct val="150000"/>
              </a:lnSpc>
            </a:pPr>
            <a:endParaRPr lang="en-IN" sz="1800" dirty="0">
              <a:effectLst/>
              <a:latin typeface="Times New Roman" panose="02020603050405020304" pitchFamily="18" charset="0"/>
              <a:ea typeface="Times New Roman" panose="02020603050405020304" pitchFamily="18" charset="0"/>
            </a:endParaRPr>
          </a:p>
          <a:p>
            <a:pPr algn="just">
              <a:lnSpc>
                <a:spcPct val="150000"/>
              </a:lnSpc>
              <a:spcBef>
                <a:spcPts val="1200"/>
              </a:spcBef>
              <a:spcAft>
                <a:spcPts val="1200"/>
              </a:spcAft>
            </a:pPr>
            <a:endParaRPr lang="en-IN" sz="1800" dirty="0">
              <a:solidFill>
                <a:srgbClr val="000000"/>
              </a:solidFill>
              <a:effectLst/>
              <a:latin typeface="Times New Roman" panose="02020603050405020304" pitchFamily="18" charset="0"/>
              <a:ea typeface="Times New Roman" panose="02020603050405020304" pitchFamily="18" charset="0"/>
            </a:endParaRPr>
          </a:p>
          <a:p>
            <a:pPr algn="just">
              <a:lnSpc>
                <a:spcPct val="150000"/>
              </a:lnSpc>
              <a:spcBef>
                <a:spcPts val="1200"/>
              </a:spcBef>
              <a:spcAft>
                <a:spcPts val="1200"/>
              </a:spcAft>
            </a:pPr>
            <a:endParaRPr lang="en-IN" sz="1800" dirty="0">
              <a:effectLst/>
              <a:latin typeface="Times New Roman" panose="02020603050405020304" pitchFamily="18" charset="0"/>
              <a:ea typeface="Times New Roman" panose="02020603050405020304" pitchFamily="18" charset="0"/>
            </a:endParaRPr>
          </a:p>
          <a:p>
            <a:pPr lvl="0" algn="just">
              <a:lnSpc>
                <a:spcPct val="150000"/>
              </a:lnSpc>
            </a:pPr>
            <a:endParaRPr lang="en-IN" sz="1800" dirty="0">
              <a:solidFill>
                <a:srgbClr val="000000"/>
              </a:solidFill>
              <a:effectLst/>
              <a:latin typeface="Times New Roman" panose="02020603050405020304" pitchFamily="18" charset="0"/>
              <a:ea typeface="Times New Roman" panose="02020603050405020304" pitchFamily="18" charset="0"/>
            </a:endParaRPr>
          </a:p>
          <a:p>
            <a:pPr lvl="0" algn="just">
              <a:lnSpc>
                <a:spcPct val="150000"/>
              </a:lnSpc>
            </a:pPr>
            <a:endParaRPr lang="en-IN" sz="1800" dirty="0">
              <a:effectLst/>
              <a:latin typeface="Times New Roman" panose="02020603050405020304" pitchFamily="18" charset="0"/>
              <a:ea typeface="Times New Roman" panose="02020603050405020304" pitchFamily="18" charset="0"/>
            </a:endParaRPr>
          </a:p>
          <a:p>
            <a:pPr algn="just"/>
            <a:endParaRPr lang="en-US" b="1" dirty="0">
              <a:ea typeface="Calibri"/>
              <a:cs typeface="Calibri"/>
            </a:endParaRPr>
          </a:p>
          <a:p>
            <a:pPr algn="just"/>
            <a:endParaRPr lang="en-US" dirty="0">
              <a:ea typeface="Calibri"/>
              <a:cs typeface="Calibri"/>
            </a:endParaRPr>
          </a:p>
        </p:txBody>
      </p:sp>
    </p:spTree>
    <p:extLst>
      <p:ext uri="{BB962C8B-B14F-4D97-AF65-F5344CB8AC3E}">
        <p14:creationId xmlns:p14="http://schemas.microsoft.com/office/powerpoint/2010/main" val="2330238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50348" rIns="0" bIns="0" rtlCol="0">
            <a:spAutoFit/>
          </a:bodyPr>
          <a:lstStyle/>
          <a:p>
            <a:pPr marL="12700">
              <a:lnSpc>
                <a:spcPct val="100000"/>
              </a:lnSpc>
              <a:spcBef>
                <a:spcPts val="130"/>
              </a:spcBef>
            </a:pPr>
            <a:r>
              <a:rPr spc="-30"/>
              <a:t>Timeline</a:t>
            </a:r>
            <a:r>
              <a:rPr spc="-180"/>
              <a:t> </a:t>
            </a:r>
            <a:r>
              <a:t>of</a:t>
            </a:r>
            <a:r>
              <a:rPr spc="-135"/>
              <a:t> </a:t>
            </a:r>
            <a:r>
              <a:rPr spc="-20"/>
              <a:t>Project</a:t>
            </a:r>
          </a:p>
        </p:txBody>
      </p:sp>
      <p:pic>
        <p:nvPicPr>
          <p:cNvPr id="4" name="Picture 3">
            <a:extLst>
              <a:ext uri="{FF2B5EF4-FFF2-40B4-BE49-F238E27FC236}">
                <a16:creationId xmlns:a16="http://schemas.microsoft.com/office/drawing/2014/main" id="{66592EF3-2B9B-8898-BDF7-319A5D9332DC}"/>
              </a:ext>
            </a:extLst>
          </p:cNvPr>
          <p:cNvPicPr>
            <a:picLocks noChangeAspect="1"/>
          </p:cNvPicPr>
          <p:nvPr/>
        </p:nvPicPr>
        <p:blipFill>
          <a:blip r:embed="rId2"/>
          <a:stretch>
            <a:fillRect/>
          </a:stretch>
        </p:blipFill>
        <p:spPr>
          <a:xfrm>
            <a:off x="511480" y="1214972"/>
            <a:ext cx="11273422" cy="45846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50348" rIns="0" bIns="0" rtlCol="0" anchor="t">
            <a:spAutoFit/>
          </a:bodyPr>
          <a:lstStyle/>
          <a:p>
            <a:pPr marL="12700">
              <a:lnSpc>
                <a:spcPct val="100000"/>
              </a:lnSpc>
              <a:spcBef>
                <a:spcPts val="130"/>
              </a:spcBef>
            </a:pPr>
            <a:r>
              <a:rPr spc="-50" dirty="0"/>
              <a:t>Outcomes</a:t>
            </a:r>
            <a:r>
              <a:rPr spc="-165" dirty="0"/>
              <a:t> </a:t>
            </a:r>
            <a:endParaRPr lang="en-US" spc="-10" dirty="0">
              <a:ea typeface="Calibri Light"/>
            </a:endParaRPr>
          </a:p>
        </p:txBody>
      </p:sp>
      <p:sp>
        <p:nvSpPr>
          <p:cNvPr id="3" name="Text Placeholder 2">
            <a:extLst>
              <a:ext uri="{FF2B5EF4-FFF2-40B4-BE49-F238E27FC236}">
                <a16:creationId xmlns:a16="http://schemas.microsoft.com/office/drawing/2014/main" id="{FE158228-CDD3-C784-4103-03F70CE05835}"/>
              </a:ext>
            </a:extLst>
          </p:cNvPr>
          <p:cNvSpPr>
            <a:spLocks noGrp="1"/>
          </p:cNvSpPr>
          <p:nvPr>
            <p:ph type="body" idx="1"/>
          </p:nvPr>
        </p:nvSpPr>
        <p:spPr>
          <a:xfrm>
            <a:off x="922142" y="1566169"/>
            <a:ext cx="10063673" cy="4154984"/>
          </a:xfrm>
        </p:spPr>
        <p:txBody>
          <a:bodyPr wrap="square" lIns="0" tIns="0" rIns="0" bIns="0" anchor="t">
            <a:spAutoFit/>
          </a:bodyPr>
          <a:lstStyle/>
          <a:p>
            <a:pPr algn="l">
              <a:buFont typeface="Arial"/>
              <a:buChar char="•"/>
            </a:pPr>
            <a:r>
              <a:rPr lang="en-US" b="1" dirty="0">
                <a:ea typeface="+mn-lt"/>
                <a:cs typeface="+mn-lt"/>
              </a:rPr>
              <a:t>Real-Time Detection System</a:t>
            </a:r>
            <a:r>
              <a:rPr lang="en-US" dirty="0">
                <a:ea typeface="+mn-lt"/>
                <a:cs typeface="+mn-lt"/>
              </a:rPr>
              <a:t>: A fully functional application designed to detect humans, fire, and smoke in real-time from uploaded images and live video feeds, providing reliable classification for safety monitoring purposes.</a:t>
            </a:r>
          </a:p>
          <a:p>
            <a:pPr algn="l">
              <a:buFont typeface="Arial"/>
              <a:buChar char="•"/>
            </a:pPr>
            <a:r>
              <a:rPr lang="en-US" b="1" dirty="0">
                <a:ea typeface="+mn-lt"/>
                <a:cs typeface="+mn-lt"/>
              </a:rPr>
              <a:t>High-Accuracy Detection Models</a:t>
            </a:r>
            <a:r>
              <a:rPr lang="en-US" dirty="0">
                <a:ea typeface="+mn-lt"/>
                <a:cs typeface="+mn-lt"/>
              </a:rPr>
              <a:t>: Successfully trained YOLOv8 and YOLOv9 models, optimized for high accuracy in detecting humans, fire, and smoke under various conditions, with minimal false positives or negatives.</a:t>
            </a:r>
          </a:p>
          <a:p>
            <a:pPr algn="l">
              <a:buFont typeface="Arial"/>
              <a:buChar char="•"/>
            </a:pPr>
            <a:r>
              <a:rPr lang="en-US" b="1" dirty="0">
                <a:ea typeface="+mn-lt"/>
                <a:cs typeface="+mn-lt"/>
              </a:rPr>
              <a:t>Performance Evaluation and Comparison</a:t>
            </a:r>
            <a:r>
              <a:rPr lang="en-US" dirty="0">
                <a:ea typeface="+mn-lt"/>
                <a:cs typeface="+mn-lt"/>
              </a:rPr>
              <a:t>: A detailed comparison of YOLOv8 and YOLOv9 models in terms of accuracy, speed, and robustness, offering insights into their strengths, weaknesses, and suitability for different real-time detection scenarios.</a:t>
            </a:r>
          </a:p>
          <a:p>
            <a:pPr algn="l">
              <a:buFont typeface="Arial"/>
              <a:buChar char="•"/>
            </a:pPr>
            <a:r>
              <a:rPr lang="en-US" b="1" dirty="0">
                <a:ea typeface="+mn-lt"/>
                <a:cs typeface="+mn-lt"/>
              </a:rPr>
              <a:t>Real-Time Camera Processing</a:t>
            </a:r>
            <a:r>
              <a:rPr lang="en-US" dirty="0">
                <a:ea typeface="+mn-lt"/>
                <a:cs typeface="+mn-lt"/>
              </a:rPr>
              <a:t>: Implementation of a system capable of processing images from a laptop camera, ensuring effective real-time detection even with potential limitations in resolution and quality, demonstrating its practicality for everyday safety applications.</a:t>
            </a:r>
          </a:p>
          <a:p>
            <a:pPr algn="l">
              <a:buFont typeface="Arial"/>
              <a:buChar char="•"/>
            </a:pPr>
            <a:r>
              <a:rPr lang="en-US" b="1" dirty="0">
                <a:ea typeface="+mn-lt"/>
                <a:cs typeface="+mn-lt"/>
              </a:rPr>
              <a:t>Visual Feedback System</a:t>
            </a:r>
            <a:r>
              <a:rPr lang="en-US" dirty="0">
                <a:ea typeface="+mn-lt"/>
                <a:cs typeface="+mn-lt"/>
              </a:rPr>
              <a:t>: A responsive system that provides visual cues when humans, fire, or smoke are detected, improving response times in critical situations and enhancing safety and situational awareness.</a:t>
            </a:r>
          </a:p>
          <a:p>
            <a:pPr marL="285750" indent="-285750" algn="l">
              <a:buFont typeface="Arial"/>
              <a:buChar char="•"/>
            </a:pPr>
            <a:endParaRPr lang="en-US" dirty="0">
              <a:ea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7575" y="4047"/>
            <a:ext cx="8938260" cy="1056640"/>
          </a:xfrm>
          <a:prstGeom prst="rect">
            <a:avLst/>
          </a:prstGeom>
        </p:spPr>
        <p:txBody>
          <a:bodyPr vert="horz" wrap="square" lIns="0" tIns="350348" rIns="0" bIns="0" rtlCol="0">
            <a:spAutoFit/>
          </a:bodyPr>
          <a:lstStyle/>
          <a:p>
            <a:pPr marL="12700">
              <a:lnSpc>
                <a:spcPct val="100000"/>
              </a:lnSpc>
              <a:spcBef>
                <a:spcPts val="130"/>
              </a:spcBef>
            </a:pPr>
            <a:r>
              <a:rPr spc="-30"/>
              <a:t>Conclusion</a:t>
            </a:r>
          </a:p>
        </p:txBody>
      </p:sp>
      <p:sp>
        <p:nvSpPr>
          <p:cNvPr id="3" name="Text Placeholder 2">
            <a:extLst>
              <a:ext uri="{FF2B5EF4-FFF2-40B4-BE49-F238E27FC236}">
                <a16:creationId xmlns:a16="http://schemas.microsoft.com/office/drawing/2014/main" id="{3AA24E08-FC8F-DB2F-6B16-C54C911F2D39}"/>
              </a:ext>
            </a:extLst>
          </p:cNvPr>
          <p:cNvSpPr>
            <a:spLocks noGrp="1"/>
          </p:cNvSpPr>
          <p:nvPr>
            <p:ph type="body" idx="1"/>
          </p:nvPr>
        </p:nvSpPr>
        <p:spPr>
          <a:xfrm>
            <a:off x="922142" y="1336525"/>
            <a:ext cx="10961370" cy="4708981"/>
          </a:xfrm>
        </p:spPr>
        <p:txBody>
          <a:bodyPr wrap="square" lIns="0" tIns="0" rIns="0" bIns="0" anchor="t">
            <a:spAutoFit/>
          </a:bodyPr>
          <a:lstStyle/>
          <a:p>
            <a:pPr algn="just"/>
            <a:r>
              <a:rPr lang="en-US" dirty="0">
                <a:ea typeface="+mn-lt"/>
                <a:cs typeface="+mn-lt"/>
              </a:rPr>
              <a:t>The training and evaluation metrics confirm that the model has been effectively trained to detect "fire," "smoke," and "human" with improving accuracy. The consistent decline in training and validation losses indicates successful error minimization, while rising precision, recall, and </a:t>
            </a:r>
            <a:r>
              <a:rPr lang="en-US" dirty="0" err="1">
                <a:ea typeface="+mn-lt"/>
                <a:cs typeface="+mn-lt"/>
              </a:rPr>
              <a:t>mAP</a:t>
            </a:r>
            <a:r>
              <a:rPr lang="en-US" dirty="0">
                <a:ea typeface="+mn-lt"/>
                <a:cs typeface="+mn-lt"/>
              </a:rPr>
              <a:t> scores (</a:t>
            </a:r>
            <a:r>
              <a:rPr lang="en-US" dirty="0">
                <a:ea typeface="+mn-lt"/>
                <a:cs typeface="+mn-lt"/>
                <a:hlinkClick r:id="rId2"/>
              </a:rPr>
              <a:t>mAP@0.5</a:t>
            </a:r>
            <a:r>
              <a:rPr lang="en-US" dirty="0">
                <a:ea typeface="+mn-lt"/>
                <a:cs typeface="+mn-lt"/>
              </a:rPr>
              <a:t> and </a:t>
            </a:r>
            <a:r>
              <a:rPr lang="en-US" dirty="0">
                <a:ea typeface="+mn-lt"/>
                <a:cs typeface="+mn-lt"/>
                <a:hlinkClick r:id="rId3"/>
              </a:rPr>
              <a:t>mAP@0.5:0.95</a:t>
            </a:r>
            <a:r>
              <a:rPr lang="en-US" dirty="0">
                <a:ea typeface="+mn-lt"/>
                <a:cs typeface="+mn-lt"/>
              </a:rPr>
              <a:t>) demonstrate the model's growing capability to identify objects across different scales and confidence levels.</a:t>
            </a:r>
          </a:p>
          <a:p>
            <a:pPr algn="just"/>
            <a:r>
              <a:rPr lang="en-US" dirty="0">
                <a:ea typeface="+mn-lt"/>
                <a:cs typeface="+mn-lt"/>
              </a:rPr>
              <a:t>Although the model excels in detecting "fire" and "smoke," "human" detection lags slightly, reflected by lower precision and recall scores. Enhancing the dataset or refining model parameters for "human" detection could improve performance in this area.</a:t>
            </a:r>
          </a:p>
          <a:p>
            <a:pPr algn="just"/>
            <a:r>
              <a:rPr lang="en-US" dirty="0">
                <a:ea typeface="+mn-lt"/>
                <a:cs typeface="+mn-lt"/>
              </a:rPr>
              <a:t>YOLOv9 shows outstanding performance in detecting "fire" (precision-recall 0.982) and "smoke" (0.855), with minimal misclassifications, making it highly suitable for real-time safety applications like fire and smoke monitoring. However, it struggles with "human" detection (precision-recall 0.536), leading to misclassifications with other classes like background and smoke.</a:t>
            </a:r>
          </a:p>
          <a:p>
            <a:pPr algn="just"/>
            <a:r>
              <a:rPr lang="en-US" dirty="0">
                <a:ea typeface="+mn-lt"/>
                <a:cs typeface="+mn-lt"/>
              </a:rPr>
              <a:t>YOLOv8, on the other hand, achieves higher </a:t>
            </a:r>
            <a:r>
              <a:rPr lang="en-US" dirty="0" err="1">
                <a:ea typeface="+mn-lt"/>
                <a:cs typeface="+mn-lt"/>
              </a:rPr>
              <a:t>mAP</a:t>
            </a:r>
            <a:r>
              <a:rPr lang="en-US" dirty="0">
                <a:ea typeface="+mn-lt"/>
                <a:cs typeface="+mn-lt"/>
              </a:rPr>
              <a:t> scores and delivers a more balanced performance across all classes, including better "human" detection. Its consistent learning curve and declining losses make it versatile for diverse object detection tasks. YOLOv8 is better suited for general-purpose applications, while YOLOv9 is ideal for high-precision tasks like fire and smoke detection. The choice between the two depends on whether the focus is on specific safety-critical tasks or broader detection needs.</a:t>
            </a:r>
          </a:p>
          <a:p>
            <a:pPr algn="just"/>
            <a:endParaRPr lang="en-US" dirty="0">
              <a:ea typeface="+mn-lt"/>
              <a:cs typeface="+mn-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50348" rIns="0" bIns="0" rtlCol="0">
            <a:spAutoFit/>
          </a:bodyPr>
          <a:lstStyle/>
          <a:p>
            <a:pPr marL="12700">
              <a:lnSpc>
                <a:spcPct val="100000"/>
              </a:lnSpc>
              <a:spcBef>
                <a:spcPts val="130"/>
              </a:spcBef>
            </a:pPr>
            <a:r>
              <a:rPr spc="-60"/>
              <a:t>References</a:t>
            </a:r>
          </a:p>
        </p:txBody>
      </p:sp>
      <p:sp>
        <p:nvSpPr>
          <p:cNvPr id="3" name="Text Placeholder 2">
            <a:extLst>
              <a:ext uri="{FF2B5EF4-FFF2-40B4-BE49-F238E27FC236}">
                <a16:creationId xmlns:a16="http://schemas.microsoft.com/office/drawing/2014/main" id="{9C93712B-1215-E889-2DE4-C196E6145B48}"/>
              </a:ext>
            </a:extLst>
          </p:cNvPr>
          <p:cNvSpPr>
            <a:spLocks noGrp="1"/>
          </p:cNvSpPr>
          <p:nvPr>
            <p:ph type="body" idx="1"/>
          </p:nvPr>
        </p:nvSpPr>
        <p:spPr>
          <a:xfrm>
            <a:off x="869950" y="1618361"/>
            <a:ext cx="10961370" cy="4154984"/>
          </a:xfrm>
        </p:spPr>
        <p:txBody>
          <a:bodyPr wrap="square" lIns="0" tIns="0" rIns="0" bIns="0" anchor="t">
            <a:spAutoFit/>
          </a:bodyPr>
          <a:lstStyle/>
          <a:p>
            <a:r>
              <a:rPr lang="en-US" dirty="0">
                <a:ea typeface="+mn-lt"/>
                <a:cs typeface="+mn-lt"/>
              </a:rPr>
              <a:t>[1]. Aathithya, S., Kavya, S., Malavika, J., Raveena, R., &amp; Durga, E. (2020) ‘Detection of Human Existence Using Thermal Imaging for Automated Fire Extinguisher’, Developed a thermal imaging-based system for human detection. Useful for automated fire extinguishing. Limited to thermal detection accuracy.</a:t>
            </a:r>
          </a:p>
          <a:p>
            <a:endParaRPr lang="en-US" dirty="0">
              <a:ea typeface="+mn-lt"/>
              <a:cs typeface="+mn-lt"/>
            </a:endParaRPr>
          </a:p>
          <a:p>
            <a:r>
              <a:rPr lang="en-US" dirty="0">
                <a:ea typeface="+mn-lt"/>
                <a:cs typeface="+mn-lt"/>
              </a:rPr>
              <a:t>[2]. </a:t>
            </a:r>
            <a:r>
              <a:rPr lang="en-US" err="1">
                <a:ea typeface="+mn-lt"/>
                <a:cs typeface="+mn-lt"/>
              </a:rPr>
              <a:t>Chopde</a:t>
            </a:r>
            <a:r>
              <a:rPr lang="en-US" dirty="0">
                <a:ea typeface="+mn-lt"/>
                <a:cs typeface="+mn-lt"/>
              </a:rPr>
              <a:t>, A., et al. (2022) ‘Forest Fire Detection and Prediction from Image Processing Using RCNN’, Developed an RCNN-based system for forest fire detection. High accuracy in image-based detection. Dependency on large datasets for training. </a:t>
            </a:r>
          </a:p>
          <a:p>
            <a:endParaRPr lang="en-US" dirty="0">
              <a:ea typeface="+mn-lt"/>
              <a:cs typeface="+mn-lt"/>
            </a:endParaRPr>
          </a:p>
          <a:p>
            <a:r>
              <a:rPr lang="en-US" dirty="0">
                <a:ea typeface="+mn-lt"/>
                <a:cs typeface="+mn-lt"/>
              </a:rPr>
              <a:t>[3]. Jaradat, F., &amp; Valles, D. (2018) ‘A Human Detection Approach for Burning Building Sites Using Deep Learning Techniques’, Developed a human detection approach using deep learning. Effective in complex environments. Requires extensive training data. </a:t>
            </a:r>
          </a:p>
          <a:p>
            <a:endParaRPr lang="en-US" dirty="0">
              <a:ea typeface="+mn-lt"/>
              <a:cs typeface="+mn-lt"/>
            </a:endParaRPr>
          </a:p>
          <a:p>
            <a:r>
              <a:rPr lang="en-US" dirty="0">
                <a:ea typeface="+mn-lt"/>
                <a:cs typeface="+mn-lt"/>
              </a:rPr>
              <a:t>[4]. </a:t>
            </a:r>
            <a:r>
              <a:rPr lang="en-US" dirty="0" err="1">
                <a:ea typeface="+mn-lt"/>
                <a:cs typeface="+mn-lt"/>
              </a:rPr>
              <a:t>Jaeseung</a:t>
            </a:r>
            <a:r>
              <a:rPr lang="en-US" dirty="0">
                <a:ea typeface="+mn-lt"/>
                <a:cs typeface="+mn-lt"/>
              </a:rPr>
              <a:t> Baek, Alhindi, T. J., Jeong, Y. S., Jeong, M. K., Seo, S., Kang, J., Shim, W., &amp; Heo, Y. (2021) ‘Real-time fire detection system based on dynamic time warping of multichannel sensor networks’, Developed a real-time fire detection system. High efficiency with multichannel sensor networks. Complexity in sensor network integration. </a:t>
            </a:r>
            <a:endParaRPr lang="en-US" dirty="0">
              <a:ea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EDD71BA-9F4A-59C2-D9F6-3991CB2F9D3D}"/>
              </a:ext>
            </a:extLst>
          </p:cNvPr>
          <p:cNvSpPr>
            <a:spLocks noGrp="1"/>
          </p:cNvSpPr>
          <p:nvPr>
            <p:ph type="body" idx="1"/>
          </p:nvPr>
        </p:nvSpPr>
        <p:spPr>
          <a:xfrm>
            <a:off x="619429" y="313566"/>
            <a:ext cx="10961370" cy="5539978"/>
          </a:xfrm>
        </p:spPr>
        <p:txBody>
          <a:bodyPr wrap="square" lIns="0" tIns="0" rIns="0" bIns="0" anchor="t">
            <a:spAutoFit/>
          </a:bodyPr>
          <a:lstStyle/>
          <a:p>
            <a:r>
              <a:rPr lang="en-US" dirty="0">
                <a:ea typeface="+mn-lt"/>
                <a:cs typeface="+mn-lt"/>
              </a:rPr>
              <a:t>[5]. Lee, H.-W., Lee, K.-O., Bae, J.-H., Kim, S.-Y., &amp; Park, Y. Y. (2022) ‘Using Hybrid Algorithms of Human Detection Technique for Detecting Indoor Disaster Victims’, Developed a method for detecting disaster victims using hybrid algorithms. Improved detection accuracy in indoor settings. Complexity in algorithm implementation. </a:t>
            </a:r>
          </a:p>
          <a:p>
            <a:endParaRPr lang="en-US" dirty="0">
              <a:ea typeface="+mn-lt"/>
              <a:cs typeface="+mn-lt"/>
            </a:endParaRPr>
          </a:p>
          <a:p>
            <a:r>
              <a:rPr lang="en-US" dirty="0">
                <a:ea typeface="+mn-lt"/>
                <a:cs typeface="+mn-lt"/>
              </a:rPr>
              <a:t>[6]. Luo, W. (2021) ‘Research on fire detection based on YOLOv5’, Implemented fire detection using YOLOv5. High detection accuracy. Requires high computational resources. </a:t>
            </a:r>
          </a:p>
          <a:p>
            <a:endParaRPr lang="en-US" dirty="0">
              <a:ea typeface="+mn-lt"/>
              <a:cs typeface="+mn-lt"/>
            </a:endParaRPr>
          </a:p>
          <a:p>
            <a:r>
              <a:rPr lang="en-US" dirty="0">
                <a:ea typeface="+mn-lt"/>
                <a:cs typeface="+mn-lt"/>
              </a:rPr>
              <a:t>[7]. Muhammad Salihin Ahmad Azmil, M. S., </a:t>
            </a:r>
            <a:r>
              <a:rPr lang="en-US" err="1">
                <a:ea typeface="+mn-lt"/>
                <a:cs typeface="+mn-lt"/>
              </a:rPr>
              <a:t>Ya'acob</a:t>
            </a:r>
            <a:r>
              <a:rPr lang="en-US" dirty="0">
                <a:ea typeface="+mn-lt"/>
                <a:cs typeface="+mn-lt"/>
              </a:rPr>
              <a:t>, N., Tahar, K. N., &amp; Sarnin, S. S. (2015) ‘Wireless fire detection monitoring system for fire and rescue application’, Developed a wireless monitoring system. Wireless, portable, suitable for rescue operations. Limited range of wireless communication. School of Computer Science Engineering &amp; Information Science, Presidency University. 40 Human Life Detection During Fire </a:t>
            </a:r>
          </a:p>
          <a:p>
            <a:endParaRPr lang="en-US" dirty="0">
              <a:ea typeface="+mn-lt"/>
              <a:cs typeface="+mn-lt"/>
            </a:endParaRPr>
          </a:p>
          <a:p>
            <a:r>
              <a:rPr lang="en-US" dirty="0">
                <a:ea typeface="+mn-lt"/>
                <a:cs typeface="+mn-lt"/>
              </a:rPr>
              <a:t>[8]. Seetharaman, R., Sreeja, R. R., Dakshin, S., Vidhul, N., Nivetha, N., </a:t>
            </a:r>
            <a:r>
              <a:rPr lang="en-US" dirty="0" err="1">
                <a:ea typeface="+mn-lt"/>
                <a:cs typeface="+mn-lt"/>
              </a:rPr>
              <a:t>Gowsigan</a:t>
            </a:r>
            <a:r>
              <a:rPr lang="en-US" dirty="0">
                <a:ea typeface="+mn-lt"/>
                <a:cs typeface="+mn-lt"/>
              </a:rPr>
              <a:t>, S., &amp; Barath, M. (2020) ‘Analysis of a Real Time Fire Detection and Intimation System’, Analyzed real-time fire detection and alert systems. Quick response time, efficient alerting. May face false alarms under certain conditions. </a:t>
            </a:r>
            <a:endParaRPr lang="en-US"/>
          </a:p>
          <a:p>
            <a:endParaRPr lang="en-US" dirty="0">
              <a:ea typeface="+mn-lt"/>
              <a:cs typeface="+mn-lt"/>
            </a:endParaRPr>
          </a:p>
          <a:p>
            <a:r>
              <a:rPr lang="en-US" dirty="0">
                <a:ea typeface="+mn-lt"/>
                <a:cs typeface="+mn-lt"/>
              </a:rPr>
              <a:t>[9]. Sathishkumar, V. E., Cho, J., Subramanian, M., et al. (2023) ‘Forest fire and smoke detection using deep learning-based learning without forgetting’, Developed a system for detecting forest fires using deep learning. Adaptive learning capabilities. High computational demand for training. </a:t>
            </a:r>
          </a:p>
          <a:p>
            <a:endParaRPr lang="en-US">
              <a:ea typeface="Calibri"/>
              <a:cs typeface="Calibri"/>
            </a:endParaRPr>
          </a:p>
        </p:txBody>
      </p:sp>
    </p:spTree>
    <p:extLst>
      <p:ext uri="{BB962C8B-B14F-4D97-AF65-F5344CB8AC3E}">
        <p14:creationId xmlns:p14="http://schemas.microsoft.com/office/powerpoint/2010/main" val="879483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EDD71BA-9F4A-59C2-D9F6-3991CB2F9D3D}"/>
              </a:ext>
            </a:extLst>
          </p:cNvPr>
          <p:cNvSpPr>
            <a:spLocks noGrp="1"/>
          </p:cNvSpPr>
          <p:nvPr>
            <p:ph type="body" idx="1"/>
          </p:nvPr>
        </p:nvSpPr>
        <p:spPr>
          <a:xfrm>
            <a:off x="619429" y="313566"/>
            <a:ext cx="10961370" cy="1107996"/>
          </a:xfrm>
        </p:spPr>
        <p:txBody>
          <a:bodyPr wrap="square" lIns="0" tIns="0" rIns="0" bIns="0" anchor="t">
            <a:spAutoFit/>
          </a:bodyPr>
          <a:lstStyle/>
          <a:p>
            <a:pPr algn="l"/>
            <a:r>
              <a:rPr lang="en-US" dirty="0">
                <a:ea typeface="Calibri"/>
                <a:cs typeface="Calibri"/>
              </a:rPr>
              <a:t>[10]. Zaher, A., Al </a:t>
            </a:r>
            <a:r>
              <a:rPr lang="en-US" dirty="0" err="1">
                <a:ea typeface="Calibri"/>
                <a:cs typeface="Calibri"/>
              </a:rPr>
              <a:t>Faqsh</a:t>
            </a:r>
            <a:r>
              <a:rPr lang="en-US" dirty="0">
                <a:ea typeface="Calibri"/>
                <a:cs typeface="Calibri"/>
              </a:rPr>
              <a:t>, A., </a:t>
            </a:r>
            <a:r>
              <a:rPr lang="en-US" dirty="0" err="1">
                <a:ea typeface="Calibri"/>
                <a:cs typeface="Calibri"/>
              </a:rPr>
              <a:t>Abdulredha</a:t>
            </a:r>
            <a:r>
              <a:rPr lang="en-US" dirty="0">
                <a:ea typeface="Calibri"/>
                <a:cs typeface="Calibri"/>
              </a:rPr>
              <a:t>, H., Al-</a:t>
            </a:r>
            <a:r>
              <a:rPr lang="en-US" dirty="0" err="1">
                <a:ea typeface="Calibri"/>
                <a:cs typeface="Calibri"/>
              </a:rPr>
              <a:t>Qudaihi</a:t>
            </a:r>
            <a:r>
              <a:rPr lang="en-US" dirty="0">
                <a:ea typeface="Calibri"/>
                <a:cs typeface="Calibri"/>
              </a:rPr>
              <a:t>, H., &amp; </a:t>
            </a:r>
            <a:r>
              <a:rPr lang="en-US" dirty="0" err="1">
                <a:ea typeface="Calibri"/>
                <a:cs typeface="Calibri"/>
              </a:rPr>
              <a:t>Toaube</a:t>
            </a:r>
            <a:r>
              <a:rPr lang="en-US" dirty="0">
                <a:ea typeface="Calibri"/>
                <a:cs typeface="Calibri"/>
              </a:rPr>
              <a:t>, M. (2021) ‘A Fire Prevention/Monitoring Smart System’, Developed a smart system for fire prevention and monitoring. Real-time monitoring and prevention. Dependency on sensors, high cost.</a:t>
            </a:r>
          </a:p>
          <a:p>
            <a:endParaRPr lang="en-US" dirty="0">
              <a:ea typeface="Calibri"/>
              <a:cs typeface="Calibri"/>
            </a:endParaRPr>
          </a:p>
        </p:txBody>
      </p:sp>
    </p:spTree>
    <p:extLst>
      <p:ext uri="{BB962C8B-B14F-4D97-AF65-F5344CB8AC3E}">
        <p14:creationId xmlns:p14="http://schemas.microsoft.com/office/powerpoint/2010/main" val="34796570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720591" y="384475"/>
            <a:ext cx="7091300" cy="898581"/>
          </a:xfrm>
          <a:prstGeom prst="rect">
            <a:avLst/>
          </a:prstGeom>
        </p:spPr>
        <p:txBody>
          <a:bodyPr vert="horz" lIns="91440" tIns="45720" rIns="91440" bIns="45720" rtlCol="0" anchor="ctr">
            <a:normAutofit/>
          </a:bodyPr>
          <a:lstStyle/>
          <a:p>
            <a:pPr marL="12700" algn="l" rtl="0">
              <a:lnSpc>
                <a:spcPct val="90000"/>
              </a:lnSpc>
              <a:spcBef>
                <a:spcPct val="0"/>
              </a:spcBef>
            </a:pPr>
            <a:r>
              <a:rPr lang="en-US" kern="1200" spc="-45" dirty="0">
                <a:ea typeface="Calibri Light"/>
              </a:rPr>
              <a:t>Proof Of Publication</a:t>
            </a:r>
            <a:r>
              <a:rPr lang="en-US" kern="1200" spc="-25" dirty="0">
                <a:ea typeface="Calibri Light"/>
              </a:rPr>
              <a:t>:</a:t>
            </a:r>
          </a:p>
        </p:txBody>
      </p:sp>
      <p:pic>
        <p:nvPicPr>
          <p:cNvPr id="3" name="Picture 2" descr="A certificate of publication&#10;&#10;Description automatically generated">
            <a:extLst>
              <a:ext uri="{FF2B5EF4-FFF2-40B4-BE49-F238E27FC236}">
                <a16:creationId xmlns:a16="http://schemas.microsoft.com/office/drawing/2014/main" id="{765F166F-FD2A-4756-07C8-1554EDE316AD}"/>
              </a:ext>
            </a:extLst>
          </p:cNvPr>
          <p:cNvPicPr>
            <a:picLocks noChangeAspect="1"/>
          </p:cNvPicPr>
          <p:nvPr/>
        </p:nvPicPr>
        <p:blipFill>
          <a:blip r:embed="rId2"/>
          <a:stretch>
            <a:fillRect/>
          </a:stretch>
        </p:blipFill>
        <p:spPr>
          <a:xfrm>
            <a:off x="715748" y="1717944"/>
            <a:ext cx="5131088" cy="3630244"/>
          </a:xfrm>
          <a:prstGeom prst="rect">
            <a:avLst/>
          </a:prstGeom>
        </p:spPr>
      </p:pic>
      <p:pic>
        <p:nvPicPr>
          <p:cNvPr id="4" name="Picture 3" descr="A certificate of publication&#10;&#10;Description automatically generated">
            <a:extLst>
              <a:ext uri="{FF2B5EF4-FFF2-40B4-BE49-F238E27FC236}">
                <a16:creationId xmlns:a16="http://schemas.microsoft.com/office/drawing/2014/main" id="{92ED6151-4CED-9278-C87B-1ECBE81BA04F}"/>
              </a:ext>
            </a:extLst>
          </p:cNvPr>
          <p:cNvPicPr>
            <a:picLocks noChangeAspect="1"/>
          </p:cNvPicPr>
          <p:nvPr/>
        </p:nvPicPr>
        <p:blipFill>
          <a:blip r:embed="rId3"/>
          <a:stretch>
            <a:fillRect/>
          </a:stretch>
        </p:blipFill>
        <p:spPr>
          <a:xfrm>
            <a:off x="6439110" y="1712677"/>
            <a:ext cx="5131087" cy="363024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ertificate of publication&#10;&#10;Description automatically generated">
            <a:extLst>
              <a:ext uri="{FF2B5EF4-FFF2-40B4-BE49-F238E27FC236}">
                <a16:creationId xmlns:a16="http://schemas.microsoft.com/office/drawing/2014/main" id="{116071C5-2D5D-53BB-037B-71E0EB06AE50}"/>
              </a:ext>
            </a:extLst>
          </p:cNvPr>
          <p:cNvPicPr>
            <a:picLocks noChangeAspect="1"/>
          </p:cNvPicPr>
          <p:nvPr/>
        </p:nvPicPr>
        <p:blipFill>
          <a:blip r:embed="rId2"/>
          <a:stretch>
            <a:fillRect/>
          </a:stretch>
        </p:blipFill>
        <p:spPr>
          <a:xfrm>
            <a:off x="700217" y="654158"/>
            <a:ext cx="5133975" cy="3629025"/>
          </a:xfrm>
          <a:prstGeom prst="rect">
            <a:avLst/>
          </a:prstGeom>
        </p:spPr>
      </p:pic>
    </p:spTree>
    <p:extLst>
      <p:ext uri="{BB962C8B-B14F-4D97-AF65-F5344CB8AC3E}">
        <p14:creationId xmlns:p14="http://schemas.microsoft.com/office/powerpoint/2010/main" val="28270527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36234" y="1883029"/>
            <a:ext cx="5104130" cy="1490980"/>
          </a:xfrm>
          <a:prstGeom prst="rect">
            <a:avLst/>
          </a:prstGeom>
        </p:spPr>
        <p:txBody>
          <a:bodyPr vert="horz" wrap="square" lIns="0" tIns="14605" rIns="0" bIns="0" rtlCol="0">
            <a:spAutoFit/>
          </a:bodyPr>
          <a:lstStyle/>
          <a:p>
            <a:pPr marL="12700">
              <a:lnSpc>
                <a:spcPct val="100000"/>
              </a:lnSpc>
              <a:spcBef>
                <a:spcPts val="115"/>
              </a:spcBef>
            </a:pPr>
            <a:r>
              <a:rPr sz="9600">
                <a:latin typeface="Calibri"/>
                <a:cs typeface="Calibri"/>
              </a:rPr>
              <a:t>Thank</a:t>
            </a:r>
            <a:r>
              <a:rPr sz="9600" spc="-10">
                <a:latin typeface="Calibri"/>
                <a:cs typeface="Calibri"/>
              </a:rPr>
              <a:t> </a:t>
            </a:r>
            <a:r>
              <a:rPr sz="9600" spc="-810">
                <a:latin typeface="Calibri"/>
                <a:cs typeface="Calibri"/>
              </a:rPr>
              <a:t>Y</a:t>
            </a:r>
            <a:r>
              <a:rPr sz="9600">
                <a:latin typeface="Calibri"/>
                <a:cs typeface="Calibri"/>
              </a:rPr>
              <a:t>o</a:t>
            </a:r>
            <a:r>
              <a:rPr sz="9600" spc="-25">
                <a:latin typeface="Calibri"/>
                <a:cs typeface="Calibri"/>
              </a:rPr>
              <a:t>u</a:t>
            </a:r>
            <a:endParaRPr sz="9600">
              <a:latin typeface="Calibri"/>
              <a:cs typeface="Calibri"/>
            </a:endParaRPr>
          </a:p>
        </p:txBody>
      </p:sp>
      <p:pic>
        <p:nvPicPr>
          <p:cNvPr id="3" name="object 3"/>
          <p:cNvPicPr/>
          <p:nvPr/>
        </p:nvPicPr>
        <p:blipFill>
          <a:blip r:embed="rId2" cstate="print"/>
          <a:stretch>
            <a:fillRect/>
          </a:stretch>
        </p:blipFill>
        <p:spPr>
          <a:xfrm>
            <a:off x="695325" y="1028700"/>
            <a:ext cx="4459833" cy="38576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F7E94455598354AA92C9A7FF1F6F333" ma:contentTypeVersion="5" ma:contentTypeDescription="Create a new document." ma:contentTypeScope="" ma:versionID="d1214e9f2fbf46823729ad5a94ae138c">
  <xsd:schema xmlns:xsd="http://www.w3.org/2001/XMLSchema" xmlns:xs="http://www.w3.org/2001/XMLSchema" xmlns:p="http://schemas.microsoft.com/office/2006/metadata/properties" xmlns:ns3="5c7b1ef3-87d6-4fc2-bfdd-1f6cfa67cf6f" targetNamespace="http://schemas.microsoft.com/office/2006/metadata/properties" ma:root="true" ma:fieldsID="c97b86a337e6a120d3491ccadcdb38d0" ns3:_="">
    <xsd:import namespace="5c7b1ef3-87d6-4fc2-bfdd-1f6cfa67cf6f"/>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7b1ef3-87d6-4fc2-bfdd-1f6cfa67cf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1200E81-7405-48FE-8780-639EFDDD86A9}">
  <ds:schemaRefs>
    <ds:schemaRef ds:uri="http://schemas.microsoft.com/sharepoint/v3/contenttype/forms"/>
  </ds:schemaRefs>
</ds:datastoreItem>
</file>

<file path=customXml/itemProps2.xml><?xml version="1.0" encoding="utf-8"?>
<ds:datastoreItem xmlns:ds="http://schemas.openxmlformats.org/officeDocument/2006/customXml" ds:itemID="{15834ED1-730F-4E32-90E3-C51A1E92D48D}">
  <ds:schemaRefs>
    <ds:schemaRef ds:uri="5c7b1ef3-87d6-4fc2-bfdd-1f6cfa67cf6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6B9596F-0D40-466F-93CC-07509880384D}">
  <ds:schemaRefs>
    <ds:schemaRef ds:uri="5c7b1ef3-87d6-4fc2-bfdd-1f6cfa67cf6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TotalTime>
  <Words>3089</Words>
  <Application>Microsoft Office PowerPoint</Application>
  <PresentationFormat>Widescreen</PresentationFormat>
  <Paragraphs>175</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Arial,Sans-Serif</vt:lpstr>
      <vt:lpstr>Calibri</vt:lpstr>
      <vt:lpstr>Calibri Light</vt:lpstr>
      <vt:lpstr>Symbol</vt:lpstr>
      <vt:lpstr>Times New Roman</vt:lpstr>
      <vt:lpstr>Verdana</vt:lpstr>
      <vt:lpstr>Office Theme</vt:lpstr>
      <vt:lpstr> VIVA-VOCE</vt:lpstr>
      <vt:lpstr>PowerPoint Presentation</vt:lpstr>
      <vt:lpstr>Literature Review</vt:lpstr>
      <vt:lpstr>PowerPoint Presentation</vt:lpstr>
      <vt:lpstr>PowerPoint Presentation</vt:lpstr>
      <vt:lpstr>Research Gaps Identified</vt:lpstr>
      <vt:lpstr>PowerPoint Presentation</vt:lpstr>
      <vt:lpstr>PowerPoint Presentation</vt:lpstr>
      <vt:lpstr>Proposed Methodology</vt:lpstr>
      <vt:lpstr>PowerPoint Presentation</vt:lpstr>
      <vt:lpstr>Objectives</vt:lpstr>
      <vt:lpstr>System Design &amp; Implementation</vt:lpstr>
      <vt:lpstr>Data Preprocessing Image Processing: Clean and normalize image data by adjusting brightness, contrast, and color balance. Apply augmentation techniques like rotation, scaling, and flipping to increase dataset variety. Video Processing: Perform frame extraction, noise reduction, and segmentation on video data. Convert video frames into a consistent format and resolution suitable for model training.  Model Training Detection Models: Train YOLOv8 and YOLOv9 models using the processed image and video datasets to ensure accurate detection of fire, smoke, and human presence.  Model Evaluation Performance Metrics: Assess detection models using metrics such as Intersection over Union (IoU), precision, recall, and F1-score to evaluate model accuracy and effectiveness in identifying fire, smoke, and humans.  </vt:lpstr>
      <vt:lpstr>PowerPoint Presentation</vt:lpstr>
      <vt:lpstr>Timeline of Project</vt:lpstr>
      <vt:lpstr>Outcomes </vt:lpstr>
      <vt:lpstr>Conclusion</vt:lpstr>
      <vt:lpstr>References</vt:lpstr>
      <vt:lpstr>PowerPoint Presentation</vt:lpstr>
      <vt:lpstr>PowerPoint Presentation</vt:lpstr>
      <vt:lpstr>Proof Of Publication: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SUNKU SAI YASWANTH</cp:lastModifiedBy>
  <cp:revision>182</cp:revision>
  <dcterms:created xsi:type="dcterms:W3CDTF">2025-01-10T08:18:54Z</dcterms:created>
  <dcterms:modified xsi:type="dcterms:W3CDTF">2025-01-13T08:00:05Z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2025-01-09T00:00:00Z</vt:filetime>
  </property>
  <property fmtid="{D5CDD505-2E9C-101B-9397-08002B2CF9AE}" pid="3" name="LastSaved">
    <vt:filetime>2025-01-10T00:00:00Z</vt:filetime>
  </property>
  <property fmtid="{D5CDD505-2E9C-101B-9397-08002B2CF9AE}" pid="4" name="ContentTypeId">
    <vt:lpwstr>0x010100CF7E94455598354AA92C9A7FF1F6F333</vt:lpwstr>
  </property>
</Properties>
</file>