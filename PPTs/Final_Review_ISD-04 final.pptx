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media/image7.jpg" ContentType="image/jpeg"/>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sldIdLst>
    <p:sldId id="256" r:id="rId5"/>
    <p:sldId id="274" r:id="rId6"/>
    <p:sldId id="287" r:id="rId7"/>
    <p:sldId id="288" r:id="rId8"/>
    <p:sldId id="289" r:id="rId9"/>
    <p:sldId id="260" r:id="rId10"/>
    <p:sldId id="279" r:id="rId11"/>
    <p:sldId id="261" r:id="rId12"/>
    <p:sldId id="262" r:id="rId13"/>
    <p:sldId id="282" r:id="rId14"/>
    <p:sldId id="281" r:id="rId15"/>
    <p:sldId id="263" r:id="rId16"/>
    <p:sldId id="264" r:id="rId17"/>
    <p:sldId id="265" r:id="rId18"/>
    <p:sldId id="266" r:id="rId19"/>
    <p:sldId id="283" r:id="rId20"/>
    <p:sldId id="284" r:id="rId21"/>
    <p:sldId id="267" r:id="rId22"/>
    <p:sldId id="285" r:id="rId23"/>
    <p:sldId id="286" r:id="rId24"/>
    <p:sldId id="269" r:id="rId25"/>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350C28-3786-44AC-82E1-E6C13589BA13}" v="9" dt="2025-01-10T09:07:18.363"/>
    <p1510:client id="{CB127162-A7EB-9528-57EE-BBE8106ACD9F}" v="452" dt="2025-01-10T17:06:38.844"/>
    <p1510:client id="{DA5AC460-7A0D-4D60-D1C0-730EBDA9DD8A}" v="997" dt="2025-01-10T16:33:06.833"/>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 PAVAN KUAMR" userId="S::pavan.20211isd0027@presidencyuniversity.in::80f66336-7476-4794-88c7-cff6f9eee3df" providerId="AD" clId="Web-{CB127162-A7EB-9528-57EE-BBE8106ACD9F}"/>
    <pc:docChg chg="delSld modSld">
      <pc:chgData name="K PAVAN KUAMR" userId="S::pavan.20211isd0027@presidencyuniversity.in::80f66336-7476-4794-88c7-cff6f9eee3df" providerId="AD" clId="Web-{CB127162-A7EB-9528-57EE-BBE8106ACD9F}" dt="2025-01-10T17:06:36.078" v="352" actId="20577"/>
      <pc:docMkLst>
        <pc:docMk/>
      </pc:docMkLst>
      <pc:sldChg chg="addSp delSp modSp">
        <pc:chgData name="K PAVAN KUAMR" userId="S::pavan.20211isd0027@presidencyuniversity.in::80f66336-7476-4794-88c7-cff6f9eee3df" providerId="AD" clId="Web-{CB127162-A7EB-9528-57EE-BBE8106ACD9F}" dt="2025-01-10T16:49:00.727" v="234" actId="1076"/>
        <pc:sldMkLst>
          <pc:docMk/>
          <pc:sldMk cId="0" sldId="256"/>
        </pc:sldMkLst>
        <pc:spChg chg="mod">
          <ac:chgData name="K PAVAN KUAMR" userId="S::pavan.20211isd0027@presidencyuniversity.in::80f66336-7476-4794-88c7-cff6f9eee3df" providerId="AD" clId="Web-{CB127162-A7EB-9528-57EE-BBE8106ACD9F}" dt="2025-01-10T16:48:28.860" v="230" actId="20577"/>
          <ac:spMkLst>
            <pc:docMk/>
            <pc:sldMk cId="0" sldId="256"/>
            <ac:spMk id="3" creationId="{00000000-0000-0000-0000-000000000000}"/>
          </ac:spMkLst>
        </pc:spChg>
        <pc:spChg chg="mod">
          <ac:chgData name="K PAVAN KUAMR" userId="S::pavan.20211isd0027@presidencyuniversity.in::80f66336-7476-4794-88c7-cff6f9eee3df" providerId="AD" clId="Web-{CB127162-A7EB-9528-57EE-BBE8106ACD9F}" dt="2025-01-10T16:48:10.266" v="227"/>
          <ac:spMkLst>
            <pc:docMk/>
            <pc:sldMk cId="0" sldId="256"/>
            <ac:spMk id="4" creationId="{00000000-0000-0000-0000-000000000000}"/>
          </ac:spMkLst>
        </pc:spChg>
        <pc:grpChg chg="del">
          <ac:chgData name="K PAVAN KUAMR" userId="S::pavan.20211isd0027@presidencyuniversity.in::80f66336-7476-4794-88c7-cff6f9eee3df" providerId="AD" clId="Web-{CB127162-A7EB-9528-57EE-BBE8106ACD9F}" dt="2025-01-10T16:44:42.137" v="222"/>
          <ac:grpSpMkLst>
            <pc:docMk/>
            <pc:sldMk cId="0" sldId="256"/>
            <ac:grpSpMk id="5" creationId="{00000000-0000-0000-0000-000000000000}"/>
          </ac:grpSpMkLst>
        </pc:grpChg>
        <pc:graphicFrameChg chg="add mod modGraphic">
          <ac:chgData name="K PAVAN KUAMR" userId="S::pavan.20211isd0027@presidencyuniversity.in::80f66336-7476-4794-88c7-cff6f9eee3df" providerId="AD" clId="Web-{CB127162-A7EB-9528-57EE-BBE8106ACD9F}" dt="2025-01-10T16:49:00.727" v="234" actId="1076"/>
          <ac:graphicFrameMkLst>
            <pc:docMk/>
            <pc:sldMk cId="0" sldId="256"/>
            <ac:graphicFrameMk id="2" creationId="{A45D4025-79A4-6778-CA8C-ADA7EB212072}"/>
          </ac:graphicFrameMkLst>
        </pc:graphicFrameChg>
        <pc:picChg chg="del mod">
          <ac:chgData name="K PAVAN KUAMR" userId="S::pavan.20211isd0027@presidencyuniversity.in::80f66336-7476-4794-88c7-cff6f9eee3df" providerId="AD" clId="Web-{CB127162-A7EB-9528-57EE-BBE8106ACD9F}" dt="2025-01-10T16:44:09.339" v="216"/>
          <ac:picMkLst>
            <pc:docMk/>
            <pc:sldMk cId="0" sldId="256"/>
            <ac:picMk id="11" creationId="{598B9A22-A363-CCF3-4AC9-B6A4F8B3C076}"/>
          </ac:picMkLst>
        </pc:picChg>
      </pc:sldChg>
      <pc:sldChg chg="modSp">
        <pc:chgData name="K PAVAN KUAMR" userId="S::pavan.20211isd0027@presidencyuniversity.in::80f66336-7476-4794-88c7-cff6f9eee3df" providerId="AD" clId="Web-{CB127162-A7EB-9528-57EE-BBE8106ACD9F}" dt="2025-01-10T17:03:01.558" v="332" actId="20577"/>
        <pc:sldMkLst>
          <pc:docMk/>
          <pc:sldMk cId="0" sldId="258"/>
        </pc:sldMkLst>
        <pc:spChg chg="mod">
          <ac:chgData name="K PAVAN KUAMR" userId="S::pavan.20211isd0027@presidencyuniversity.in::80f66336-7476-4794-88c7-cff6f9eee3df" providerId="AD" clId="Web-{CB127162-A7EB-9528-57EE-BBE8106ACD9F}" dt="2025-01-10T17:03:01.558" v="332" actId="20577"/>
          <ac:spMkLst>
            <pc:docMk/>
            <pc:sldMk cId="0" sldId="258"/>
            <ac:spMk id="3" creationId="{B735D084-C80F-5855-1BE5-B07ECD339AE9}"/>
          </ac:spMkLst>
        </pc:spChg>
      </pc:sldChg>
      <pc:sldChg chg="modSp">
        <pc:chgData name="K PAVAN KUAMR" userId="S::pavan.20211isd0027@presidencyuniversity.in::80f66336-7476-4794-88c7-cff6f9eee3df" providerId="AD" clId="Web-{CB127162-A7EB-9528-57EE-BBE8106ACD9F}" dt="2025-01-10T17:05:48.686" v="351" actId="20577"/>
        <pc:sldMkLst>
          <pc:docMk/>
          <pc:sldMk cId="0" sldId="261"/>
        </pc:sldMkLst>
        <pc:spChg chg="mod">
          <ac:chgData name="K PAVAN KUAMR" userId="S::pavan.20211isd0027@presidencyuniversity.in::80f66336-7476-4794-88c7-cff6f9eee3df" providerId="AD" clId="Web-{CB127162-A7EB-9528-57EE-BBE8106ACD9F}" dt="2025-01-10T17:05:48.686" v="351" actId="20577"/>
          <ac:spMkLst>
            <pc:docMk/>
            <pc:sldMk cId="0" sldId="261"/>
            <ac:spMk id="3" creationId="{084694B6-337A-7C60-B402-69E046F85147}"/>
          </ac:spMkLst>
        </pc:spChg>
      </pc:sldChg>
      <pc:sldChg chg="modSp">
        <pc:chgData name="K PAVAN KUAMR" userId="S::pavan.20211isd0027@presidencyuniversity.in::80f66336-7476-4794-88c7-cff6f9eee3df" providerId="AD" clId="Web-{CB127162-A7EB-9528-57EE-BBE8106ACD9F}" dt="2025-01-10T16:51:41.808" v="239" actId="20577"/>
        <pc:sldMkLst>
          <pc:docMk/>
          <pc:sldMk cId="0" sldId="264"/>
        </pc:sldMkLst>
        <pc:spChg chg="mod">
          <ac:chgData name="K PAVAN KUAMR" userId="S::pavan.20211isd0027@presidencyuniversity.in::80f66336-7476-4794-88c7-cff6f9eee3df" providerId="AD" clId="Web-{CB127162-A7EB-9528-57EE-BBE8106ACD9F}" dt="2025-01-10T16:51:41.808" v="239" actId="20577"/>
          <ac:spMkLst>
            <pc:docMk/>
            <pc:sldMk cId="0" sldId="264"/>
            <ac:spMk id="2" creationId="{00000000-0000-0000-0000-000000000000}"/>
          </ac:spMkLst>
        </pc:spChg>
        <pc:spChg chg="mod">
          <ac:chgData name="K PAVAN KUAMR" userId="S::pavan.20211isd0027@presidencyuniversity.in::80f66336-7476-4794-88c7-cff6f9eee3df" providerId="AD" clId="Web-{CB127162-A7EB-9528-57EE-BBE8106ACD9F}" dt="2025-01-10T16:51:12.557" v="237" actId="20577"/>
          <ac:spMkLst>
            <pc:docMk/>
            <pc:sldMk cId="0" sldId="264"/>
            <ac:spMk id="3" creationId="{FE158228-CDD3-C784-4103-03F70CE05835}"/>
          </ac:spMkLst>
        </pc:spChg>
      </pc:sldChg>
      <pc:sldChg chg="addSp delSp modSp mod setBg">
        <pc:chgData name="K PAVAN KUAMR" userId="S::pavan.20211isd0027@presidencyuniversity.in::80f66336-7476-4794-88c7-cff6f9eee3df" providerId="AD" clId="Web-{CB127162-A7EB-9528-57EE-BBE8106ACD9F}" dt="2025-01-10T16:57:37.206" v="288" actId="20577"/>
        <pc:sldMkLst>
          <pc:docMk/>
          <pc:sldMk cId="0" sldId="267"/>
        </pc:sldMkLst>
        <pc:spChg chg="mod">
          <ac:chgData name="K PAVAN KUAMR" userId="S::pavan.20211isd0027@presidencyuniversity.in::80f66336-7476-4794-88c7-cff6f9eee3df" providerId="AD" clId="Web-{CB127162-A7EB-9528-57EE-BBE8106ACD9F}" dt="2025-01-10T16:57:37.206" v="288" actId="20577"/>
          <ac:spMkLst>
            <pc:docMk/>
            <pc:sldMk cId="0" sldId="267"/>
            <ac:spMk id="2" creationId="{00000000-0000-0000-0000-000000000000}"/>
          </ac:spMkLst>
        </pc:spChg>
        <pc:spChg chg="add del">
          <ac:chgData name="K PAVAN KUAMR" userId="S::pavan.20211isd0027@presidencyuniversity.in::80f66336-7476-4794-88c7-cff6f9eee3df" providerId="AD" clId="Web-{CB127162-A7EB-9528-57EE-BBE8106ACD9F}" dt="2025-01-10T16:53:24.701" v="245"/>
          <ac:spMkLst>
            <pc:docMk/>
            <pc:sldMk cId="0" sldId="267"/>
            <ac:spMk id="9" creationId="{99ED5833-B85B-4103-8A3B-CAB0308E6C15}"/>
          </ac:spMkLst>
        </pc:spChg>
        <pc:spChg chg="add del">
          <ac:chgData name="K PAVAN KUAMR" userId="S::pavan.20211isd0027@presidencyuniversity.in::80f66336-7476-4794-88c7-cff6f9eee3df" providerId="AD" clId="Web-{CB127162-A7EB-9528-57EE-BBE8106ACD9F}" dt="2025-01-10T16:53:37.701" v="251"/>
          <ac:spMkLst>
            <pc:docMk/>
            <pc:sldMk cId="0" sldId="267"/>
            <ac:spMk id="11" creationId="{AB5E08C4-8CDD-4623-A5B8-E998C6DEE3B7}"/>
          </ac:spMkLst>
        </pc:spChg>
        <pc:spChg chg="add del">
          <ac:chgData name="K PAVAN KUAMR" userId="S::pavan.20211isd0027@presidencyuniversity.in::80f66336-7476-4794-88c7-cff6f9eee3df" providerId="AD" clId="Web-{CB127162-A7EB-9528-57EE-BBE8106ACD9F}" dt="2025-01-10T16:53:37.701" v="252"/>
          <ac:spMkLst>
            <pc:docMk/>
            <pc:sldMk cId="0" sldId="267"/>
            <ac:spMk id="12" creationId="{2151139A-886F-4B97-8815-729AD3831BBD}"/>
          </ac:spMkLst>
        </pc:spChg>
        <pc:spChg chg="add del">
          <ac:chgData name="K PAVAN KUAMR" userId="S::pavan.20211isd0027@presidencyuniversity.in::80f66336-7476-4794-88c7-cff6f9eee3df" providerId="AD" clId="Web-{CB127162-A7EB-9528-57EE-BBE8106ACD9F}" dt="2025-01-10T16:53:37.701" v="250"/>
          <ac:spMkLst>
            <pc:docMk/>
            <pc:sldMk cId="0" sldId="267"/>
            <ac:spMk id="13" creationId="{15F33878-D502-4FFA-8ACE-F2AECDB2A23F}"/>
          </ac:spMkLst>
        </pc:spChg>
        <pc:spChg chg="add del">
          <ac:chgData name="K PAVAN KUAMR" userId="S::pavan.20211isd0027@presidencyuniversity.in::80f66336-7476-4794-88c7-cff6f9eee3df" providerId="AD" clId="Web-{CB127162-A7EB-9528-57EE-BBE8106ACD9F}" dt="2025-01-10T16:53:37.701" v="249"/>
          <ac:spMkLst>
            <pc:docMk/>
            <pc:sldMk cId="0" sldId="267"/>
            <ac:spMk id="15" creationId="{D3539FEE-81D3-4406-802E-60B20B16F4F6}"/>
          </ac:spMkLst>
        </pc:spChg>
        <pc:spChg chg="add del">
          <ac:chgData name="K PAVAN KUAMR" userId="S::pavan.20211isd0027@presidencyuniversity.in::80f66336-7476-4794-88c7-cff6f9eee3df" providerId="AD" clId="Web-{CB127162-A7EB-9528-57EE-BBE8106ACD9F}" dt="2025-01-10T16:53:37.701" v="248"/>
          <ac:spMkLst>
            <pc:docMk/>
            <pc:sldMk cId="0" sldId="267"/>
            <ac:spMk id="17" creationId="{DC701763-729E-462F-A5A8-E0DEFEB1E2E4}"/>
          </ac:spMkLst>
        </pc:spChg>
        <pc:picChg chg="add mod ord">
          <ac:chgData name="K PAVAN KUAMR" userId="S::pavan.20211isd0027@presidencyuniversity.in::80f66336-7476-4794-88c7-cff6f9eee3df" providerId="AD" clId="Web-{CB127162-A7EB-9528-57EE-BBE8106ACD9F}" dt="2025-01-10T16:54:32.858" v="260" actId="1076"/>
          <ac:picMkLst>
            <pc:docMk/>
            <pc:sldMk cId="0" sldId="267"/>
            <ac:picMk id="3" creationId="{765F166F-FD2A-4756-07C8-1554EDE316AD}"/>
          </ac:picMkLst>
        </pc:picChg>
        <pc:picChg chg="add mod">
          <ac:chgData name="K PAVAN KUAMR" userId="S::pavan.20211isd0027@presidencyuniversity.in::80f66336-7476-4794-88c7-cff6f9eee3df" providerId="AD" clId="Web-{CB127162-A7EB-9528-57EE-BBE8106ACD9F}" dt="2025-01-10T16:54:36.890" v="261" actId="1076"/>
          <ac:picMkLst>
            <pc:docMk/>
            <pc:sldMk cId="0" sldId="267"/>
            <ac:picMk id="4" creationId="{92ED6151-4CED-9278-C87B-1ECBE81BA04F}"/>
          </ac:picMkLst>
        </pc:picChg>
        <pc:picChg chg="add del mod">
          <ac:chgData name="K PAVAN KUAMR" userId="S::pavan.20211isd0027@presidencyuniversity.in::80f66336-7476-4794-88c7-cff6f9eee3df" providerId="AD" clId="Web-{CB127162-A7EB-9528-57EE-BBE8106ACD9F}" dt="2025-01-10T16:55:46.844" v="272"/>
          <ac:picMkLst>
            <pc:docMk/>
            <pc:sldMk cId="0" sldId="267"/>
            <ac:picMk id="5" creationId="{33481000-57BF-531F-8E95-57882644348C}"/>
          </ac:picMkLst>
        </pc:picChg>
      </pc:sldChg>
      <pc:sldChg chg="del">
        <pc:chgData name="K PAVAN KUAMR" userId="S::pavan.20211isd0027@presidencyuniversity.in::80f66336-7476-4794-88c7-cff6f9eee3df" providerId="AD" clId="Web-{CB127162-A7EB-9528-57EE-BBE8106ACD9F}" dt="2025-01-10T16:52:22.746" v="240"/>
        <pc:sldMkLst>
          <pc:docMk/>
          <pc:sldMk cId="0" sldId="268"/>
        </pc:sldMkLst>
      </pc:sldChg>
      <pc:sldChg chg="modSp">
        <pc:chgData name="K PAVAN KUAMR" userId="S::pavan.20211isd0027@presidencyuniversity.in::80f66336-7476-4794-88c7-cff6f9eee3df" providerId="AD" clId="Web-{CB127162-A7EB-9528-57EE-BBE8106ACD9F}" dt="2025-01-10T17:01:46.213" v="310" actId="20577"/>
        <pc:sldMkLst>
          <pc:docMk/>
          <pc:sldMk cId="625028038" sldId="274"/>
        </pc:sldMkLst>
        <pc:spChg chg="mod">
          <ac:chgData name="K PAVAN KUAMR" userId="S::pavan.20211isd0027@presidencyuniversity.in::80f66336-7476-4794-88c7-cff6f9eee3df" providerId="AD" clId="Web-{CB127162-A7EB-9528-57EE-BBE8106ACD9F}" dt="2025-01-10T17:01:46.213" v="310" actId="20577"/>
          <ac:spMkLst>
            <pc:docMk/>
            <pc:sldMk cId="625028038" sldId="274"/>
            <ac:spMk id="3" creationId="{9E497EE5-4EC3-5F57-E167-FD11551A4D0C}"/>
          </ac:spMkLst>
        </pc:spChg>
      </pc:sldChg>
      <pc:sldChg chg="modSp">
        <pc:chgData name="K PAVAN KUAMR" userId="S::pavan.20211isd0027@presidencyuniversity.in::80f66336-7476-4794-88c7-cff6f9eee3df" providerId="AD" clId="Web-{CB127162-A7EB-9528-57EE-BBE8106ACD9F}" dt="2025-01-10T17:03:40.387" v="339" actId="20577"/>
        <pc:sldMkLst>
          <pc:docMk/>
          <pc:sldMk cId="960813345" sldId="275"/>
        </pc:sldMkLst>
        <pc:spChg chg="mod">
          <ac:chgData name="K PAVAN KUAMR" userId="S::pavan.20211isd0027@presidencyuniversity.in::80f66336-7476-4794-88c7-cff6f9eee3df" providerId="AD" clId="Web-{CB127162-A7EB-9528-57EE-BBE8106ACD9F}" dt="2025-01-10T17:03:40.387" v="339" actId="20577"/>
          <ac:spMkLst>
            <pc:docMk/>
            <pc:sldMk cId="960813345" sldId="275"/>
            <ac:spMk id="3" creationId="{B735D084-C80F-5855-1BE5-B07ECD339AE9}"/>
          </ac:spMkLst>
        </pc:spChg>
      </pc:sldChg>
      <pc:sldChg chg="modSp">
        <pc:chgData name="K PAVAN KUAMR" userId="S::pavan.20211isd0027@presidencyuniversity.in::80f66336-7476-4794-88c7-cff6f9eee3df" providerId="AD" clId="Web-{CB127162-A7EB-9528-57EE-BBE8106ACD9F}" dt="2025-01-10T17:06:36.078" v="352" actId="20577"/>
        <pc:sldMkLst>
          <pc:docMk/>
          <pc:sldMk cId="2330238733" sldId="281"/>
        </pc:sldMkLst>
        <pc:spChg chg="mod">
          <ac:chgData name="K PAVAN KUAMR" userId="S::pavan.20211isd0027@presidencyuniversity.in::80f66336-7476-4794-88c7-cff6f9eee3df" providerId="AD" clId="Web-{CB127162-A7EB-9528-57EE-BBE8106ACD9F}" dt="2025-01-10T17:06:36.078" v="352" actId="20577"/>
          <ac:spMkLst>
            <pc:docMk/>
            <pc:sldMk cId="2330238733" sldId="281"/>
            <ac:spMk id="3" creationId="{E70756B0-BCB0-8A45-0F8D-963D91E59CF6}"/>
          </ac:spMkLst>
        </pc:spChg>
      </pc:sldChg>
      <pc:sldChg chg="modSp">
        <pc:chgData name="K PAVAN KUAMR" userId="S::pavan.20211isd0027@presidencyuniversity.in::80f66336-7476-4794-88c7-cff6f9eee3df" providerId="AD" clId="Web-{CB127162-A7EB-9528-57EE-BBE8106ACD9F}" dt="2025-01-10T16:58:41.551" v="300" actId="1076"/>
        <pc:sldMkLst>
          <pc:docMk/>
          <pc:sldMk cId="3674564123" sldId="282"/>
        </pc:sldMkLst>
        <pc:spChg chg="mod">
          <ac:chgData name="K PAVAN KUAMR" userId="S::pavan.20211isd0027@presidencyuniversity.in::80f66336-7476-4794-88c7-cff6f9eee3df" providerId="AD" clId="Web-{CB127162-A7EB-9528-57EE-BBE8106ACD9F}" dt="2025-01-10T16:58:38.301" v="299" actId="20577"/>
          <ac:spMkLst>
            <pc:docMk/>
            <pc:sldMk cId="3674564123" sldId="282"/>
            <ac:spMk id="8" creationId="{F465F82C-0515-F7FD-B227-3B660D660649}"/>
          </ac:spMkLst>
        </pc:spChg>
        <pc:picChg chg="mod">
          <ac:chgData name="K PAVAN KUAMR" userId="S::pavan.20211isd0027@presidencyuniversity.in::80f66336-7476-4794-88c7-cff6f9eee3df" providerId="AD" clId="Web-{CB127162-A7EB-9528-57EE-BBE8106ACD9F}" dt="2025-01-10T16:58:41.551" v="300" actId="1076"/>
          <ac:picMkLst>
            <pc:docMk/>
            <pc:sldMk cId="3674564123" sldId="282"/>
            <ac:picMk id="7" creationId="{CF607A7E-9559-267E-D046-3DCBC94E95AC}"/>
          </ac:picMkLst>
        </pc:picChg>
      </pc:sldChg>
      <pc:sldChg chg="addSp delSp modSp">
        <pc:chgData name="K PAVAN KUAMR" userId="S::pavan.20211isd0027@presidencyuniversity.in::80f66336-7476-4794-88c7-cff6f9eee3df" providerId="AD" clId="Web-{CB127162-A7EB-9528-57EE-BBE8106ACD9F}" dt="2025-01-10T16:56:31.829" v="278" actId="1076"/>
        <pc:sldMkLst>
          <pc:docMk/>
          <pc:sldMk cId="2827052769" sldId="285"/>
        </pc:sldMkLst>
        <pc:picChg chg="add mod">
          <ac:chgData name="K PAVAN KUAMR" userId="S::pavan.20211isd0027@presidencyuniversity.in::80f66336-7476-4794-88c7-cff6f9eee3df" providerId="AD" clId="Web-{CB127162-A7EB-9528-57EE-BBE8106ACD9F}" dt="2025-01-10T16:56:31.829" v="278" actId="1076"/>
          <ac:picMkLst>
            <pc:docMk/>
            <pc:sldMk cId="2827052769" sldId="285"/>
            <ac:picMk id="2" creationId="{116071C5-2D5D-53BB-037B-71E0EB06AE50}"/>
          </ac:picMkLst>
        </pc:picChg>
        <pc:picChg chg="del mod">
          <ac:chgData name="K PAVAN KUAMR" userId="S::pavan.20211isd0027@presidencyuniversity.in::80f66336-7476-4794-88c7-cff6f9eee3df" providerId="AD" clId="Web-{CB127162-A7EB-9528-57EE-BBE8106ACD9F}" dt="2025-01-10T16:55:06.640" v="265"/>
          <ac:picMkLst>
            <pc:docMk/>
            <pc:sldMk cId="2827052769" sldId="285"/>
            <ac:picMk id="5" creationId="{FC72EB1C-C581-5742-CB24-343C2BA1C150}"/>
          </ac:picMkLst>
        </pc:picChg>
      </pc:sldChg>
    </pc:docChg>
  </pc:docChgLst>
  <pc:docChgLst>
    <pc:chgData name="K PAVAN KUAMR" userId="S::pavan.20211isd0027@presidencyuniversity.in::80f66336-7476-4794-88c7-cff6f9eee3df" providerId="AD" clId="Web-{DA5AC460-7A0D-4D60-D1C0-730EBDA9DD8A}"/>
    <pc:docChg chg="addSld delSld modSld">
      <pc:chgData name="K PAVAN KUAMR" userId="S::pavan.20211isd0027@presidencyuniversity.in::80f66336-7476-4794-88c7-cff6f9eee3df" providerId="AD" clId="Web-{DA5AC460-7A0D-4D60-D1C0-730EBDA9DD8A}" dt="2025-01-10T16:33:06.833" v="699" actId="1076"/>
      <pc:docMkLst>
        <pc:docMk/>
      </pc:docMkLst>
      <pc:sldChg chg="addSp modSp mod modClrScheme chgLayout">
        <pc:chgData name="K PAVAN KUAMR" userId="S::pavan.20211isd0027@presidencyuniversity.in::80f66336-7476-4794-88c7-cff6f9eee3df" providerId="AD" clId="Web-{DA5AC460-7A0D-4D60-D1C0-730EBDA9DD8A}" dt="2025-01-10T09:18:51.801" v="123" actId="20577"/>
        <pc:sldMkLst>
          <pc:docMk/>
          <pc:sldMk cId="0" sldId="258"/>
        </pc:sldMkLst>
        <pc:spChg chg="mod ord">
          <ac:chgData name="K PAVAN KUAMR" userId="S::pavan.20211isd0027@presidencyuniversity.in::80f66336-7476-4794-88c7-cff6f9eee3df" providerId="AD" clId="Web-{DA5AC460-7A0D-4D60-D1C0-730EBDA9DD8A}" dt="2025-01-10T09:13:43.873" v="17"/>
          <ac:spMkLst>
            <pc:docMk/>
            <pc:sldMk cId="0" sldId="258"/>
            <ac:spMk id="2" creationId="{00000000-0000-0000-0000-000000000000}"/>
          </ac:spMkLst>
        </pc:spChg>
        <pc:spChg chg="add mod ord">
          <ac:chgData name="K PAVAN KUAMR" userId="S::pavan.20211isd0027@presidencyuniversity.in::80f66336-7476-4794-88c7-cff6f9eee3df" providerId="AD" clId="Web-{DA5AC460-7A0D-4D60-D1C0-730EBDA9DD8A}" dt="2025-01-10T09:18:51.801" v="123" actId="20577"/>
          <ac:spMkLst>
            <pc:docMk/>
            <pc:sldMk cId="0" sldId="258"/>
            <ac:spMk id="3" creationId="{B735D084-C80F-5855-1BE5-B07ECD339AE9}"/>
          </ac:spMkLst>
        </pc:spChg>
      </pc:sldChg>
      <pc:sldChg chg="addSp delSp modSp">
        <pc:chgData name="K PAVAN KUAMR" userId="S::pavan.20211isd0027@presidencyuniversity.in::80f66336-7476-4794-88c7-cff6f9eee3df" providerId="AD" clId="Web-{DA5AC460-7A0D-4D60-D1C0-730EBDA9DD8A}" dt="2025-01-10T09:30:48.378" v="213"/>
        <pc:sldMkLst>
          <pc:docMk/>
          <pc:sldMk cId="0" sldId="259"/>
        </pc:sldMkLst>
        <pc:spChg chg="add del">
          <ac:chgData name="K PAVAN KUAMR" userId="S::pavan.20211isd0027@presidencyuniversity.in::80f66336-7476-4794-88c7-cff6f9eee3df" providerId="AD" clId="Web-{DA5AC460-7A0D-4D60-D1C0-730EBDA9DD8A}" dt="2025-01-10T09:24:10.479" v="125"/>
          <ac:spMkLst>
            <pc:docMk/>
            <pc:sldMk cId="0" sldId="259"/>
            <ac:spMk id="3" creationId="{8FD0C3ED-C4B8-17AE-3780-A50833B5E74E}"/>
          </ac:spMkLst>
        </pc:spChg>
        <pc:graphicFrameChg chg="add del modGraphic">
          <ac:chgData name="K PAVAN KUAMR" userId="S::pavan.20211isd0027@presidencyuniversity.in::80f66336-7476-4794-88c7-cff6f9eee3df" providerId="AD" clId="Web-{DA5AC460-7A0D-4D60-D1C0-730EBDA9DD8A}" dt="2025-01-10T09:24:43.527" v="130"/>
          <ac:graphicFrameMkLst>
            <pc:docMk/>
            <pc:sldMk cId="0" sldId="259"/>
            <ac:graphicFrameMk id="4" creationId="{2A7684A0-BE3C-E384-D7C0-1BD4697DEC65}"/>
          </ac:graphicFrameMkLst>
        </pc:graphicFrameChg>
        <pc:graphicFrameChg chg="add del mod modGraphic">
          <ac:chgData name="K PAVAN KUAMR" userId="S::pavan.20211isd0027@presidencyuniversity.in::80f66336-7476-4794-88c7-cff6f9eee3df" providerId="AD" clId="Web-{DA5AC460-7A0D-4D60-D1C0-730EBDA9DD8A}" dt="2025-01-10T09:30:48.378" v="213"/>
          <ac:graphicFrameMkLst>
            <pc:docMk/>
            <pc:sldMk cId="0" sldId="259"/>
            <ac:graphicFrameMk id="5" creationId="{B6551F58-7ADA-6002-3FD4-B0DD89621D48}"/>
          </ac:graphicFrameMkLst>
        </pc:graphicFrameChg>
      </pc:sldChg>
      <pc:sldChg chg="addSp modSp mod modClrScheme chgLayout">
        <pc:chgData name="K PAVAN KUAMR" userId="S::pavan.20211isd0027@presidencyuniversity.in::80f66336-7476-4794-88c7-cff6f9eee3df" providerId="AD" clId="Web-{DA5AC460-7A0D-4D60-D1C0-730EBDA9DD8A}" dt="2025-01-10T09:50:47.762" v="497" actId="20577"/>
        <pc:sldMkLst>
          <pc:docMk/>
          <pc:sldMk cId="0" sldId="260"/>
        </pc:sldMkLst>
        <pc:spChg chg="mod ord">
          <ac:chgData name="K PAVAN KUAMR" userId="S::pavan.20211isd0027@presidencyuniversity.in::80f66336-7476-4794-88c7-cff6f9eee3df" providerId="AD" clId="Web-{DA5AC460-7A0D-4D60-D1C0-730EBDA9DD8A}" dt="2025-01-10T09:46:43.398" v="462"/>
          <ac:spMkLst>
            <pc:docMk/>
            <pc:sldMk cId="0" sldId="260"/>
            <ac:spMk id="2" creationId="{00000000-0000-0000-0000-000000000000}"/>
          </ac:spMkLst>
        </pc:spChg>
        <pc:spChg chg="add mod ord">
          <ac:chgData name="K PAVAN KUAMR" userId="S::pavan.20211isd0027@presidencyuniversity.in::80f66336-7476-4794-88c7-cff6f9eee3df" providerId="AD" clId="Web-{DA5AC460-7A0D-4D60-D1C0-730EBDA9DD8A}" dt="2025-01-10T09:50:47.762" v="497" actId="20577"/>
          <ac:spMkLst>
            <pc:docMk/>
            <pc:sldMk cId="0" sldId="260"/>
            <ac:spMk id="3" creationId="{F6597441-2FEC-432D-6F55-17397E825457}"/>
          </ac:spMkLst>
        </pc:spChg>
      </pc:sldChg>
      <pc:sldChg chg="addSp modSp mod modClrScheme chgLayout">
        <pc:chgData name="K PAVAN KUAMR" userId="S::pavan.20211isd0027@presidencyuniversity.in::80f66336-7476-4794-88c7-cff6f9eee3df" providerId="AD" clId="Web-{DA5AC460-7A0D-4D60-D1C0-730EBDA9DD8A}" dt="2025-01-10T09:43:49.925" v="461" actId="20577"/>
        <pc:sldMkLst>
          <pc:docMk/>
          <pc:sldMk cId="0" sldId="261"/>
        </pc:sldMkLst>
        <pc:spChg chg="mod ord">
          <ac:chgData name="K PAVAN KUAMR" userId="S::pavan.20211isd0027@presidencyuniversity.in::80f66336-7476-4794-88c7-cff6f9eee3df" providerId="AD" clId="Web-{DA5AC460-7A0D-4D60-D1C0-730EBDA9DD8A}" dt="2025-01-10T09:41:46.923" v="403"/>
          <ac:spMkLst>
            <pc:docMk/>
            <pc:sldMk cId="0" sldId="261"/>
            <ac:spMk id="2" creationId="{00000000-0000-0000-0000-000000000000}"/>
          </ac:spMkLst>
        </pc:spChg>
        <pc:spChg chg="add mod ord">
          <ac:chgData name="K PAVAN KUAMR" userId="S::pavan.20211isd0027@presidencyuniversity.in::80f66336-7476-4794-88c7-cff6f9eee3df" providerId="AD" clId="Web-{DA5AC460-7A0D-4D60-D1C0-730EBDA9DD8A}" dt="2025-01-10T09:43:49.925" v="461" actId="20577"/>
          <ac:spMkLst>
            <pc:docMk/>
            <pc:sldMk cId="0" sldId="261"/>
            <ac:spMk id="3" creationId="{084694B6-337A-7C60-B402-69E046F85147}"/>
          </ac:spMkLst>
        </pc:spChg>
      </pc:sldChg>
      <pc:sldChg chg="addSp modSp mod modClrScheme chgLayout">
        <pc:chgData name="K PAVAN KUAMR" userId="S::pavan.20211isd0027@presidencyuniversity.in::80f66336-7476-4794-88c7-cff6f9eee3df" providerId="AD" clId="Web-{DA5AC460-7A0D-4D60-D1C0-730EBDA9DD8A}" dt="2025-01-10T10:00:39.461" v="525" actId="20577"/>
        <pc:sldMkLst>
          <pc:docMk/>
          <pc:sldMk cId="0" sldId="262"/>
        </pc:sldMkLst>
        <pc:spChg chg="mod ord">
          <ac:chgData name="K PAVAN KUAMR" userId="S::pavan.20211isd0027@presidencyuniversity.in::80f66336-7476-4794-88c7-cff6f9eee3df" providerId="AD" clId="Web-{DA5AC460-7A0D-4D60-D1C0-730EBDA9DD8A}" dt="2025-01-10T09:55:28.486" v="498"/>
          <ac:spMkLst>
            <pc:docMk/>
            <pc:sldMk cId="0" sldId="262"/>
            <ac:spMk id="2" creationId="{00000000-0000-0000-0000-000000000000}"/>
          </ac:spMkLst>
        </pc:spChg>
        <pc:spChg chg="add mod ord">
          <ac:chgData name="K PAVAN KUAMR" userId="S::pavan.20211isd0027@presidencyuniversity.in::80f66336-7476-4794-88c7-cff6f9eee3df" providerId="AD" clId="Web-{DA5AC460-7A0D-4D60-D1C0-730EBDA9DD8A}" dt="2025-01-10T10:00:39.461" v="525" actId="20577"/>
          <ac:spMkLst>
            <pc:docMk/>
            <pc:sldMk cId="0" sldId="262"/>
            <ac:spMk id="3" creationId="{E70756B0-BCB0-8A45-0F8D-963D91E59CF6}"/>
          </ac:spMkLst>
        </pc:spChg>
      </pc:sldChg>
      <pc:sldChg chg="addSp delSp modSp">
        <pc:chgData name="K PAVAN KUAMR" userId="S::pavan.20211isd0027@presidencyuniversity.in::80f66336-7476-4794-88c7-cff6f9eee3df" providerId="AD" clId="Web-{DA5AC460-7A0D-4D60-D1C0-730EBDA9DD8A}" dt="2025-01-10T16:30:25.254" v="691" actId="14100"/>
        <pc:sldMkLst>
          <pc:docMk/>
          <pc:sldMk cId="0" sldId="263"/>
        </pc:sldMkLst>
        <pc:picChg chg="add del mod">
          <ac:chgData name="K PAVAN KUAMR" userId="S::pavan.20211isd0027@presidencyuniversity.in::80f66336-7476-4794-88c7-cff6f9eee3df" providerId="AD" clId="Web-{DA5AC460-7A0D-4D60-D1C0-730EBDA9DD8A}" dt="2025-01-10T16:29:21.175" v="679"/>
          <ac:picMkLst>
            <pc:docMk/>
            <pc:sldMk cId="0" sldId="263"/>
            <ac:picMk id="3" creationId="{0FA6399C-AB27-D521-31E9-9AD2999D9DD9}"/>
          </ac:picMkLst>
        </pc:picChg>
        <pc:picChg chg="add mod">
          <ac:chgData name="K PAVAN KUAMR" userId="S::pavan.20211isd0027@presidencyuniversity.in::80f66336-7476-4794-88c7-cff6f9eee3df" providerId="AD" clId="Web-{DA5AC460-7A0D-4D60-D1C0-730EBDA9DD8A}" dt="2025-01-10T16:30:25.254" v="691" actId="14100"/>
          <ac:picMkLst>
            <pc:docMk/>
            <pc:sldMk cId="0" sldId="263"/>
            <ac:picMk id="4" creationId="{66592EF3-2B9B-8898-BDF7-319A5D9332DC}"/>
          </ac:picMkLst>
        </pc:picChg>
      </pc:sldChg>
      <pc:sldChg chg="addSp modSp mod modClrScheme chgLayout">
        <pc:chgData name="K PAVAN KUAMR" userId="S::pavan.20211isd0027@presidencyuniversity.in::80f66336-7476-4794-88c7-cff6f9eee3df" providerId="AD" clId="Web-{DA5AC460-7A0D-4D60-D1C0-730EBDA9DD8A}" dt="2025-01-10T15:49:18.802" v="611" actId="20577"/>
        <pc:sldMkLst>
          <pc:docMk/>
          <pc:sldMk cId="0" sldId="264"/>
        </pc:sldMkLst>
        <pc:spChg chg="mod ord">
          <ac:chgData name="K PAVAN KUAMR" userId="S::pavan.20211isd0027@presidencyuniversity.in::80f66336-7476-4794-88c7-cff6f9eee3df" providerId="AD" clId="Web-{DA5AC460-7A0D-4D60-D1C0-730EBDA9DD8A}" dt="2025-01-10T15:45:11.360" v="587"/>
          <ac:spMkLst>
            <pc:docMk/>
            <pc:sldMk cId="0" sldId="264"/>
            <ac:spMk id="2" creationId="{00000000-0000-0000-0000-000000000000}"/>
          </ac:spMkLst>
        </pc:spChg>
        <pc:spChg chg="add mod ord">
          <ac:chgData name="K PAVAN KUAMR" userId="S::pavan.20211isd0027@presidencyuniversity.in::80f66336-7476-4794-88c7-cff6f9eee3df" providerId="AD" clId="Web-{DA5AC460-7A0D-4D60-D1C0-730EBDA9DD8A}" dt="2025-01-10T15:49:18.802" v="611" actId="20577"/>
          <ac:spMkLst>
            <pc:docMk/>
            <pc:sldMk cId="0" sldId="264"/>
            <ac:spMk id="3" creationId="{FE158228-CDD3-C784-4103-03F70CE05835}"/>
          </ac:spMkLst>
        </pc:spChg>
      </pc:sldChg>
      <pc:sldChg chg="addSp modSp mod modClrScheme chgLayout">
        <pc:chgData name="K PAVAN KUAMR" userId="S::pavan.20211isd0027@presidencyuniversity.in::80f66336-7476-4794-88c7-cff6f9eee3df" providerId="AD" clId="Web-{DA5AC460-7A0D-4D60-D1C0-730EBDA9DD8A}" dt="2025-01-10T15:52:21.039" v="621" actId="1076"/>
        <pc:sldMkLst>
          <pc:docMk/>
          <pc:sldMk cId="0" sldId="265"/>
        </pc:sldMkLst>
        <pc:spChg chg="mod ord">
          <ac:chgData name="K PAVAN KUAMR" userId="S::pavan.20211isd0027@presidencyuniversity.in::80f66336-7476-4794-88c7-cff6f9eee3df" providerId="AD" clId="Web-{DA5AC460-7A0D-4D60-D1C0-730EBDA9DD8A}" dt="2025-01-10T15:52:21.039" v="621" actId="1076"/>
          <ac:spMkLst>
            <pc:docMk/>
            <pc:sldMk cId="0" sldId="265"/>
            <ac:spMk id="2" creationId="{00000000-0000-0000-0000-000000000000}"/>
          </ac:spMkLst>
        </pc:spChg>
        <pc:spChg chg="add mod ord">
          <ac:chgData name="K PAVAN KUAMR" userId="S::pavan.20211isd0027@presidencyuniversity.in::80f66336-7476-4794-88c7-cff6f9eee3df" providerId="AD" clId="Web-{DA5AC460-7A0D-4D60-D1C0-730EBDA9DD8A}" dt="2025-01-10T15:52:14.258" v="620" actId="1076"/>
          <ac:spMkLst>
            <pc:docMk/>
            <pc:sldMk cId="0" sldId="265"/>
            <ac:spMk id="3" creationId="{3AA24E08-FC8F-DB2F-6B16-C54C911F2D39}"/>
          </ac:spMkLst>
        </pc:spChg>
      </pc:sldChg>
      <pc:sldChg chg="addSp modSp mod modClrScheme chgLayout">
        <pc:chgData name="K PAVAN KUAMR" userId="S::pavan.20211isd0027@presidencyuniversity.in::80f66336-7476-4794-88c7-cff6f9eee3df" providerId="AD" clId="Web-{DA5AC460-7A0D-4D60-D1C0-730EBDA9DD8A}" dt="2025-01-10T15:53:43.822" v="640" actId="20577"/>
        <pc:sldMkLst>
          <pc:docMk/>
          <pc:sldMk cId="0" sldId="266"/>
        </pc:sldMkLst>
        <pc:spChg chg="mod ord">
          <ac:chgData name="K PAVAN KUAMR" userId="S::pavan.20211isd0027@presidencyuniversity.in::80f66336-7476-4794-88c7-cff6f9eee3df" providerId="AD" clId="Web-{DA5AC460-7A0D-4D60-D1C0-730EBDA9DD8A}" dt="2025-01-10T15:53:02.728" v="623"/>
          <ac:spMkLst>
            <pc:docMk/>
            <pc:sldMk cId="0" sldId="266"/>
            <ac:spMk id="2" creationId="{00000000-0000-0000-0000-000000000000}"/>
          </ac:spMkLst>
        </pc:spChg>
        <pc:spChg chg="add mod ord">
          <ac:chgData name="K PAVAN KUAMR" userId="S::pavan.20211isd0027@presidencyuniversity.in::80f66336-7476-4794-88c7-cff6f9eee3df" providerId="AD" clId="Web-{DA5AC460-7A0D-4D60-D1C0-730EBDA9DD8A}" dt="2025-01-10T15:53:43.822" v="640" actId="20577"/>
          <ac:spMkLst>
            <pc:docMk/>
            <pc:sldMk cId="0" sldId="266"/>
            <ac:spMk id="3" creationId="{9C93712B-1215-E889-2DE4-C196E6145B48}"/>
          </ac:spMkLst>
        </pc:spChg>
      </pc:sldChg>
      <pc:sldChg chg="addSp delSp modSp mod modClrScheme chgLayout">
        <pc:chgData name="K PAVAN KUAMR" userId="S::pavan.20211isd0027@presidencyuniversity.in::80f66336-7476-4794-88c7-cff6f9eee3df" providerId="AD" clId="Web-{DA5AC460-7A0D-4D60-D1C0-730EBDA9DD8A}" dt="2025-01-10T09:11:13.807" v="16" actId="20577"/>
        <pc:sldMkLst>
          <pc:docMk/>
          <pc:sldMk cId="625028038" sldId="274"/>
        </pc:sldMkLst>
        <pc:spChg chg="add del mod ord">
          <ac:chgData name="K PAVAN KUAMR" userId="S::pavan.20211isd0027@presidencyuniversity.in::80f66336-7476-4794-88c7-cff6f9eee3df" providerId="AD" clId="Web-{DA5AC460-7A0D-4D60-D1C0-730EBDA9DD8A}" dt="2025-01-10T09:10:12.994" v="8"/>
          <ac:spMkLst>
            <pc:docMk/>
            <pc:sldMk cId="625028038" sldId="274"/>
            <ac:spMk id="2" creationId="{907CD89F-31D0-53A2-BBE9-FED672A677CB}"/>
          </ac:spMkLst>
        </pc:spChg>
        <pc:spChg chg="add mod ord">
          <ac:chgData name="K PAVAN KUAMR" userId="S::pavan.20211isd0027@presidencyuniversity.in::80f66336-7476-4794-88c7-cff6f9eee3df" providerId="AD" clId="Web-{DA5AC460-7A0D-4D60-D1C0-730EBDA9DD8A}" dt="2025-01-10T09:11:13.807" v="16" actId="20577"/>
          <ac:spMkLst>
            <pc:docMk/>
            <pc:sldMk cId="625028038" sldId="274"/>
            <ac:spMk id="3" creationId="{9E497EE5-4EC3-5F57-E167-FD11551A4D0C}"/>
          </ac:spMkLst>
        </pc:spChg>
        <pc:spChg chg="del mod">
          <ac:chgData name="K PAVAN KUAMR" userId="S::pavan.20211isd0027@presidencyuniversity.in::80f66336-7476-4794-88c7-cff6f9eee3df" providerId="AD" clId="Web-{DA5AC460-7A0D-4D60-D1C0-730EBDA9DD8A}" dt="2025-01-10T09:07:44.522" v="2"/>
          <ac:spMkLst>
            <pc:docMk/>
            <pc:sldMk cId="625028038" sldId="274"/>
            <ac:spMk id="5" creationId="{476BA344-EAD2-6231-ECF6-923925D9FBC5}"/>
          </ac:spMkLst>
        </pc:spChg>
      </pc:sldChg>
      <pc:sldChg chg="addSp delSp modSp add replId">
        <pc:chgData name="K PAVAN KUAMR" userId="S::pavan.20211isd0027@presidencyuniversity.in::80f66336-7476-4794-88c7-cff6f9eee3df" providerId="AD" clId="Web-{DA5AC460-7A0D-4D60-D1C0-730EBDA9DD8A}" dt="2025-01-10T10:01:48.025" v="554" actId="20577"/>
        <pc:sldMkLst>
          <pc:docMk/>
          <pc:sldMk cId="960813345" sldId="275"/>
        </pc:sldMkLst>
        <pc:spChg chg="del">
          <ac:chgData name="K PAVAN KUAMR" userId="S::pavan.20211isd0027@presidencyuniversity.in::80f66336-7476-4794-88c7-cff6f9eee3df" providerId="AD" clId="Web-{DA5AC460-7A0D-4D60-D1C0-730EBDA9DD8A}" dt="2025-01-10T09:14:34.624" v="24"/>
          <ac:spMkLst>
            <pc:docMk/>
            <pc:sldMk cId="960813345" sldId="275"/>
            <ac:spMk id="2" creationId="{00000000-0000-0000-0000-000000000000}"/>
          </ac:spMkLst>
        </pc:spChg>
        <pc:spChg chg="mod">
          <ac:chgData name="K PAVAN KUAMR" userId="S::pavan.20211isd0027@presidencyuniversity.in::80f66336-7476-4794-88c7-cff6f9eee3df" providerId="AD" clId="Web-{DA5AC460-7A0D-4D60-D1C0-730EBDA9DD8A}" dt="2025-01-10T10:01:48.025" v="554" actId="20577"/>
          <ac:spMkLst>
            <pc:docMk/>
            <pc:sldMk cId="960813345" sldId="275"/>
            <ac:spMk id="3" creationId="{B735D084-C80F-5855-1BE5-B07ECD339AE9}"/>
          </ac:spMkLst>
        </pc:spChg>
        <pc:spChg chg="add del mod">
          <ac:chgData name="K PAVAN KUAMR" userId="S::pavan.20211isd0027@presidencyuniversity.in::80f66336-7476-4794-88c7-cff6f9eee3df" providerId="AD" clId="Web-{DA5AC460-7A0D-4D60-D1C0-730EBDA9DD8A}" dt="2025-01-10T09:14:38.952" v="25"/>
          <ac:spMkLst>
            <pc:docMk/>
            <pc:sldMk cId="960813345" sldId="275"/>
            <ac:spMk id="5" creationId="{F4DBB03E-1766-A8F3-9DAC-675B8DABB2FF}"/>
          </ac:spMkLst>
        </pc:spChg>
      </pc:sldChg>
      <pc:sldChg chg="modSp add replId">
        <pc:chgData name="K PAVAN KUAMR" userId="S::pavan.20211isd0027@presidencyuniversity.in::80f66336-7476-4794-88c7-cff6f9eee3df" providerId="AD" clId="Web-{DA5AC460-7A0D-4D60-D1C0-730EBDA9DD8A}" dt="2025-01-10T10:01:14.243" v="533" actId="20577"/>
        <pc:sldMkLst>
          <pc:docMk/>
          <pc:sldMk cId="4189602342" sldId="276"/>
        </pc:sldMkLst>
        <pc:spChg chg="mod">
          <ac:chgData name="K PAVAN KUAMR" userId="S::pavan.20211isd0027@presidencyuniversity.in::80f66336-7476-4794-88c7-cff6f9eee3df" providerId="AD" clId="Web-{DA5AC460-7A0D-4D60-D1C0-730EBDA9DD8A}" dt="2025-01-10T10:01:14.243" v="533" actId="20577"/>
          <ac:spMkLst>
            <pc:docMk/>
            <pc:sldMk cId="4189602342" sldId="276"/>
            <ac:spMk id="3" creationId="{B735D084-C80F-5855-1BE5-B07ECD339AE9}"/>
          </ac:spMkLst>
        </pc:spChg>
      </pc:sldChg>
      <pc:sldChg chg="delSp modSp add replId">
        <pc:chgData name="K PAVAN KUAMR" userId="S::pavan.20211isd0027@presidencyuniversity.in::80f66336-7476-4794-88c7-cff6f9eee3df" providerId="AD" clId="Web-{DA5AC460-7A0D-4D60-D1C0-730EBDA9DD8A}" dt="2025-01-10T09:37:56.074" v="331"/>
        <pc:sldMkLst>
          <pc:docMk/>
          <pc:sldMk cId="3702727373" sldId="277"/>
        </pc:sldMkLst>
        <pc:spChg chg="del mod">
          <ac:chgData name="K PAVAN KUAMR" userId="S::pavan.20211isd0027@presidencyuniversity.in::80f66336-7476-4794-88c7-cff6f9eee3df" providerId="AD" clId="Web-{DA5AC460-7A0D-4D60-D1C0-730EBDA9DD8A}" dt="2025-01-10T09:31:04.050" v="217"/>
          <ac:spMkLst>
            <pc:docMk/>
            <pc:sldMk cId="3702727373" sldId="277"/>
            <ac:spMk id="2" creationId="{00000000-0000-0000-0000-000000000000}"/>
          </ac:spMkLst>
        </pc:spChg>
        <pc:graphicFrameChg chg="mod modGraphic">
          <ac:chgData name="K PAVAN KUAMR" userId="S::pavan.20211isd0027@presidencyuniversity.in::80f66336-7476-4794-88c7-cff6f9eee3df" providerId="AD" clId="Web-{DA5AC460-7A0D-4D60-D1C0-730EBDA9DD8A}" dt="2025-01-10T09:37:56.074" v="331"/>
          <ac:graphicFrameMkLst>
            <pc:docMk/>
            <pc:sldMk cId="3702727373" sldId="277"/>
            <ac:graphicFrameMk id="5" creationId="{B6551F58-7ADA-6002-3FD4-B0DD89621D48}"/>
          </ac:graphicFrameMkLst>
        </pc:graphicFrameChg>
      </pc:sldChg>
      <pc:sldChg chg="delSp modSp add replId">
        <pc:chgData name="K PAVAN KUAMR" userId="S::pavan.20211isd0027@presidencyuniversity.in::80f66336-7476-4794-88c7-cff6f9eee3df" providerId="AD" clId="Web-{DA5AC460-7A0D-4D60-D1C0-730EBDA9DD8A}" dt="2025-01-10T09:40:51.640" v="402"/>
        <pc:sldMkLst>
          <pc:docMk/>
          <pc:sldMk cId="857192623" sldId="278"/>
        </pc:sldMkLst>
        <pc:spChg chg="del mod">
          <ac:chgData name="K PAVAN KUAMR" userId="S::pavan.20211isd0027@presidencyuniversity.in::80f66336-7476-4794-88c7-cff6f9eee3df" providerId="AD" clId="Web-{DA5AC460-7A0D-4D60-D1C0-730EBDA9DD8A}" dt="2025-01-10T09:38:21.091" v="333"/>
          <ac:spMkLst>
            <pc:docMk/>
            <pc:sldMk cId="857192623" sldId="278"/>
            <ac:spMk id="2" creationId="{00000000-0000-0000-0000-000000000000}"/>
          </ac:spMkLst>
        </pc:spChg>
        <pc:graphicFrameChg chg="mod modGraphic">
          <ac:chgData name="K PAVAN KUAMR" userId="S::pavan.20211isd0027@presidencyuniversity.in::80f66336-7476-4794-88c7-cff6f9eee3df" providerId="AD" clId="Web-{DA5AC460-7A0D-4D60-D1C0-730EBDA9DD8A}" dt="2025-01-10T09:40:51.640" v="402"/>
          <ac:graphicFrameMkLst>
            <pc:docMk/>
            <pc:sldMk cId="857192623" sldId="278"/>
            <ac:graphicFrameMk id="5" creationId="{B6551F58-7ADA-6002-3FD4-B0DD89621D48}"/>
          </ac:graphicFrameMkLst>
        </pc:graphicFrameChg>
      </pc:sldChg>
      <pc:sldChg chg="delSp modSp add replId">
        <pc:chgData name="K PAVAN KUAMR" userId="S::pavan.20211isd0027@presidencyuniversity.in::80f66336-7476-4794-88c7-cff6f9eee3df" providerId="AD" clId="Web-{DA5AC460-7A0D-4D60-D1C0-730EBDA9DD8A}" dt="2025-01-10T09:49:58.995" v="491" actId="20577"/>
        <pc:sldMkLst>
          <pc:docMk/>
          <pc:sldMk cId="1161365982" sldId="279"/>
        </pc:sldMkLst>
        <pc:spChg chg="del mod">
          <ac:chgData name="K PAVAN KUAMR" userId="S::pavan.20211isd0027@presidencyuniversity.in::80f66336-7476-4794-88c7-cff6f9eee3df" providerId="AD" clId="Web-{DA5AC460-7A0D-4D60-D1C0-730EBDA9DD8A}" dt="2025-01-10T09:47:54.102" v="475"/>
          <ac:spMkLst>
            <pc:docMk/>
            <pc:sldMk cId="1161365982" sldId="279"/>
            <ac:spMk id="2" creationId="{00000000-0000-0000-0000-000000000000}"/>
          </ac:spMkLst>
        </pc:spChg>
        <pc:spChg chg="mod">
          <ac:chgData name="K PAVAN KUAMR" userId="S::pavan.20211isd0027@presidencyuniversity.in::80f66336-7476-4794-88c7-cff6f9eee3df" providerId="AD" clId="Web-{DA5AC460-7A0D-4D60-D1C0-730EBDA9DD8A}" dt="2025-01-10T09:49:58.995" v="491" actId="20577"/>
          <ac:spMkLst>
            <pc:docMk/>
            <pc:sldMk cId="1161365982" sldId="279"/>
            <ac:spMk id="3" creationId="{F6597441-2FEC-432D-6F55-17397E825457}"/>
          </ac:spMkLst>
        </pc:spChg>
      </pc:sldChg>
      <pc:sldChg chg="addSp delSp modSp add del replId">
        <pc:chgData name="K PAVAN KUAMR" userId="S::pavan.20211isd0027@presidencyuniversity.in::80f66336-7476-4794-88c7-cff6f9eee3df" providerId="AD" clId="Web-{DA5AC460-7A0D-4D60-D1C0-730EBDA9DD8A}" dt="2025-01-10T15:36:39.914" v="561"/>
        <pc:sldMkLst>
          <pc:docMk/>
          <pc:sldMk cId="3319193769" sldId="280"/>
        </pc:sldMkLst>
        <pc:spChg chg="del mod">
          <ac:chgData name="K PAVAN KUAMR" userId="S::pavan.20211isd0027@presidencyuniversity.in::80f66336-7476-4794-88c7-cff6f9eee3df" providerId="AD" clId="Web-{DA5AC460-7A0D-4D60-D1C0-730EBDA9DD8A}" dt="2025-01-10T09:56:19.300" v="511"/>
          <ac:spMkLst>
            <pc:docMk/>
            <pc:sldMk cId="3319193769" sldId="280"/>
            <ac:spMk id="2" creationId="{00000000-0000-0000-0000-000000000000}"/>
          </ac:spMkLst>
        </pc:spChg>
        <pc:spChg chg="del mod">
          <ac:chgData name="K PAVAN KUAMR" userId="S::pavan.20211isd0027@presidencyuniversity.in::80f66336-7476-4794-88c7-cff6f9eee3df" providerId="AD" clId="Web-{DA5AC460-7A0D-4D60-D1C0-730EBDA9DD8A}" dt="2025-01-10T15:35:18.553" v="559"/>
          <ac:spMkLst>
            <pc:docMk/>
            <pc:sldMk cId="3319193769" sldId="280"/>
            <ac:spMk id="3" creationId="{E70756B0-BCB0-8A45-0F8D-963D91E59CF6}"/>
          </ac:spMkLst>
        </pc:spChg>
        <pc:spChg chg="add del mod">
          <ac:chgData name="K PAVAN KUAMR" userId="S::pavan.20211isd0027@presidencyuniversity.in::80f66336-7476-4794-88c7-cff6f9eee3df" providerId="AD" clId="Web-{DA5AC460-7A0D-4D60-D1C0-730EBDA9DD8A}" dt="2025-01-10T09:56:50.676" v="512"/>
          <ac:spMkLst>
            <pc:docMk/>
            <pc:sldMk cId="3319193769" sldId="280"/>
            <ac:spMk id="5" creationId="{B0591E95-49BC-B557-C741-1CECC6BC62D3}"/>
          </ac:spMkLst>
        </pc:spChg>
      </pc:sldChg>
      <pc:sldChg chg="modSp add replId">
        <pc:chgData name="K PAVAN KUAMR" userId="S::pavan.20211isd0027@presidencyuniversity.in::80f66336-7476-4794-88c7-cff6f9eee3df" providerId="AD" clId="Web-{DA5AC460-7A0D-4D60-D1C0-730EBDA9DD8A}" dt="2025-01-10T10:02:26.510" v="556" actId="1076"/>
        <pc:sldMkLst>
          <pc:docMk/>
          <pc:sldMk cId="2330238733" sldId="281"/>
        </pc:sldMkLst>
        <pc:spChg chg="mod">
          <ac:chgData name="K PAVAN KUAMR" userId="S::pavan.20211isd0027@presidencyuniversity.in::80f66336-7476-4794-88c7-cff6f9eee3df" providerId="AD" clId="Web-{DA5AC460-7A0D-4D60-D1C0-730EBDA9DD8A}" dt="2025-01-10T10:02:26.510" v="556" actId="1076"/>
          <ac:spMkLst>
            <pc:docMk/>
            <pc:sldMk cId="2330238733" sldId="281"/>
            <ac:spMk id="3" creationId="{E70756B0-BCB0-8A45-0F8D-963D91E59CF6}"/>
          </ac:spMkLst>
        </pc:spChg>
      </pc:sldChg>
      <pc:sldChg chg="addSp delSp modSp add mod replId modClrScheme chgLayout">
        <pc:chgData name="K PAVAN KUAMR" userId="S::pavan.20211isd0027@presidencyuniversity.in::80f66336-7476-4794-88c7-cff6f9eee3df" providerId="AD" clId="Web-{DA5AC460-7A0D-4D60-D1C0-730EBDA9DD8A}" dt="2025-01-10T15:40:42.590" v="586" actId="1076"/>
        <pc:sldMkLst>
          <pc:docMk/>
          <pc:sldMk cId="3674564123" sldId="282"/>
        </pc:sldMkLst>
        <pc:spChg chg="del mod">
          <ac:chgData name="K PAVAN KUAMR" userId="S::pavan.20211isd0027@presidencyuniversity.in::80f66336-7476-4794-88c7-cff6f9eee3df" providerId="AD" clId="Web-{DA5AC460-7A0D-4D60-D1C0-730EBDA9DD8A}" dt="2025-01-10T15:36:54.415" v="563"/>
          <ac:spMkLst>
            <pc:docMk/>
            <pc:sldMk cId="3674564123" sldId="282"/>
            <ac:spMk id="2" creationId="{00000000-0000-0000-0000-000000000000}"/>
          </ac:spMkLst>
        </pc:spChg>
        <pc:spChg chg="del mod">
          <ac:chgData name="K PAVAN KUAMR" userId="S::pavan.20211isd0027@presidencyuniversity.in::80f66336-7476-4794-88c7-cff6f9eee3df" providerId="AD" clId="Web-{DA5AC460-7A0D-4D60-D1C0-730EBDA9DD8A}" dt="2025-01-10T15:38:43.604" v="567"/>
          <ac:spMkLst>
            <pc:docMk/>
            <pc:sldMk cId="3674564123" sldId="282"/>
            <ac:spMk id="3" creationId="{E70756B0-BCB0-8A45-0F8D-963D91E59CF6}"/>
          </ac:spMkLst>
        </pc:spChg>
        <pc:spChg chg="add del mod">
          <ac:chgData name="K PAVAN KUAMR" userId="S::pavan.20211isd0027@presidencyuniversity.in::80f66336-7476-4794-88c7-cff6f9eee3df" providerId="AD" clId="Web-{DA5AC460-7A0D-4D60-D1C0-730EBDA9DD8A}" dt="2025-01-10T15:39:34.698" v="574"/>
          <ac:spMkLst>
            <pc:docMk/>
            <pc:sldMk cId="3674564123" sldId="282"/>
            <ac:spMk id="4" creationId="{609AD68A-497F-BC7F-7AF4-8A17B41DE3D4}"/>
          </ac:spMkLst>
        </pc:spChg>
        <pc:spChg chg="add del mod">
          <ac:chgData name="K PAVAN KUAMR" userId="S::pavan.20211isd0027@presidencyuniversity.in::80f66336-7476-4794-88c7-cff6f9eee3df" providerId="AD" clId="Web-{DA5AC460-7A0D-4D60-D1C0-730EBDA9DD8A}" dt="2025-01-10T15:39:41.433" v="575"/>
          <ac:spMkLst>
            <pc:docMk/>
            <pc:sldMk cId="3674564123" sldId="282"/>
            <ac:spMk id="5" creationId="{DF5CE1A9-33D7-427E-E2C2-26FE10434704}"/>
          </ac:spMkLst>
        </pc:spChg>
        <pc:spChg chg="add mod ord">
          <ac:chgData name="K PAVAN KUAMR" userId="S::pavan.20211isd0027@presidencyuniversity.in::80f66336-7476-4794-88c7-cff6f9eee3df" providerId="AD" clId="Web-{DA5AC460-7A0D-4D60-D1C0-730EBDA9DD8A}" dt="2025-01-10T15:40:39.528" v="585" actId="20577"/>
          <ac:spMkLst>
            <pc:docMk/>
            <pc:sldMk cId="3674564123" sldId="282"/>
            <ac:spMk id="8" creationId="{F465F82C-0515-F7FD-B227-3B660D660649}"/>
          </ac:spMkLst>
        </pc:spChg>
        <pc:picChg chg="add del mod">
          <ac:chgData name="K PAVAN KUAMR" userId="S::pavan.20211isd0027@presidencyuniversity.in::80f66336-7476-4794-88c7-cff6f9eee3df" providerId="AD" clId="Web-{DA5AC460-7A0D-4D60-D1C0-730EBDA9DD8A}" dt="2025-01-10T15:39:28.980" v="572"/>
          <ac:picMkLst>
            <pc:docMk/>
            <pc:sldMk cId="3674564123" sldId="282"/>
            <ac:picMk id="6" creationId="{880C8BE6-9457-2210-E2AC-582A9BA36A37}"/>
          </ac:picMkLst>
        </pc:picChg>
        <pc:picChg chg="add mod">
          <ac:chgData name="K PAVAN KUAMR" userId="S::pavan.20211isd0027@presidencyuniversity.in::80f66336-7476-4794-88c7-cff6f9eee3df" providerId="AD" clId="Web-{DA5AC460-7A0D-4D60-D1C0-730EBDA9DD8A}" dt="2025-01-10T15:40:42.590" v="586" actId="1076"/>
          <ac:picMkLst>
            <pc:docMk/>
            <pc:sldMk cId="3674564123" sldId="282"/>
            <ac:picMk id="7" creationId="{CF607A7E-9559-267E-D046-3DCBC94E95AC}"/>
          </ac:picMkLst>
        </pc:picChg>
      </pc:sldChg>
      <pc:sldChg chg="addSp delSp modSp add mod replId modClrScheme chgLayout">
        <pc:chgData name="K PAVAN KUAMR" userId="S::pavan.20211isd0027@presidencyuniversity.in::80f66336-7476-4794-88c7-cff6f9eee3df" providerId="AD" clId="Web-{DA5AC460-7A0D-4D60-D1C0-730EBDA9DD8A}" dt="2025-01-10T15:55:38.058" v="666" actId="20577"/>
        <pc:sldMkLst>
          <pc:docMk/>
          <pc:sldMk cId="879483983" sldId="283"/>
        </pc:sldMkLst>
        <pc:spChg chg="del">
          <ac:chgData name="K PAVAN KUAMR" userId="S::pavan.20211isd0027@presidencyuniversity.in::80f66336-7476-4794-88c7-cff6f9eee3df" providerId="AD" clId="Web-{DA5AC460-7A0D-4D60-D1C0-730EBDA9DD8A}" dt="2025-01-10T15:53:51.869" v="641"/>
          <ac:spMkLst>
            <pc:docMk/>
            <pc:sldMk cId="879483983" sldId="283"/>
            <ac:spMk id="2" creationId="{00000000-0000-0000-0000-000000000000}"/>
          </ac:spMkLst>
        </pc:spChg>
        <pc:spChg chg="add del mod ord">
          <ac:chgData name="K PAVAN KUAMR" userId="S::pavan.20211isd0027@presidencyuniversity.in::80f66336-7476-4794-88c7-cff6f9eee3df" providerId="AD" clId="Web-{DA5AC460-7A0D-4D60-D1C0-730EBDA9DD8A}" dt="2025-01-10T15:54:05.073" v="643"/>
          <ac:spMkLst>
            <pc:docMk/>
            <pc:sldMk cId="879483983" sldId="283"/>
            <ac:spMk id="4" creationId="{AA8356E0-6113-15B5-7444-CBB57202E4AD}"/>
          </ac:spMkLst>
        </pc:spChg>
        <pc:spChg chg="add mod ord">
          <ac:chgData name="K PAVAN KUAMR" userId="S::pavan.20211isd0027@presidencyuniversity.in::80f66336-7476-4794-88c7-cff6f9eee3df" providerId="AD" clId="Web-{DA5AC460-7A0D-4D60-D1C0-730EBDA9DD8A}" dt="2025-01-10T15:55:38.058" v="666" actId="20577"/>
          <ac:spMkLst>
            <pc:docMk/>
            <pc:sldMk cId="879483983" sldId="283"/>
            <ac:spMk id="5" creationId="{7EDD71BA-9F4A-59C2-D9F6-3991CB2F9D3D}"/>
          </ac:spMkLst>
        </pc:spChg>
      </pc:sldChg>
      <pc:sldChg chg="modSp add replId">
        <pc:chgData name="K PAVAN KUAMR" userId="S::pavan.20211isd0027@presidencyuniversity.in::80f66336-7476-4794-88c7-cff6f9eee3df" providerId="AD" clId="Web-{DA5AC460-7A0D-4D60-D1C0-730EBDA9DD8A}" dt="2025-01-10T15:55:58.496" v="675" actId="20577"/>
        <pc:sldMkLst>
          <pc:docMk/>
          <pc:sldMk cId="3479657091" sldId="284"/>
        </pc:sldMkLst>
        <pc:spChg chg="mod">
          <ac:chgData name="K PAVAN KUAMR" userId="S::pavan.20211isd0027@presidencyuniversity.in::80f66336-7476-4794-88c7-cff6f9eee3df" providerId="AD" clId="Web-{DA5AC460-7A0D-4D60-D1C0-730EBDA9DD8A}" dt="2025-01-10T15:55:58.496" v="675" actId="20577"/>
          <ac:spMkLst>
            <pc:docMk/>
            <pc:sldMk cId="3479657091" sldId="284"/>
            <ac:spMk id="5" creationId="{7EDD71BA-9F4A-59C2-D9F6-3991CB2F9D3D}"/>
          </ac:spMkLst>
        </pc:spChg>
      </pc:sldChg>
      <pc:sldChg chg="addSp delSp modSp add replId">
        <pc:chgData name="K PAVAN KUAMR" userId="S::pavan.20211isd0027@presidencyuniversity.in::80f66336-7476-4794-88c7-cff6f9eee3df" providerId="AD" clId="Web-{DA5AC460-7A0D-4D60-D1C0-730EBDA9DD8A}" dt="2025-01-10T16:33:06.833" v="699" actId="1076"/>
        <pc:sldMkLst>
          <pc:docMk/>
          <pc:sldMk cId="2827052769" sldId="285"/>
        </pc:sldMkLst>
        <pc:spChg chg="del">
          <ac:chgData name="K PAVAN KUAMR" userId="S::pavan.20211isd0027@presidencyuniversity.in::80f66336-7476-4794-88c7-cff6f9eee3df" providerId="AD" clId="Web-{DA5AC460-7A0D-4D60-D1C0-730EBDA9DD8A}" dt="2025-01-10T16:32:29.849" v="693"/>
          <ac:spMkLst>
            <pc:docMk/>
            <pc:sldMk cId="2827052769" sldId="285"/>
            <ac:spMk id="2" creationId="{00000000-0000-0000-0000-000000000000}"/>
          </ac:spMkLst>
        </pc:spChg>
        <pc:spChg chg="add del mod">
          <ac:chgData name="K PAVAN KUAMR" userId="S::pavan.20211isd0027@presidencyuniversity.in::80f66336-7476-4794-88c7-cff6f9eee3df" providerId="AD" clId="Web-{DA5AC460-7A0D-4D60-D1C0-730EBDA9DD8A}" dt="2025-01-10T16:32:38.333" v="694"/>
          <ac:spMkLst>
            <pc:docMk/>
            <pc:sldMk cId="2827052769" sldId="285"/>
            <ac:spMk id="4" creationId="{1AD84F56-5B32-3678-BC12-CCA9534A677A}"/>
          </ac:spMkLst>
        </pc:spChg>
        <pc:picChg chg="add mod">
          <ac:chgData name="K PAVAN KUAMR" userId="S::pavan.20211isd0027@presidencyuniversity.in::80f66336-7476-4794-88c7-cff6f9eee3df" providerId="AD" clId="Web-{DA5AC460-7A0D-4D60-D1C0-730EBDA9DD8A}" dt="2025-01-10T16:33:06.833" v="699" actId="1076"/>
          <ac:picMkLst>
            <pc:docMk/>
            <pc:sldMk cId="2827052769" sldId="285"/>
            <ac:picMk id="5" creationId="{FC72EB1C-C581-5742-CB24-343C2BA1C150}"/>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4400" b="0" i="0">
                <a:solidFill>
                  <a:schemeClr val="tx1"/>
                </a:solidFill>
                <a:latin typeface="Calibri Light"/>
                <a:cs typeface="Calibri Light"/>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1/17/2025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tx1"/>
                </a:solidFill>
                <a:latin typeface="Calibri Light"/>
                <a:cs typeface="Calibri Light"/>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1/17/2025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tx1"/>
                </a:solidFill>
                <a:latin typeface="Calibri Light"/>
                <a:cs typeface="Calibri Light"/>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1/17/2025</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tx1"/>
                </a:solidFill>
                <a:latin typeface="Calibri Light"/>
                <a:cs typeface="Calibri Light"/>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1/17/2025</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1/17/2025</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5846063"/>
            <a:ext cx="12192000" cy="1011935"/>
          </a:xfrm>
          <a:prstGeom prst="rect">
            <a:avLst/>
          </a:prstGeom>
        </p:spPr>
      </p:pic>
      <p:sp>
        <p:nvSpPr>
          <p:cNvPr id="2" name="Holder 2"/>
          <p:cNvSpPr>
            <a:spLocks noGrp="1"/>
          </p:cNvSpPr>
          <p:nvPr>
            <p:ph type="title"/>
          </p:nvPr>
        </p:nvSpPr>
        <p:spPr>
          <a:xfrm>
            <a:off x="917575" y="275444"/>
            <a:ext cx="8938260" cy="1056640"/>
          </a:xfrm>
          <a:prstGeom prst="rect">
            <a:avLst/>
          </a:prstGeom>
        </p:spPr>
        <p:txBody>
          <a:bodyPr wrap="square" lIns="0" tIns="0" rIns="0" bIns="0">
            <a:spAutoFit/>
          </a:bodyPr>
          <a:lstStyle>
            <a:lvl1pPr>
              <a:defRPr sz="4400" b="0" i="0">
                <a:solidFill>
                  <a:schemeClr val="tx1"/>
                </a:solidFill>
                <a:latin typeface="Calibri Light"/>
                <a:cs typeface="Calibri Light"/>
              </a:defRPr>
            </a:lvl1pPr>
          </a:lstStyle>
          <a:p>
            <a:endParaRPr/>
          </a:p>
        </p:txBody>
      </p:sp>
      <p:sp>
        <p:nvSpPr>
          <p:cNvPr id="3" name="Holder 3"/>
          <p:cNvSpPr>
            <a:spLocks noGrp="1"/>
          </p:cNvSpPr>
          <p:nvPr>
            <p:ph type="body" idx="1"/>
          </p:nvPr>
        </p:nvSpPr>
        <p:spPr>
          <a:xfrm>
            <a:off x="869950" y="1618361"/>
            <a:ext cx="10961370" cy="3937635"/>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1/17/2025</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mailto:mAP@0.5:0.95" TargetMode="External"/><Relationship Id="rId2" Type="http://schemas.openxmlformats.org/officeDocument/2006/relationships/hyperlink" Target="mailto:mAP@0.5"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742058" y="1140416"/>
            <a:ext cx="10961370" cy="4010072"/>
          </a:xfrm>
          <a:prstGeom prst="rect">
            <a:avLst/>
          </a:prstGeom>
        </p:spPr>
        <p:txBody>
          <a:bodyPr vert="horz" wrap="square" lIns="0" tIns="16510" rIns="0" bIns="0" rtlCol="0" anchor="t">
            <a:spAutoFit/>
          </a:bodyPr>
          <a:lstStyle/>
          <a:p>
            <a:pPr algn="ctr">
              <a:lnSpc>
                <a:spcPct val="100000"/>
              </a:lnSpc>
              <a:spcBef>
                <a:spcPts val="770"/>
              </a:spcBef>
            </a:pPr>
            <a:r>
              <a:rPr lang="en-US" sz="3200" dirty="0"/>
              <a:t>HUMAN LIFE DETECTION DURING FIRE</a:t>
            </a:r>
            <a:endParaRPr sz="3200" dirty="0">
              <a:latin typeface="Verdana"/>
              <a:cs typeface="Verdana"/>
            </a:endParaRPr>
          </a:p>
          <a:p>
            <a:pPr algn="ctr">
              <a:spcBef>
                <a:spcPts val="770"/>
              </a:spcBef>
            </a:pPr>
            <a:endParaRPr lang="en-US" sz="3200" dirty="0"/>
          </a:p>
          <a:p>
            <a:pPr marL="12700">
              <a:lnSpc>
                <a:spcPct val="100000"/>
              </a:lnSpc>
            </a:pPr>
            <a:r>
              <a:rPr sz="2400" b="1" dirty="0">
                <a:latin typeface="Calibri"/>
                <a:cs typeface="Calibri"/>
              </a:rPr>
              <a:t>Batch</a:t>
            </a:r>
            <a:r>
              <a:rPr sz="2400" b="1" spc="-105" dirty="0">
                <a:latin typeface="Calibri"/>
                <a:cs typeface="Calibri"/>
              </a:rPr>
              <a:t> </a:t>
            </a:r>
            <a:r>
              <a:rPr sz="2400" b="1" spc="-10" dirty="0">
                <a:latin typeface="Calibri"/>
                <a:cs typeface="Calibri"/>
              </a:rPr>
              <a:t>Number:</a:t>
            </a:r>
            <a:r>
              <a:rPr lang="en-US" sz="2400" b="1" spc="-10" dirty="0">
                <a:latin typeface="Calibri"/>
                <a:cs typeface="Calibri"/>
              </a:rPr>
              <a:t> ISD-04</a:t>
            </a:r>
            <a:endParaRPr sz="2400" dirty="0">
              <a:latin typeface="Calibri"/>
              <a:cs typeface="Calibri"/>
            </a:endParaRPr>
          </a:p>
          <a:p>
            <a:pPr marL="6524625">
              <a:lnSpc>
                <a:spcPct val="100000"/>
              </a:lnSpc>
              <a:spcBef>
                <a:spcPts val="1650"/>
              </a:spcBef>
            </a:pPr>
            <a:r>
              <a:rPr sz="2000" b="1" dirty="0">
                <a:latin typeface="Verdana"/>
                <a:cs typeface="Verdana"/>
              </a:rPr>
              <a:t>Under</a:t>
            </a:r>
            <a:r>
              <a:rPr sz="2000" b="1" spc="-10" dirty="0">
                <a:latin typeface="Verdana"/>
                <a:cs typeface="Verdana"/>
              </a:rPr>
              <a:t> </a:t>
            </a:r>
            <a:r>
              <a:rPr sz="2000" b="1" dirty="0">
                <a:latin typeface="Verdana"/>
                <a:cs typeface="Verdana"/>
              </a:rPr>
              <a:t>the</a:t>
            </a:r>
            <a:r>
              <a:rPr sz="2000" b="1" spc="-40" dirty="0">
                <a:latin typeface="Verdana"/>
                <a:cs typeface="Verdana"/>
              </a:rPr>
              <a:t> </a:t>
            </a:r>
            <a:r>
              <a:rPr sz="2000" b="1" dirty="0">
                <a:latin typeface="Verdana"/>
                <a:cs typeface="Verdana"/>
              </a:rPr>
              <a:t>Supervision</a:t>
            </a:r>
            <a:r>
              <a:rPr sz="2000" b="1" spc="-65" dirty="0">
                <a:latin typeface="Verdana"/>
                <a:cs typeface="Verdana"/>
              </a:rPr>
              <a:t> </a:t>
            </a:r>
            <a:r>
              <a:rPr sz="2000" b="1" spc="-25" dirty="0">
                <a:latin typeface="Verdana"/>
                <a:cs typeface="Verdana"/>
              </a:rPr>
              <a:t>of,</a:t>
            </a:r>
            <a:endParaRPr lang="en-US" sz="2000" dirty="0">
              <a:latin typeface="Verdana"/>
              <a:cs typeface="Verdana"/>
            </a:endParaRPr>
          </a:p>
          <a:p>
            <a:pPr>
              <a:lnSpc>
                <a:spcPct val="100000"/>
              </a:lnSpc>
              <a:spcBef>
                <a:spcPts val="425"/>
              </a:spcBef>
            </a:pPr>
            <a:endParaRPr lang="en-US" sz="2000" dirty="0">
              <a:latin typeface="Verdana"/>
              <a:cs typeface="Verdana"/>
            </a:endParaRPr>
          </a:p>
          <a:p>
            <a:pPr marL="5681345">
              <a:lnSpc>
                <a:spcPct val="100000"/>
              </a:lnSpc>
            </a:pPr>
            <a:r>
              <a:rPr lang="en-US" sz="1700" b="1" dirty="0" err="1">
                <a:latin typeface="Verdana"/>
                <a:cs typeface="Verdana"/>
              </a:rPr>
              <a:t>Prof.Monisha</a:t>
            </a:r>
            <a:r>
              <a:rPr lang="en-US" sz="1700" b="1" dirty="0">
                <a:latin typeface="Verdana"/>
                <a:cs typeface="Verdana"/>
              </a:rPr>
              <a:t> Gupta</a:t>
            </a:r>
            <a:endParaRPr lang="en-US" sz="1700" dirty="0">
              <a:latin typeface="Verdana"/>
              <a:cs typeface="Verdana"/>
            </a:endParaRPr>
          </a:p>
          <a:p>
            <a:pPr marL="5681345" marR="5080">
              <a:lnSpc>
                <a:spcPts val="1880"/>
              </a:lnSpc>
              <a:spcBef>
                <a:spcPts val="409"/>
              </a:spcBef>
            </a:pPr>
            <a:r>
              <a:rPr lang="en-US" sz="1700" b="1" spc="-10" dirty="0">
                <a:latin typeface="Verdana"/>
                <a:cs typeface="Verdana"/>
              </a:rPr>
              <a:t>Assistant</a:t>
            </a:r>
            <a:r>
              <a:rPr sz="1700" b="1" spc="-10" dirty="0">
                <a:latin typeface="Verdana"/>
                <a:cs typeface="Verdana"/>
              </a:rPr>
              <a:t> Professor</a:t>
            </a:r>
            <a:endParaRPr sz="1700" dirty="0">
              <a:latin typeface="Verdana"/>
              <a:cs typeface="Verdana"/>
            </a:endParaRPr>
          </a:p>
          <a:p>
            <a:pPr marL="5681345" marR="5080">
              <a:lnSpc>
                <a:spcPts val="1880"/>
              </a:lnSpc>
              <a:spcBef>
                <a:spcPts val="409"/>
              </a:spcBef>
            </a:pPr>
            <a:endParaRPr lang="en-US" sz="1700" b="1" spc="-10" dirty="0">
              <a:latin typeface="Verdana"/>
              <a:cs typeface="Verdana"/>
            </a:endParaRPr>
          </a:p>
          <a:p>
            <a:pPr marL="5681345" marR="122555">
              <a:lnSpc>
                <a:spcPts val="1800"/>
              </a:lnSpc>
              <a:spcBef>
                <a:spcPts val="434"/>
              </a:spcBef>
            </a:pPr>
            <a:r>
              <a:rPr sz="1700" b="1" dirty="0">
                <a:latin typeface="Verdana"/>
                <a:cs typeface="Verdana"/>
              </a:rPr>
              <a:t>School</a:t>
            </a:r>
            <a:r>
              <a:rPr sz="1700" b="1" spc="-70" dirty="0">
                <a:latin typeface="Verdana"/>
                <a:cs typeface="Verdana"/>
              </a:rPr>
              <a:t> </a:t>
            </a:r>
            <a:r>
              <a:rPr sz="1700" b="1" dirty="0">
                <a:latin typeface="Verdana"/>
                <a:cs typeface="Verdana"/>
              </a:rPr>
              <a:t>of</a:t>
            </a:r>
            <a:r>
              <a:rPr sz="1700" b="1" spc="-55" dirty="0">
                <a:latin typeface="Verdana"/>
                <a:cs typeface="Verdana"/>
              </a:rPr>
              <a:t> </a:t>
            </a:r>
            <a:r>
              <a:rPr sz="1700" b="1" dirty="0">
                <a:latin typeface="Verdana"/>
                <a:cs typeface="Verdana"/>
              </a:rPr>
              <a:t>Computer</a:t>
            </a:r>
            <a:r>
              <a:rPr sz="1700" b="1" spc="-40" dirty="0">
                <a:latin typeface="Verdana"/>
                <a:cs typeface="Verdana"/>
              </a:rPr>
              <a:t> </a:t>
            </a:r>
            <a:r>
              <a:rPr sz="1700" b="1" dirty="0">
                <a:latin typeface="Verdana"/>
                <a:cs typeface="Verdana"/>
              </a:rPr>
              <a:t>Science</a:t>
            </a:r>
            <a:r>
              <a:rPr sz="1700" b="1" spc="-95" dirty="0">
                <a:latin typeface="Verdana"/>
                <a:cs typeface="Verdana"/>
              </a:rPr>
              <a:t> </a:t>
            </a:r>
            <a:r>
              <a:rPr sz="1700" b="1" dirty="0">
                <a:latin typeface="Verdana"/>
                <a:cs typeface="Verdana"/>
              </a:rPr>
              <a:t>Engineering</a:t>
            </a:r>
            <a:r>
              <a:rPr sz="1700" b="1" spc="-80" dirty="0">
                <a:latin typeface="Verdana"/>
                <a:cs typeface="Verdana"/>
              </a:rPr>
              <a:t> </a:t>
            </a:r>
            <a:r>
              <a:rPr sz="1700" b="1" spc="-50" dirty="0">
                <a:latin typeface="Verdana"/>
                <a:cs typeface="Verdana"/>
              </a:rPr>
              <a:t>&amp; </a:t>
            </a:r>
            <a:r>
              <a:rPr sz="1700" b="1" dirty="0">
                <a:latin typeface="Verdana"/>
                <a:cs typeface="Verdana"/>
              </a:rPr>
              <a:t>Information</a:t>
            </a:r>
            <a:r>
              <a:rPr sz="1700" b="1" spc="-110" dirty="0">
                <a:latin typeface="Verdana"/>
                <a:cs typeface="Verdana"/>
              </a:rPr>
              <a:t> </a:t>
            </a:r>
            <a:r>
              <a:rPr sz="1700" b="1" spc="-10" dirty="0">
                <a:latin typeface="Verdana"/>
                <a:cs typeface="Verdana"/>
              </a:rPr>
              <a:t>Science</a:t>
            </a:r>
            <a:endParaRPr sz="1700" dirty="0">
              <a:latin typeface="Verdana"/>
              <a:cs typeface="Verdana"/>
            </a:endParaRPr>
          </a:p>
          <a:p>
            <a:pPr marL="5681345">
              <a:lnSpc>
                <a:spcPct val="100000"/>
              </a:lnSpc>
              <a:spcBef>
                <a:spcPts val="195"/>
              </a:spcBef>
            </a:pPr>
            <a:r>
              <a:rPr sz="1700" b="1" dirty="0">
                <a:latin typeface="Verdana"/>
                <a:cs typeface="Verdana"/>
              </a:rPr>
              <a:t>Presidency</a:t>
            </a:r>
            <a:r>
              <a:rPr sz="1700" b="1" spc="-95" dirty="0">
                <a:latin typeface="Verdana"/>
                <a:cs typeface="Verdana"/>
              </a:rPr>
              <a:t> </a:t>
            </a:r>
            <a:r>
              <a:rPr sz="1700" b="1" spc="-10" dirty="0">
                <a:latin typeface="Verdana"/>
                <a:cs typeface="Verdana"/>
              </a:rPr>
              <a:t>University</a:t>
            </a:r>
            <a:endParaRPr sz="1700" dirty="0">
              <a:latin typeface="Verdana"/>
              <a:cs typeface="Verdana"/>
            </a:endParaRPr>
          </a:p>
        </p:txBody>
      </p:sp>
      <p:sp>
        <p:nvSpPr>
          <p:cNvPr id="4" name="object 4"/>
          <p:cNvSpPr txBox="1">
            <a:spLocks noGrp="1"/>
          </p:cNvSpPr>
          <p:nvPr>
            <p:ph type="title"/>
          </p:nvPr>
        </p:nvSpPr>
        <p:spPr>
          <a:xfrm>
            <a:off x="917575" y="275444"/>
            <a:ext cx="8938260" cy="475708"/>
          </a:xfrm>
          <a:prstGeom prst="rect">
            <a:avLst/>
          </a:prstGeom>
        </p:spPr>
        <p:txBody>
          <a:bodyPr vert="horz" wrap="square" lIns="0" tIns="12065" rIns="0" bIns="0" rtlCol="0" anchor="t">
            <a:spAutoFit/>
          </a:bodyPr>
          <a:lstStyle/>
          <a:p>
            <a:pPr marL="4098290" marR="5080" indent="-2574925" algn="ctr">
              <a:lnSpc>
                <a:spcPct val="122900"/>
              </a:lnSpc>
              <a:spcBef>
                <a:spcPts val="95"/>
              </a:spcBef>
            </a:pPr>
            <a:r>
              <a:rPr lang="en-US" sz="2750" dirty="0">
                <a:latin typeface="Verdana"/>
                <a:cs typeface="Verdana"/>
              </a:rPr>
              <a:t>Final Review</a:t>
            </a:r>
            <a:endParaRPr sz="2750" dirty="0">
              <a:latin typeface="Verdana"/>
              <a:cs typeface="Verdana"/>
            </a:endParaRPr>
          </a:p>
        </p:txBody>
      </p:sp>
      <p:graphicFrame>
        <p:nvGraphicFramePr>
          <p:cNvPr id="2" name="Table 1">
            <a:extLst>
              <a:ext uri="{FF2B5EF4-FFF2-40B4-BE49-F238E27FC236}">
                <a16:creationId xmlns:a16="http://schemas.microsoft.com/office/drawing/2014/main" id="{A45D4025-79A4-6778-CA8C-ADA7EB212072}"/>
              </a:ext>
            </a:extLst>
          </p:cNvPr>
          <p:cNvGraphicFramePr>
            <a:graphicFrameLocks noGrp="1"/>
          </p:cNvGraphicFramePr>
          <p:nvPr>
            <p:extLst>
              <p:ext uri="{D42A27DB-BD31-4B8C-83A1-F6EECF244321}">
                <p14:modId xmlns:p14="http://schemas.microsoft.com/office/powerpoint/2010/main" val="627881778"/>
              </p:ext>
            </p:extLst>
          </p:nvPr>
        </p:nvGraphicFramePr>
        <p:xfrm>
          <a:off x="741123" y="3340273"/>
          <a:ext cx="5398163" cy="1807503"/>
        </p:xfrm>
        <a:graphic>
          <a:graphicData uri="http://schemas.openxmlformats.org/drawingml/2006/table">
            <a:tbl>
              <a:tblPr firstRow="1" bandRow="1">
                <a:tableStyleId>{5C22544A-7EE6-4342-B048-85BDC9FD1C3A}</a:tableStyleId>
              </a:tblPr>
              <a:tblGrid>
                <a:gridCol w="2241176">
                  <a:extLst>
                    <a:ext uri="{9D8B030D-6E8A-4147-A177-3AD203B41FA5}">
                      <a16:colId xmlns:a16="http://schemas.microsoft.com/office/drawing/2014/main" val="4213834933"/>
                    </a:ext>
                  </a:extLst>
                </a:gridCol>
                <a:gridCol w="3156987">
                  <a:extLst>
                    <a:ext uri="{9D8B030D-6E8A-4147-A177-3AD203B41FA5}">
                      <a16:colId xmlns:a16="http://schemas.microsoft.com/office/drawing/2014/main" val="568625967"/>
                    </a:ext>
                  </a:extLst>
                </a:gridCol>
              </a:tblGrid>
              <a:tr h="490257">
                <a:tc>
                  <a:txBody>
                    <a:bodyPr/>
                    <a:lstStyle/>
                    <a:p>
                      <a:r>
                        <a:rPr lang="en-US" dirty="0">
                          <a:solidFill>
                            <a:schemeClr val="tx1"/>
                          </a:solidFill>
                        </a:rPr>
                        <a:t>Roll Number</a:t>
                      </a:r>
                    </a:p>
                  </a:txBody>
                  <a:tcPr/>
                </a:tc>
                <a:tc>
                  <a:txBody>
                    <a:bodyPr/>
                    <a:lstStyle/>
                    <a:p>
                      <a:r>
                        <a:rPr lang="en-US" dirty="0">
                          <a:solidFill>
                            <a:schemeClr val="tx1"/>
                          </a:solidFill>
                        </a:rPr>
                        <a:t>Student Name</a:t>
                      </a:r>
                    </a:p>
                  </a:txBody>
                  <a:tcPr/>
                </a:tc>
                <a:extLst>
                  <a:ext uri="{0D108BD9-81ED-4DB2-BD59-A6C34878D82A}">
                    <a16:rowId xmlns:a16="http://schemas.microsoft.com/office/drawing/2014/main" val="4282386532"/>
                  </a:ext>
                </a:extLst>
              </a:tr>
              <a:tr h="439082">
                <a:tc>
                  <a:txBody>
                    <a:bodyPr/>
                    <a:lstStyle/>
                    <a:p>
                      <a:r>
                        <a:rPr lang="en-US" dirty="0">
                          <a:solidFill>
                            <a:schemeClr val="tx1"/>
                          </a:solidFill>
                        </a:rPr>
                        <a:t>20211ISD0007</a:t>
                      </a:r>
                    </a:p>
                  </a:txBody>
                  <a:tcPr/>
                </a:tc>
                <a:tc>
                  <a:txBody>
                    <a:bodyPr/>
                    <a:lstStyle/>
                    <a:p>
                      <a:r>
                        <a:rPr lang="en-US" dirty="0"/>
                        <a:t>SUNKU SAI YASWANTH</a:t>
                      </a:r>
                    </a:p>
                  </a:txBody>
                  <a:tcPr/>
                </a:tc>
                <a:extLst>
                  <a:ext uri="{0D108BD9-81ED-4DB2-BD59-A6C34878D82A}">
                    <a16:rowId xmlns:a16="http://schemas.microsoft.com/office/drawing/2014/main" val="1688087202"/>
                  </a:ext>
                </a:extLst>
              </a:tr>
              <a:tr h="439082">
                <a:tc>
                  <a:txBody>
                    <a:bodyPr/>
                    <a:lstStyle/>
                    <a:p>
                      <a:r>
                        <a:rPr lang="en-US" dirty="0"/>
                        <a:t>20211ISD0015</a:t>
                      </a:r>
                    </a:p>
                  </a:txBody>
                  <a:tcPr/>
                </a:tc>
                <a:tc>
                  <a:txBody>
                    <a:bodyPr/>
                    <a:lstStyle/>
                    <a:p>
                      <a:r>
                        <a:rPr lang="en-US" dirty="0"/>
                        <a:t>GAJJALA AKHILA</a:t>
                      </a:r>
                    </a:p>
                  </a:txBody>
                  <a:tcPr/>
                </a:tc>
                <a:extLst>
                  <a:ext uri="{0D108BD9-81ED-4DB2-BD59-A6C34878D82A}">
                    <a16:rowId xmlns:a16="http://schemas.microsoft.com/office/drawing/2014/main" val="3717854082"/>
                  </a:ext>
                </a:extLst>
              </a:tr>
              <a:tr h="439082">
                <a:tc>
                  <a:txBody>
                    <a:bodyPr/>
                    <a:lstStyle/>
                    <a:p>
                      <a:r>
                        <a:rPr lang="en-US" dirty="0"/>
                        <a:t>20211ISD0027</a:t>
                      </a:r>
                    </a:p>
                  </a:txBody>
                  <a:tcPr/>
                </a:tc>
                <a:tc>
                  <a:txBody>
                    <a:bodyPr/>
                    <a:lstStyle/>
                    <a:p>
                      <a:r>
                        <a:rPr lang="en-US" dirty="0"/>
                        <a:t>K PAVAN KUMAR</a:t>
                      </a:r>
                    </a:p>
                  </a:txBody>
                  <a:tcPr/>
                </a:tc>
                <a:extLst>
                  <a:ext uri="{0D108BD9-81ED-4DB2-BD59-A6C34878D82A}">
                    <a16:rowId xmlns:a16="http://schemas.microsoft.com/office/drawing/2014/main" val="828437396"/>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5E860-926C-4D41-5348-4D621D3D3EF3}"/>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id="{15158655-07B1-696F-5A98-CA844CBC31BA}"/>
              </a:ext>
            </a:extLst>
          </p:cNvPr>
          <p:cNvSpPr txBox="1">
            <a:spLocks/>
          </p:cNvSpPr>
          <p:nvPr/>
        </p:nvSpPr>
        <p:spPr>
          <a:xfrm>
            <a:off x="814337" y="45640"/>
            <a:ext cx="8759825" cy="1030878"/>
          </a:xfrm>
          <a:prstGeom prst="rect">
            <a:avLst/>
          </a:prstGeom>
        </p:spPr>
        <p:txBody>
          <a:bodyPr vert="horz" wrap="square" lIns="0" tIns="350348" rIns="0" bIns="0" rtlCol="0">
            <a:spAutoFit/>
          </a:bodyPr>
          <a:lstStyle>
            <a:lvl1pPr>
              <a:defRPr sz="4400" b="0" i="0">
                <a:solidFill>
                  <a:schemeClr val="tx1"/>
                </a:solidFill>
                <a:latin typeface="Calibri Light"/>
                <a:ea typeface="+mj-ea"/>
                <a:cs typeface="Calibri Light"/>
              </a:defRPr>
            </a:lvl1pPr>
          </a:lstStyle>
          <a:p>
            <a:pPr marL="12700">
              <a:spcBef>
                <a:spcPts val="130"/>
              </a:spcBef>
            </a:pPr>
            <a:r>
              <a:rPr lang="en-US" spc="-45" dirty="0"/>
              <a:t>Introduction</a:t>
            </a:r>
          </a:p>
        </p:txBody>
      </p:sp>
      <p:sp>
        <p:nvSpPr>
          <p:cNvPr id="3" name="Text Placeholder 2">
            <a:extLst>
              <a:ext uri="{FF2B5EF4-FFF2-40B4-BE49-F238E27FC236}">
                <a16:creationId xmlns:a16="http://schemas.microsoft.com/office/drawing/2014/main" id="{9E497EE5-4EC3-5F57-E167-FD11551A4D0C}"/>
              </a:ext>
            </a:extLst>
          </p:cNvPr>
          <p:cNvSpPr>
            <a:spLocks noGrp="1"/>
          </p:cNvSpPr>
          <p:nvPr>
            <p:ph type="body" idx="1"/>
          </p:nvPr>
        </p:nvSpPr>
        <p:spPr>
          <a:xfrm>
            <a:off x="655325" y="1214632"/>
            <a:ext cx="10710766" cy="4801314"/>
          </a:xfrm>
        </p:spPr>
        <p:txBody>
          <a:bodyPr wrap="square" lIns="0" tIns="0" rIns="0" bIns="0" anchor="t">
            <a:spAutoFit/>
          </a:bodyPr>
          <a:lstStyle/>
          <a:p>
            <a:pPr marL="342900" indent="-342900" algn="just">
              <a:buFont typeface="Arial" panose="020B0604020202020204" pitchFamily="34" charset="0"/>
              <a:buChar char="•"/>
            </a:pPr>
            <a:r>
              <a:rPr lang="en-US" sz="2400" dirty="0">
                <a:ea typeface="+mn-lt"/>
                <a:cs typeface="+mn-lt"/>
              </a:rPr>
              <a:t>This project aims to develop a real-time detection system using YOLOv8 and YOLOv9 deep learning algorithms to identify humans, fire, and smoke in images and live camera feeds.</a:t>
            </a:r>
          </a:p>
          <a:p>
            <a:pPr marL="342900" indent="-342900" algn="just">
              <a:buFont typeface="Arial" panose="020B0604020202020204" pitchFamily="34" charset="0"/>
              <a:buChar char="•"/>
            </a:pPr>
            <a:r>
              <a:rPr lang="en-US" sz="2400" dirty="0">
                <a:ea typeface="+mn-lt"/>
                <a:cs typeface="+mn-lt"/>
              </a:rPr>
              <a:t> The system will provide visual feedback in emergency situations, enhancing safety in fire-prone areas.</a:t>
            </a:r>
          </a:p>
          <a:p>
            <a:pPr marL="342900" indent="-342900" algn="just">
              <a:buFont typeface="Arial" panose="020B0604020202020204" pitchFamily="34" charset="0"/>
              <a:buChar char="•"/>
            </a:pPr>
            <a:r>
              <a:rPr lang="en-US" sz="2400" dirty="0">
                <a:ea typeface="+mn-lt"/>
                <a:cs typeface="+mn-lt"/>
              </a:rPr>
              <a:t> It also compares the performance of YOLOv8 and YOLOv9 in terms of accuracy and speed. </a:t>
            </a:r>
          </a:p>
          <a:p>
            <a:pPr marL="342900" indent="-342900" algn="just">
              <a:buFont typeface="Arial" panose="020B0604020202020204" pitchFamily="34" charset="0"/>
              <a:buChar char="•"/>
            </a:pPr>
            <a:r>
              <a:rPr lang="en-US" sz="2400" dirty="0">
                <a:ea typeface="+mn-lt"/>
                <a:cs typeface="+mn-lt"/>
              </a:rPr>
              <a:t>The project addresses challenges like lower image clarity from laptop cameras, aiming to create a reliable system for real-time hazard detection. </a:t>
            </a:r>
          </a:p>
          <a:p>
            <a:pPr marL="342900" indent="-342900" algn="just">
              <a:buFont typeface="Arial" panose="020B0604020202020204" pitchFamily="34" charset="0"/>
              <a:buChar char="•"/>
            </a:pPr>
            <a:r>
              <a:rPr lang="en-US" sz="2400" dirty="0">
                <a:ea typeface="+mn-lt"/>
                <a:cs typeface="+mn-lt"/>
              </a:rPr>
              <a:t>By leveraging a comprehensive dataset from </a:t>
            </a:r>
            <a:r>
              <a:rPr lang="en-US" sz="2400" dirty="0" err="1">
                <a:ea typeface="+mn-lt"/>
                <a:cs typeface="+mn-lt"/>
              </a:rPr>
              <a:t>Roboflow</a:t>
            </a:r>
            <a:r>
              <a:rPr lang="en-US" sz="2400" dirty="0">
                <a:ea typeface="+mn-lt"/>
                <a:cs typeface="+mn-lt"/>
              </a:rPr>
              <a:t>, the system will be capable of functioning in various environments, such as buildings, factories, and forests. </a:t>
            </a:r>
          </a:p>
          <a:p>
            <a:pPr marL="342900" indent="-342900" algn="just">
              <a:buFont typeface="Arial" panose="020B0604020202020204" pitchFamily="34" charset="0"/>
              <a:buChar char="•"/>
            </a:pPr>
            <a:r>
              <a:rPr lang="en-US" sz="2400" dirty="0">
                <a:ea typeface="+mn-lt"/>
                <a:cs typeface="+mn-lt"/>
              </a:rPr>
              <a:t>Using Python and Google </a:t>
            </a:r>
            <a:r>
              <a:rPr lang="en-US" sz="2400" dirty="0" err="1">
                <a:ea typeface="+mn-lt"/>
                <a:cs typeface="+mn-lt"/>
              </a:rPr>
              <a:t>Colab</a:t>
            </a:r>
            <a:r>
              <a:rPr lang="en-US" sz="2400" dirty="0">
                <a:ea typeface="+mn-lt"/>
                <a:cs typeface="+mn-lt"/>
              </a:rPr>
              <a:t>, the system will be trained and implemented to provide fast visuals, improving response times and contributing  safety solutions.</a:t>
            </a:r>
            <a:endParaRPr lang="en-US" sz="2400" dirty="0">
              <a:ea typeface="Calibri"/>
              <a:cs typeface="Calibri"/>
            </a:endParaRPr>
          </a:p>
        </p:txBody>
      </p:sp>
    </p:spTree>
    <p:extLst>
      <p:ext uri="{BB962C8B-B14F-4D97-AF65-F5344CB8AC3E}">
        <p14:creationId xmlns:p14="http://schemas.microsoft.com/office/powerpoint/2010/main" val="6250280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739FB-3EB6-69CD-A0E8-8DC92995E9B2}"/>
              </a:ext>
            </a:extLst>
          </p:cNvPr>
          <p:cNvSpPr>
            <a:spLocks noGrp="1"/>
          </p:cNvSpPr>
          <p:nvPr>
            <p:ph type="title"/>
          </p:nvPr>
        </p:nvSpPr>
        <p:spPr>
          <a:xfrm>
            <a:off x="917575" y="275444"/>
            <a:ext cx="8938260" cy="677108"/>
          </a:xfrm>
        </p:spPr>
        <p:txBody>
          <a:bodyPr/>
          <a:lstStyle/>
          <a:p>
            <a:r>
              <a:rPr lang="en-US" spc="-50" dirty="0"/>
              <a:t>Literature</a:t>
            </a:r>
            <a:r>
              <a:rPr lang="en-US" spc="-165" dirty="0"/>
              <a:t> </a:t>
            </a:r>
            <a:r>
              <a:rPr lang="en-US" spc="-30" dirty="0"/>
              <a:t>Review</a:t>
            </a:r>
            <a:endParaRPr lang="en-US" dirty="0"/>
          </a:p>
        </p:txBody>
      </p:sp>
      <p:sp>
        <p:nvSpPr>
          <p:cNvPr id="3" name="Text Placeholder 2">
            <a:extLst>
              <a:ext uri="{FF2B5EF4-FFF2-40B4-BE49-F238E27FC236}">
                <a16:creationId xmlns:a16="http://schemas.microsoft.com/office/drawing/2014/main" id="{6C7453D8-3F91-7C10-CC9F-D2FDB17D006B}"/>
              </a:ext>
            </a:extLst>
          </p:cNvPr>
          <p:cNvSpPr>
            <a:spLocks noGrp="1"/>
          </p:cNvSpPr>
          <p:nvPr>
            <p:ph type="body" idx="1"/>
          </p:nvPr>
        </p:nvSpPr>
        <p:spPr/>
        <p:txBody>
          <a:bodyPr/>
          <a:lstStyle/>
          <a:p>
            <a:endParaRPr lang="en-US" dirty="0"/>
          </a:p>
        </p:txBody>
      </p:sp>
      <p:graphicFrame>
        <p:nvGraphicFramePr>
          <p:cNvPr id="5" name="Table 4">
            <a:extLst>
              <a:ext uri="{FF2B5EF4-FFF2-40B4-BE49-F238E27FC236}">
                <a16:creationId xmlns:a16="http://schemas.microsoft.com/office/drawing/2014/main" id="{59537861-C66B-689B-44CC-18427057DC2B}"/>
              </a:ext>
            </a:extLst>
          </p:cNvPr>
          <p:cNvGraphicFramePr>
            <a:graphicFrameLocks noGrp="1"/>
          </p:cNvGraphicFramePr>
          <p:nvPr>
            <p:extLst>
              <p:ext uri="{D42A27DB-BD31-4B8C-83A1-F6EECF244321}">
                <p14:modId xmlns:p14="http://schemas.microsoft.com/office/powerpoint/2010/main" val="273113511"/>
              </p:ext>
            </p:extLst>
          </p:nvPr>
        </p:nvGraphicFramePr>
        <p:xfrm>
          <a:off x="615315" y="1057225"/>
          <a:ext cx="11216005" cy="4843602"/>
        </p:xfrm>
        <a:graphic>
          <a:graphicData uri="http://schemas.openxmlformats.org/drawingml/2006/table">
            <a:tbl>
              <a:tblPr firstRow="1" firstCol="1" bandRow="1">
                <a:tableStyleId>{5C22544A-7EE6-4342-B048-85BDC9FD1C3A}</a:tableStyleId>
              </a:tblPr>
              <a:tblGrid>
                <a:gridCol w="1282312">
                  <a:extLst>
                    <a:ext uri="{9D8B030D-6E8A-4147-A177-3AD203B41FA5}">
                      <a16:colId xmlns:a16="http://schemas.microsoft.com/office/drawing/2014/main" val="2281897408"/>
                    </a:ext>
                  </a:extLst>
                </a:gridCol>
                <a:gridCol w="4119056">
                  <a:extLst>
                    <a:ext uri="{9D8B030D-6E8A-4147-A177-3AD203B41FA5}">
                      <a16:colId xmlns:a16="http://schemas.microsoft.com/office/drawing/2014/main" val="1406477680"/>
                    </a:ext>
                  </a:extLst>
                </a:gridCol>
                <a:gridCol w="3034816">
                  <a:extLst>
                    <a:ext uri="{9D8B030D-6E8A-4147-A177-3AD203B41FA5}">
                      <a16:colId xmlns:a16="http://schemas.microsoft.com/office/drawing/2014/main" val="1253141817"/>
                    </a:ext>
                  </a:extLst>
                </a:gridCol>
                <a:gridCol w="2779821">
                  <a:extLst>
                    <a:ext uri="{9D8B030D-6E8A-4147-A177-3AD203B41FA5}">
                      <a16:colId xmlns:a16="http://schemas.microsoft.com/office/drawing/2014/main" val="1437080693"/>
                    </a:ext>
                  </a:extLst>
                </a:gridCol>
              </a:tblGrid>
              <a:tr h="552792">
                <a:tc>
                  <a:txBody>
                    <a:bodyPr/>
                    <a:lstStyle/>
                    <a:p>
                      <a:pPr marL="0" marR="0" algn="just">
                        <a:lnSpc>
                          <a:spcPct val="150000"/>
                        </a:lnSpc>
                      </a:pPr>
                      <a:r>
                        <a:rPr lang="en-IN" sz="2000" dirty="0">
                          <a:effectLst/>
                        </a:rPr>
                        <a:t>         </a:t>
                      </a:r>
                      <a:endParaRPr lang="en-US" sz="2000" dirty="0">
                        <a:effectLst/>
                      </a:endParaRPr>
                    </a:p>
                    <a:p>
                      <a:pPr marL="0" marR="0" algn="just">
                        <a:lnSpc>
                          <a:spcPct val="150000"/>
                        </a:lnSpc>
                      </a:pPr>
                      <a:r>
                        <a:rPr lang="en-IN" sz="2000" dirty="0">
                          <a:effectLst/>
                        </a:rPr>
                        <a:t>          </a:t>
                      </a:r>
                      <a:r>
                        <a:rPr lang="en-IN" sz="2000" dirty="0" err="1">
                          <a:effectLst/>
                        </a:rPr>
                        <a:t>S.No</a:t>
                      </a:r>
                      <a:endParaRPr lang="en-US" sz="2000" dirty="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tc>
                  <a:txBody>
                    <a:bodyPr/>
                    <a:lstStyle/>
                    <a:p>
                      <a:pPr marL="0" marR="0" algn="just">
                        <a:lnSpc>
                          <a:spcPct val="150000"/>
                        </a:lnSpc>
                      </a:pPr>
                      <a:r>
                        <a:rPr lang="en-IN" sz="2000" dirty="0">
                          <a:effectLst/>
                        </a:rPr>
                        <a:t> </a:t>
                      </a:r>
                      <a:endParaRPr lang="en-US" sz="2000" dirty="0">
                        <a:effectLst/>
                      </a:endParaRPr>
                    </a:p>
                    <a:p>
                      <a:pPr marL="0" marR="0" algn="just">
                        <a:lnSpc>
                          <a:spcPct val="150000"/>
                        </a:lnSpc>
                      </a:pPr>
                      <a:r>
                        <a:rPr lang="en-IN" sz="2000" dirty="0">
                          <a:effectLst/>
                        </a:rPr>
                        <a:t>Authors</a:t>
                      </a:r>
                      <a:endParaRPr lang="en-US" sz="2000" dirty="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tc>
                  <a:txBody>
                    <a:bodyPr/>
                    <a:lstStyle/>
                    <a:p>
                      <a:pPr marL="0" marR="0" algn="just">
                        <a:lnSpc>
                          <a:spcPct val="150000"/>
                        </a:lnSpc>
                      </a:pPr>
                      <a:r>
                        <a:rPr lang="en-IN" sz="2000" dirty="0">
                          <a:effectLst/>
                        </a:rPr>
                        <a:t> </a:t>
                      </a:r>
                      <a:endParaRPr lang="en-US" sz="2000" dirty="0">
                        <a:effectLst/>
                      </a:endParaRPr>
                    </a:p>
                    <a:p>
                      <a:pPr marL="0" marR="0" algn="just">
                        <a:lnSpc>
                          <a:spcPct val="150000"/>
                        </a:lnSpc>
                      </a:pPr>
                      <a:r>
                        <a:rPr lang="en-IN" sz="2000" dirty="0">
                          <a:effectLst/>
                        </a:rPr>
                        <a:t>Title</a:t>
                      </a:r>
                      <a:endParaRPr lang="en-US" sz="2000" dirty="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tc>
                  <a:txBody>
                    <a:bodyPr/>
                    <a:lstStyle/>
                    <a:p>
                      <a:pPr marL="0" marR="0" algn="just">
                        <a:lnSpc>
                          <a:spcPct val="150000"/>
                        </a:lnSpc>
                      </a:pPr>
                      <a:r>
                        <a:rPr lang="en-IN" sz="2000" dirty="0">
                          <a:effectLst/>
                        </a:rPr>
                        <a:t> </a:t>
                      </a:r>
                      <a:endParaRPr lang="en-US" sz="2000" dirty="0">
                        <a:effectLst/>
                      </a:endParaRPr>
                    </a:p>
                    <a:p>
                      <a:pPr marL="0" marR="0" algn="just">
                        <a:lnSpc>
                          <a:spcPct val="150000"/>
                        </a:lnSpc>
                      </a:pPr>
                      <a:r>
                        <a:rPr lang="en-IN" sz="2000" dirty="0">
                          <a:effectLst/>
                        </a:rPr>
                        <a:t>Limitations</a:t>
                      </a:r>
                    </a:p>
                  </a:txBody>
                  <a:tcPr marL="47984" marR="47984" marT="0" marB="0"/>
                </a:tc>
                <a:extLst>
                  <a:ext uri="{0D108BD9-81ED-4DB2-BD59-A6C34878D82A}">
                    <a16:rowId xmlns:a16="http://schemas.microsoft.com/office/drawing/2014/main" val="767534062"/>
                  </a:ext>
                </a:extLst>
              </a:tr>
              <a:tr h="1128598">
                <a:tc>
                  <a:txBody>
                    <a:bodyPr/>
                    <a:lstStyle/>
                    <a:p>
                      <a:pPr marL="0" marR="0" algn="ctr">
                        <a:lnSpc>
                          <a:spcPct val="150000"/>
                        </a:lnSpc>
                      </a:pPr>
                      <a:r>
                        <a:rPr lang="en-IN" sz="1600">
                          <a:effectLst/>
                        </a:rPr>
                        <a:t> </a:t>
                      </a:r>
                      <a:endParaRPr lang="en-US" sz="1600">
                        <a:effectLst/>
                      </a:endParaRPr>
                    </a:p>
                    <a:p>
                      <a:pPr marL="0" marR="0" algn="ctr">
                        <a:lnSpc>
                          <a:spcPct val="150000"/>
                        </a:lnSpc>
                      </a:pPr>
                      <a:r>
                        <a:rPr lang="en-IN" sz="1600">
                          <a:effectLst/>
                        </a:rPr>
                        <a:t> </a:t>
                      </a:r>
                      <a:endParaRPr lang="en-US" sz="1600">
                        <a:effectLst/>
                      </a:endParaRPr>
                    </a:p>
                    <a:p>
                      <a:pPr marL="0" marR="0" algn="ctr">
                        <a:lnSpc>
                          <a:spcPct val="150000"/>
                        </a:lnSpc>
                      </a:pPr>
                      <a:r>
                        <a:rPr lang="en-IN" sz="1600">
                          <a:effectLst/>
                        </a:rPr>
                        <a:t>1</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tc>
                  <a:txBody>
                    <a:bodyPr/>
                    <a:lstStyle/>
                    <a:p>
                      <a:pPr marL="0" marR="0" algn="just">
                        <a:lnSpc>
                          <a:spcPct val="150000"/>
                        </a:lnSpc>
                      </a:pPr>
                      <a:r>
                        <a:rPr lang="en-IN" sz="1600">
                          <a:effectLst/>
                        </a:rPr>
                        <a:t>Muhammad Salihin Ahmad Azmil, M. S., Ya'acob, N., Tahar, K. N., &amp; Sarnin, S. S.</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tc>
                  <a:txBody>
                    <a:bodyPr/>
                    <a:lstStyle/>
                    <a:p>
                      <a:pPr marL="0" marR="0" algn="just">
                        <a:lnSpc>
                          <a:spcPct val="150000"/>
                        </a:lnSpc>
                      </a:pPr>
                      <a:r>
                        <a:rPr lang="en-IN" sz="1600">
                          <a:effectLst/>
                        </a:rPr>
                        <a:t>Wireless fire detection monitoring system for fire and rescue application (2015)</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tc>
                  <a:txBody>
                    <a:bodyPr/>
                    <a:lstStyle/>
                    <a:p>
                      <a:pPr marL="0" marR="0" algn="just">
                        <a:lnSpc>
                          <a:spcPct val="150000"/>
                        </a:lnSpc>
                      </a:pPr>
                      <a:r>
                        <a:rPr lang="en-IN" sz="1600">
                          <a:effectLst/>
                        </a:rPr>
                        <a:t>Limited range of wireless communication, require frequent maintenance and updates</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extLst>
                  <a:ext uri="{0D108BD9-81ED-4DB2-BD59-A6C34878D82A}">
                    <a16:rowId xmlns:a16="http://schemas.microsoft.com/office/drawing/2014/main" val="964541810"/>
                  </a:ext>
                </a:extLst>
              </a:tr>
              <a:tr h="1128598">
                <a:tc>
                  <a:txBody>
                    <a:bodyPr/>
                    <a:lstStyle/>
                    <a:p>
                      <a:pPr marL="0" marR="0" algn="ctr">
                        <a:lnSpc>
                          <a:spcPct val="150000"/>
                        </a:lnSpc>
                      </a:pPr>
                      <a:r>
                        <a:rPr lang="en-IN" sz="1600">
                          <a:effectLst/>
                        </a:rPr>
                        <a:t> </a:t>
                      </a:r>
                      <a:endParaRPr lang="en-US" sz="1600">
                        <a:effectLst/>
                      </a:endParaRPr>
                    </a:p>
                    <a:p>
                      <a:pPr marL="0" marR="0" algn="ctr">
                        <a:lnSpc>
                          <a:spcPct val="150000"/>
                        </a:lnSpc>
                      </a:pPr>
                      <a:r>
                        <a:rPr lang="en-IN" sz="1600">
                          <a:effectLst/>
                        </a:rPr>
                        <a:t> </a:t>
                      </a:r>
                      <a:endParaRPr lang="en-US" sz="1600">
                        <a:effectLst/>
                      </a:endParaRPr>
                    </a:p>
                    <a:p>
                      <a:pPr marL="0" marR="0" algn="ctr">
                        <a:lnSpc>
                          <a:spcPct val="150000"/>
                        </a:lnSpc>
                      </a:pPr>
                      <a:r>
                        <a:rPr lang="en-IN" sz="1600">
                          <a:effectLst/>
                        </a:rPr>
                        <a:t>2</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tc>
                  <a:txBody>
                    <a:bodyPr/>
                    <a:lstStyle/>
                    <a:p>
                      <a:pPr marL="0" marR="0">
                        <a:lnSpc>
                          <a:spcPct val="150000"/>
                        </a:lnSpc>
                      </a:pPr>
                      <a:r>
                        <a:rPr lang="en-IN" sz="1600">
                          <a:effectLst/>
                        </a:rPr>
                        <a:t> F. Jaradat and D. Valles</a:t>
                      </a:r>
                      <a:endParaRPr lang="en-US" sz="1600">
                        <a:effectLst/>
                      </a:endParaRPr>
                    </a:p>
                    <a:p>
                      <a:pPr marL="0" marR="0" algn="just">
                        <a:lnSpc>
                          <a:spcPct val="150000"/>
                        </a:lnSpc>
                      </a:pPr>
                      <a:r>
                        <a:rPr lang="en-IN" sz="1600">
                          <a:effectLst/>
                        </a:rPr>
                        <a:t> </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tc>
                  <a:txBody>
                    <a:bodyPr/>
                    <a:lstStyle/>
                    <a:p>
                      <a:pPr marL="0" marR="0" algn="just">
                        <a:lnSpc>
                          <a:spcPct val="150000"/>
                        </a:lnSpc>
                      </a:pPr>
                      <a:r>
                        <a:rPr lang="en-IN" sz="1600">
                          <a:effectLst/>
                        </a:rPr>
                        <a:t> A Human Detection Approach for Burning Building Sites Using Deep Learning Techniques (2018)</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tc>
                  <a:txBody>
                    <a:bodyPr/>
                    <a:lstStyle/>
                    <a:p>
                      <a:pPr marL="0" marR="0" algn="just">
                        <a:lnSpc>
                          <a:spcPct val="150000"/>
                        </a:lnSpc>
                      </a:pPr>
                      <a:r>
                        <a:rPr lang="en-IN" sz="1600">
                          <a:effectLst/>
                        </a:rPr>
                        <a:t> Requires extensive training data ,Struggles in extreme conditions like dense smoke or high heat.</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extLst>
                  <a:ext uri="{0D108BD9-81ED-4DB2-BD59-A6C34878D82A}">
                    <a16:rowId xmlns:a16="http://schemas.microsoft.com/office/drawing/2014/main" val="3395270089"/>
                  </a:ext>
                </a:extLst>
              </a:tr>
              <a:tr h="1128598">
                <a:tc>
                  <a:txBody>
                    <a:bodyPr/>
                    <a:lstStyle/>
                    <a:p>
                      <a:pPr marL="0" marR="0" algn="ctr">
                        <a:lnSpc>
                          <a:spcPct val="150000"/>
                        </a:lnSpc>
                      </a:pPr>
                      <a:r>
                        <a:rPr lang="en-IN" sz="1600">
                          <a:effectLst/>
                        </a:rPr>
                        <a:t> </a:t>
                      </a:r>
                      <a:endParaRPr lang="en-US" sz="1600">
                        <a:effectLst/>
                      </a:endParaRPr>
                    </a:p>
                    <a:p>
                      <a:pPr marL="0" marR="0" algn="ctr">
                        <a:lnSpc>
                          <a:spcPct val="150000"/>
                        </a:lnSpc>
                      </a:pPr>
                      <a:r>
                        <a:rPr lang="en-IN" sz="1600">
                          <a:effectLst/>
                        </a:rPr>
                        <a:t> </a:t>
                      </a:r>
                      <a:endParaRPr lang="en-US" sz="1600">
                        <a:effectLst/>
                      </a:endParaRPr>
                    </a:p>
                    <a:p>
                      <a:pPr marL="0" marR="0" algn="ctr">
                        <a:lnSpc>
                          <a:spcPct val="150000"/>
                        </a:lnSpc>
                      </a:pPr>
                      <a:r>
                        <a:rPr lang="en-IN" sz="1600">
                          <a:effectLst/>
                        </a:rPr>
                        <a:t>3</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tc>
                  <a:txBody>
                    <a:bodyPr/>
                    <a:lstStyle/>
                    <a:p>
                      <a:pPr marL="0" marR="0" algn="just">
                        <a:lnSpc>
                          <a:spcPct val="150000"/>
                        </a:lnSpc>
                      </a:pPr>
                      <a:r>
                        <a:rPr lang="en-IN" sz="1600">
                          <a:effectLst/>
                        </a:rPr>
                        <a:t> Seetharaman, R., Sreeja, R. R., Dakshin, S. Vidhul, Nivetha, N., Gowsigan, S., &amp; Barath, M. </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tc>
                  <a:txBody>
                    <a:bodyPr/>
                    <a:lstStyle/>
                    <a:p>
                      <a:pPr marL="0" marR="0" algn="just">
                        <a:lnSpc>
                          <a:spcPct val="150000"/>
                        </a:lnSpc>
                      </a:pPr>
                      <a:r>
                        <a:rPr lang="en-IN" sz="1600">
                          <a:effectLst/>
                        </a:rPr>
                        <a:t> Analysis of a Real Time Fire Detection and Intimation System (2020)</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tc>
                  <a:txBody>
                    <a:bodyPr/>
                    <a:lstStyle/>
                    <a:p>
                      <a:pPr marL="0" marR="0" algn="just">
                        <a:lnSpc>
                          <a:spcPct val="150000"/>
                        </a:lnSpc>
                      </a:pPr>
                      <a:r>
                        <a:rPr lang="en-IN" sz="1600" dirty="0">
                          <a:effectLst/>
                        </a:rPr>
                        <a:t> May face false alarms under certain conditions, Depends on network connectivity.</a:t>
                      </a:r>
                      <a:endParaRPr lang="en-US" sz="1600" dirty="0">
                        <a:effectLst/>
                        <a:latin typeface="Times New Roman" panose="02020603050405020304" pitchFamily="18" charset="0"/>
                        <a:ea typeface="Times New Roman" panose="02020603050405020304" pitchFamily="18" charset="0"/>
                        <a:cs typeface="Arial" panose="020B0604020202020204" pitchFamily="34" charset="0"/>
                      </a:endParaRPr>
                    </a:p>
                  </a:txBody>
                  <a:tcPr marL="47984" marR="47984" marT="0" marB="0"/>
                </a:tc>
                <a:extLst>
                  <a:ext uri="{0D108BD9-81ED-4DB2-BD59-A6C34878D82A}">
                    <a16:rowId xmlns:a16="http://schemas.microsoft.com/office/drawing/2014/main" val="2370264552"/>
                  </a:ext>
                </a:extLst>
              </a:tr>
            </a:tbl>
          </a:graphicData>
        </a:graphic>
      </p:graphicFrame>
    </p:spTree>
    <p:extLst>
      <p:ext uri="{BB962C8B-B14F-4D97-AF65-F5344CB8AC3E}">
        <p14:creationId xmlns:p14="http://schemas.microsoft.com/office/powerpoint/2010/main" val="3681192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3C251D1-6B99-6B4B-5D39-1209D600AAE2}"/>
              </a:ext>
            </a:extLst>
          </p:cNvPr>
          <p:cNvGraphicFramePr>
            <a:graphicFrameLocks noGrp="1"/>
          </p:cNvGraphicFramePr>
          <p:nvPr>
            <p:extLst>
              <p:ext uri="{D42A27DB-BD31-4B8C-83A1-F6EECF244321}">
                <p14:modId xmlns:p14="http://schemas.microsoft.com/office/powerpoint/2010/main" val="4021938302"/>
              </p:ext>
            </p:extLst>
          </p:nvPr>
        </p:nvGraphicFramePr>
        <p:xfrm>
          <a:off x="619432" y="416560"/>
          <a:ext cx="11491287" cy="5665107"/>
        </p:xfrm>
        <a:graphic>
          <a:graphicData uri="http://schemas.openxmlformats.org/drawingml/2006/table">
            <a:tbl>
              <a:tblPr firstRow="1" firstCol="1" bandRow="1">
                <a:tableStyleId>{5C22544A-7EE6-4342-B048-85BDC9FD1C3A}</a:tableStyleId>
              </a:tblPr>
              <a:tblGrid>
                <a:gridCol w="1455174">
                  <a:extLst>
                    <a:ext uri="{9D8B030D-6E8A-4147-A177-3AD203B41FA5}">
                      <a16:colId xmlns:a16="http://schemas.microsoft.com/office/drawing/2014/main" val="2833139507"/>
                    </a:ext>
                  </a:extLst>
                </a:gridCol>
                <a:gridCol w="4568783">
                  <a:extLst>
                    <a:ext uri="{9D8B030D-6E8A-4147-A177-3AD203B41FA5}">
                      <a16:colId xmlns:a16="http://schemas.microsoft.com/office/drawing/2014/main" val="2600923408"/>
                    </a:ext>
                  </a:extLst>
                </a:gridCol>
                <a:gridCol w="2853546">
                  <a:extLst>
                    <a:ext uri="{9D8B030D-6E8A-4147-A177-3AD203B41FA5}">
                      <a16:colId xmlns:a16="http://schemas.microsoft.com/office/drawing/2014/main" val="2801688189"/>
                    </a:ext>
                  </a:extLst>
                </a:gridCol>
                <a:gridCol w="2613784">
                  <a:extLst>
                    <a:ext uri="{9D8B030D-6E8A-4147-A177-3AD203B41FA5}">
                      <a16:colId xmlns:a16="http://schemas.microsoft.com/office/drawing/2014/main" val="1715108129"/>
                    </a:ext>
                  </a:extLst>
                </a:gridCol>
              </a:tblGrid>
              <a:tr h="1408630">
                <a:tc>
                  <a:txBody>
                    <a:bodyPr/>
                    <a:lstStyle/>
                    <a:p>
                      <a:pPr marL="0" marR="0" algn="ctr">
                        <a:lnSpc>
                          <a:spcPct val="150000"/>
                        </a:lnSpc>
                      </a:pPr>
                      <a:r>
                        <a:rPr lang="en-IN" sz="1600">
                          <a:effectLst/>
                        </a:rPr>
                        <a:t> </a:t>
                      </a:r>
                      <a:endParaRPr lang="en-US" sz="1600">
                        <a:effectLst/>
                      </a:endParaRPr>
                    </a:p>
                    <a:p>
                      <a:pPr marL="0" marR="0" algn="ctr">
                        <a:lnSpc>
                          <a:spcPct val="150000"/>
                        </a:lnSpc>
                      </a:pPr>
                      <a:r>
                        <a:rPr lang="en-IN" sz="1600">
                          <a:effectLst/>
                        </a:rPr>
                        <a:t> </a:t>
                      </a:r>
                      <a:endParaRPr lang="en-US" sz="1600">
                        <a:effectLst/>
                      </a:endParaRPr>
                    </a:p>
                    <a:p>
                      <a:pPr marL="0" marR="0" algn="ctr">
                        <a:lnSpc>
                          <a:spcPct val="150000"/>
                        </a:lnSpc>
                      </a:pPr>
                      <a:r>
                        <a:rPr lang="en-IN" sz="1600">
                          <a:effectLst/>
                        </a:rPr>
                        <a:t>4</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tc>
                  <a:txBody>
                    <a:bodyPr/>
                    <a:lstStyle/>
                    <a:p>
                      <a:pPr marL="0" marR="0" algn="just">
                        <a:lnSpc>
                          <a:spcPct val="150000"/>
                        </a:lnSpc>
                      </a:pPr>
                      <a:r>
                        <a:rPr lang="fi-FI" sz="1600" dirty="0">
                          <a:effectLst/>
                        </a:rPr>
                        <a:t> Aathithya, S., Kavya, S., Malavika, J., Raveena, R., Durga, E. </a:t>
                      </a:r>
                      <a:endParaRPr lang="en-US" sz="1600" dirty="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tc>
                  <a:txBody>
                    <a:bodyPr/>
                    <a:lstStyle/>
                    <a:p>
                      <a:pPr marL="0" marR="0" algn="just">
                        <a:lnSpc>
                          <a:spcPct val="150000"/>
                        </a:lnSpc>
                      </a:pPr>
                      <a:r>
                        <a:rPr lang="fi-FI" sz="1600">
                          <a:effectLst/>
                        </a:rPr>
                        <a:t> </a:t>
                      </a:r>
                      <a:r>
                        <a:rPr lang="en-IN" sz="1600">
                          <a:effectLst/>
                        </a:rPr>
                        <a:t>Detection of Human Existence Using Thermal Imaging for Automated Fire Extinguisher (2020)</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tc>
                  <a:txBody>
                    <a:bodyPr/>
                    <a:lstStyle/>
                    <a:p>
                      <a:pPr marL="0" marR="0" algn="just">
                        <a:lnSpc>
                          <a:spcPct val="150000"/>
                        </a:lnSpc>
                      </a:pPr>
                      <a:r>
                        <a:rPr lang="en-IN" sz="1600">
                          <a:effectLst/>
                        </a:rPr>
                        <a:t> Limited to thermal detection accuracy, Struggles in environments with varying temperatures.</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extLst>
                  <a:ext uri="{0D108BD9-81ED-4DB2-BD59-A6C34878D82A}">
                    <a16:rowId xmlns:a16="http://schemas.microsoft.com/office/drawing/2014/main" val="2678593252"/>
                  </a:ext>
                </a:extLst>
              </a:tr>
              <a:tr h="1169070">
                <a:tc>
                  <a:txBody>
                    <a:bodyPr/>
                    <a:lstStyle/>
                    <a:p>
                      <a:pPr marL="0" marR="0" algn="ctr">
                        <a:lnSpc>
                          <a:spcPct val="150000"/>
                        </a:lnSpc>
                      </a:pPr>
                      <a:r>
                        <a:rPr lang="en-IN" sz="1600">
                          <a:effectLst/>
                        </a:rPr>
                        <a:t> </a:t>
                      </a:r>
                      <a:endParaRPr lang="en-US" sz="1600">
                        <a:effectLst/>
                      </a:endParaRPr>
                    </a:p>
                    <a:p>
                      <a:pPr marL="0" marR="0" algn="ctr">
                        <a:lnSpc>
                          <a:spcPct val="150000"/>
                        </a:lnSpc>
                      </a:pPr>
                      <a:r>
                        <a:rPr lang="en-IN" sz="1600">
                          <a:effectLst/>
                        </a:rPr>
                        <a:t>5</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tc>
                  <a:txBody>
                    <a:bodyPr/>
                    <a:lstStyle/>
                    <a:p>
                      <a:pPr marL="0" marR="0" algn="just">
                        <a:lnSpc>
                          <a:spcPct val="150000"/>
                        </a:lnSpc>
                      </a:pPr>
                      <a:r>
                        <a:rPr lang="en-IN" sz="1600">
                          <a:effectLst/>
                        </a:rPr>
                        <a:t> Zaher, A., Al-Faqsh, A., Abdulredha, H., Al-Qudaihi, H., &amp; Toaube, M. </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tc>
                  <a:txBody>
                    <a:bodyPr/>
                    <a:lstStyle/>
                    <a:p>
                      <a:pPr marL="0" marR="0" algn="just">
                        <a:lnSpc>
                          <a:spcPct val="150000"/>
                        </a:lnSpc>
                      </a:pPr>
                      <a:r>
                        <a:rPr lang="en-IN" sz="1600">
                          <a:effectLst/>
                        </a:rPr>
                        <a:t> A Fire Prevention/Monitoring Smart System (2021)</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tc>
                  <a:txBody>
                    <a:bodyPr/>
                    <a:lstStyle/>
                    <a:p>
                      <a:pPr marL="0" marR="0" algn="just">
                        <a:lnSpc>
                          <a:spcPct val="150000"/>
                        </a:lnSpc>
                      </a:pPr>
                      <a:r>
                        <a:rPr lang="en-IN" sz="1600">
                          <a:effectLst/>
                        </a:rPr>
                        <a:t> Dependency on sensors, potential high cost, Potential high initial cost.</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extLst>
                  <a:ext uri="{0D108BD9-81ED-4DB2-BD59-A6C34878D82A}">
                    <a16:rowId xmlns:a16="http://schemas.microsoft.com/office/drawing/2014/main" val="3118358996"/>
                  </a:ext>
                </a:extLst>
              </a:tr>
              <a:tr h="1169070">
                <a:tc>
                  <a:txBody>
                    <a:bodyPr/>
                    <a:lstStyle/>
                    <a:p>
                      <a:pPr marL="0" marR="0" algn="ctr">
                        <a:lnSpc>
                          <a:spcPct val="150000"/>
                        </a:lnSpc>
                      </a:pPr>
                      <a:r>
                        <a:rPr lang="en-IN" sz="1600">
                          <a:effectLst/>
                        </a:rPr>
                        <a:t> </a:t>
                      </a:r>
                      <a:endParaRPr lang="en-US" sz="1600">
                        <a:effectLst/>
                      </a:endParaRPr>
                    </a:p>
                    <a:p>
                      <a:pPr marL="0" marR="0" algn="ctr">
                        <a:lnSpc>
                          <a:spcPct val="150000"/>
                        </a:lnSpc>
                      </a:pPr>
                      <a:r>
                        <a:rPr lang="en-IN" sz="1600">
                          <a:effectLst/>
                        </a:rPr>
                        <a:t> </a:t>
                      </a:r>
                      <a:endParaRPr lang="en-US" sz="1600">
                        <a:effectLst/>
                      </a:endParaRPr>
                    </a:p>
                    <a:p>
                      <a:pPr marL="0" marR="0" algn="ctr">
                        <a:lnSpc>
                          <a:spcPct val="150000"/>
                        </a:lnSpc>
                      </a:pPr>
                      <a:r>
                        <a:rPr lang="en-IN" sz="1600">
                          <a:effectLst/>
                        </a:rPr>
                        <a:t>6</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tc>
                  <a:txBody>
                    <a:bodyPr/>
                    <a:lstStyle/>
                    <a:p>
                      <a:pPr marL="0" marR="0" algn="just">
                        <a:lnSpc>
                          <a:spcPct val="150000"/>
                        </a:lnSpc>
                      </a:pPr>
                      <a:r>
                        <a:rPr lang="en-IN" sz="1600">
                          <a:effectLst/>
                        </a:rPr>
                        <a:t> Luo, W. </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tc>
                  <a:txBody>
                    <a:bodyPr/>
                    <a:lstStyle/>
                    <a:p>
                      <a:pPr marL="0" marR="0" algn="just">
                        <a:lnSpc>
                          <a:spcPct val="150000"/>
                        </a:lnSpc>
                      </a:pPr>
                      <a:r>
                        <a:rPr lang="en-IN" sz="1600">
                          <a:effectLst/>
                        </a:rPr>
                        <a:t> Research on fire detection based on YOLOv5 (2021)</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tc>
                  <a:txBody>
                    <a:bodyPr/>
                    <a:lstStyle/>
                    <a:p>
                      <a:pPr marL="0" marR="0" algn="just">
                        <a:lnSpc>
                          <a:spcPct val="150000"/>
                        </a:lnSpc>
                      </a:pPr>
                      <a:r>
                        <a:rPr lang="en-IN" sz="1600">
                          <a:effectLst/>
                        </a:rPr>
                        <a:t> Requires high computational resources, May face challenges in real-time processing.</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extLst>
                  <a:ext uri="{0D108BD9-81ED-4DB2-BD59-A6C34878D82A}">
                    <a16:rowId xmlns:a16="http://schemas.microsoft.com/office/drawing/2014/main" val="1370765650"/>
                  </a:ext>
                </a:extLst>
              </a:tr>
              <a:tr h="1648189">
                <a:tc>
                  <a:txBody>
                    <a:bodyPr/>
                    <a:lstStyle/>
                    <a:p>
                      <a:pPr marL="0" marR="0" algn="ctr">
                        <a:lnSpc>
                          <a:spcPct val="150000"/>
                        </a:lnSpc>
                      </a:pPr>
                      <a:r>
                        <a:rPr lang="en-IN" sz="1600">
                          <a:effectLst/>
                        </a:rPr>
                        <a:t> </a:t>
                      </a:r>
                      <a:endParaRPr lang="en-US" sz="1600">
                        <a:effectLst/>
                      </a:endParaRPr>
                    </a:p>
                    <a:p>
                      <a:pPr marL="0" marR="0" algn="ctr">
                        <a:lnSpc>
                          <a:spcPct val="150000"/>
                        </a:lnSpc>
                      </a:pPr>
                      <a:r>
                        <a:rPr lang="en-IN" sz="1600">
                          <a:effectLst/>
                        </a:rPr>
                        <a:t> </a:t>
                      </a:r>
                      <a:endParaRPr lang="en-US" sz="1600">
                        <a:effectLst/>
                      </a:endParaRPr>
                    </a:p>
                    <a:p>
                      <a:pPr marL="0" marR="0" algn="ctr">
                        <a:lnSpc>
                          <a:spcPct val="150000"/>
                        </a:lnSpc>
                      </a:pPr>
                      <a:r>
                        <a:rPr lang="en-IN" sz="1600">
                          <a:effectLst/>
                        </a:rPr>
                        <a:t>7</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tc>
                  <a:txBody>
                    <a:bodyPr/>
                    <a:lstStyle/>
                    <a:p>
                      <a:pPr marL="0" marR="0" algn="just">
                        <a:lnSpc>
                          <a:spcPct val="150000"/>
                        </a:lnSpc>
                      </a:pPr>
                      <a:r>
                        <a:rPr lang="en-IN" sz="1600">
                          <a:effectLst/>
                        </a:rPr>
                        <a:t> Jaeseung Baek, Taha J. Alhindi, Young-Seon Jeong, Myong K. Jeong, Seongho Seo, Jongseok Kang, We Shim, Yoseob Heo </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tc>
                  <a:txBody>
                    <a:bodyPr/>
                    <a:lstStyle/>
                    <a:p>
                      <a:pPr marL="0" marR="0" algn="just">
                        <a:lnSpc>
                          <a:spcPct val="150000"/>
                        </a:lnSpc>
                      </a:pPr>
                      <a:r>
                        <a:rPr lang="en-IN" sz="1600">
                          <a:effectLst/>
                        </a:rPr>
                        <a:t> Real-time fire detection system based on dynamic time warping of multichannel sensor networks (2021)</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tc>
                  <a:txBody>
                    <a:bodyPr/>
                    <a:lstStyle/>
                    <a:p>
                      <a:pPr marL="0" marR="0" algn="just">
                        <a:lnSpc>
                          <a:spcPct val="150000"/>
                        </a:lnSpc>
                      </a:pPr>
                      <a:r>
                        <a:rPr lang="en-IN" sz="1600" dirty="0">
                          <a:effectLst/>
                        </a:rPr>
                        <a:t>Complex sensor network integration, Vulnerable to environmental interferences.</a:t>
                      </a:r>
                      <a:endParaRPr lang="en-US" sz="1600" dirty="0">
                        <a:effectLst/>
                        <a:latin typeface="Times New Roman" panose="02020603050405020304" pitchFamily="18" charset="0"/>
                        <a:ea typeface="Times New Roman" panose="02020603050405020304" pitchFamily="18" charset="0"/>
                        <a:cs typeface="Arial" panose="020B0604020202020204" pitchFamily="34" charset="0"/>
                      </a:endParaRPr>
                    </a:p>
                  </a:txBody>
                  <a:tcPr marL="43722" marR="43722" marT="0" marB="0"/>
                </a:tc>
                <a:extLst>
                  <a:ext uri="{0D108BD9-81ED-4DB2-BD59-A6C34878D82A}">
                    <a16:rowId xmlns:a16="http://schemas.microsoft.com/office/drawing/2014/main" val="3295720405"/>
                  </a:ext>
                </a:extLst>
              </a:tr>
            </a:tbl>
          </a:graphicData>
        </a:graphic>
      </p:graphicFrame>
    </p:spTree>
    <p:extLst>
      <p:ext uri="{BB962C8B-B14F-4D97-AF65-F5344CB8AC3E}">
        <p14:creationId xmlns:p14="http://schemas.microsoft.com/office/powerpoint/2010/main" val="22039589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1E5AF8E0-254E-EC34-DAEC-0271942352FD}"/>
              </a:ext>
            </a:extLst>
          </p:cNvPr>
          <p:cNvGraphicFramePr>
            <a:graphicFrameLocks noGrp="1"/>
          </p:cNvGraphicFramePr>
          <p:nvPr>
            <p:extLst>
              <p:ext uri="{D42A27DB-BD31-4B8C-83A1-F6EECF244321}">
                <p14:modId xmlns:p14="http://schemas.microsoft.com/office/powerpoint/2010/main" val="2144312186"/>
              </p:ext>
            </p:extLst>
          </p:nvPr>
        </p:nvGraphicFramePr>
        <p:xfrm>
          <a:off x="530942" y="393291"/>
          <a:ext cx="11356258" cy="5162961"/>
        </p:xfrm>
        <a:graphic>
          <a:graphicData uri="http://schemas.openxmlformats.org/drawingml/2006/table">
            <a:tbl>
              <a:tblPr firstRow="1" firstCol="1" bandRow="1">
                <a:tableStyleId>{5C22544A-7EE6-4342-B048-85BDC9FD1C3A}</a:tableStyleId>
              </a:tblPr>
              <a:tblGrid>
                <a:gridCol w="2692485">
                  <a:extLst>
                    <a:ext uri="{9D8B030D-6E8A-4147-A177-3AD203B41FA5}">
                      <a16:colId xmlns:a16="http://schemas.microsoft.com/office/drawing/2014/main" val="597057360"/>
                    </a:ext>
                  </a:extLst>
                </a:gridCol>
                <a:gridCol w="2776426">
                  <a:extLst>
                    <a:ext uri="{9D8B030D-6E8A-4147-A177-3AD203B41FA5}">
                      <a16:colId xmlns:a16="http://schemas.microsoft.com/office/drawing/2014/main" val="1859055069"/>
                    </a:ext>
                  </a:extLst>
                </a:gridCol>
                <a:gridCol w="3072765">
                  <a:extLst>
                    <a:ext uri="{9D8B030D-6E8A-4147-A177-3AD203B41FA5}">
                      <a16:colId xmlns:a16="http://schemas.microsoft.com/office/drawing/2014/main" val="418840600"/>
                    </a:ext>
                  </a:extLst>
                </a:gridCol>
                <a:gridCol w="2814582">
                  <a:extLst>
                    <a:ext uri="{9D8B030D-6E8A-4147-A177-3AD203B41FA5}">
                      <a16:colId xmlns:a16="http://schemas.microsoft.com/office/drawing/2014/main" val="657261704"/>
                    </a:ext>
                  </a:extLst>
                </a:gridCol>
              </a:tblGrid>
              <a:tr h="2271165">
                <a:tc>
                  <a:txBody>
                    <a:bodyPr/>
                    <a:lstStyle/>
                    <a:p>
                      <a:pPr marL="0" marR="0" algn="ctr">
                        <a:lnSpc>
                          <a:spcPct val="150000"/>
                        </a:lnSpc>
                      </a:pPr>
                      <a:r>
                        <a:rPr lang="en-IN" sz="1600">
                          <a:effectLst/>
                        </a:rPr>
                        <a:t> </a:t>
                      </a:r>
                      <a:endParaRPr lang="en-US" sz="1600">
                        <a:effectLst/>
                      </a:endParaRPr>
                    </a:p>
                    <a:p>
                      <a:pPr marL="0" marR="0" algn="ctr">
                        <a:lnSpc>
                          <a:spcPct val="150000"/>
                        </a:lnSpc>
                      </a:pPr>
                      <a:r>
                        <a:rPr lang="en-IN" sz="1600">
                          <a:effectLst/>
                        </a:rPr>
                        <a:t> </a:t>
                      </a:r>
                      <a:endParaRPr lang="en-US" sz="1600">
                        <a:effectLst/>
                      </a:endParaRPr>
                    </a:p>
                    <a:p>
                      <a:pPr marL="0" marR="0" algn="ctr">
                        <a:lnSpc>
                          <a:spcPct val="150000"/>
                        </a:lnSpc>
                      </a:pPr>
                      <a:r>
                        <a:rPr lang="en-IN" sz="1600">
                          <a:effectLst/>
                        </a:rPr>
                        <a:t>8</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62956" marR="62956" marT="0" marB="0"/>
                </a:tc>
                <a:tc>
                  <a:txBody>
                    <a:bodyPr/>
                    <a:lstStyle/>
                    <a:p>
                      <a:pPr marL="0" marR="0" algn="just">
                        <a:lnSpc>
                          <a:spcPct val="150000"/>
                        </a:lnSpc>
                      </a:pPr>
                      <a:r>
                        <a:rPr lang="en-IN" sz="1600">
                          <a:effectLst/>
                        </a:rPr>
                        <a:t> Lee H-W, Lee K-O, Bae J-H, Kim S-Y, Park Y-Y </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62956" marR="62956" marT="0" marB="0"/>
                </a:tc>
                <a:tc>
                  <a:txBody>
                    <a:bodyPr/>
                    <a:lstStyle/>
                    <a:p>
                      <a:pPr marL="0" marR="0" algn="just">
                        <a:lnSpc>
                          <a:spcPct val="150000"/>
                        </a:lnSpc>
                      </a:pPr>
                      <a:r>
                        <a:rPr lang="en-IN" sz="1600">
                          <a:effectLst/>
                        </a:rPr>
                        <a:t> Using Hybrid Algorithms of Human Detection Technique for Detecting Indoor Disaster Victims (2022) </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62956" marR="62956" marT="0" marB="0"/>
                </a:tc>
                <a:tc>
                  <a:txBody>
                    <a:bodyPr/>
                    <a:lstStyle/>
                    <a:p>
                      <a:pPr marL="0" marR="0" algn="just">
                        <a:lnSpc>
                          <a:spcPct val="150000"/>
                        </a:lnSpc>
                      </a:pPr>
                      <a:r>
                        <a:rPr lang="en-IN" sz="1600">
                          <a:effectLst/>
                        </a:rPr>
                        <a:t> Complexity in algorithm implementation, Limited by environmental conditions like smoke.</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62956" marR="62956" marT="0" marB="0"/>
                </a:tc>
                <a:extLst>
                  <a:ext uri="{0D108BD9-81ED-4DB2-BD59-A6C34878D82A}">
                    <a16:rowId xmlns:a16="http://schemas.microsoft.com/office/drawing/2014/main" val="226171565"/>
                  </a:ext>
                </a:extLst>
              </a:tr>
              <a:tr h="1280845">
                <a:tc>
                  <a:txBody>
                    <a:bodyPr/>
                    <a:lstStyle/>
                    <a:p>
                      <a:pPr marL="0" marR="0" algn="ctr">
                        <a:lnSpc>
                          <a:spcPct val="150000"/>
                        </a:lnSpc>
                      </a:pPr>
                      <a:r>
                        <a:rPr lang="en-IN" sz="1600">
                          <a:effectLst/>
                        </a:rPr>
                        <a:t> </a:t>
                      </a:r>
                      <a:endParaRPr lang="en-US" sz="1600">
                        <a:effectLst/>
                      </a:endParaRPr>
                    </a:p>
                    <a:p>
                      <a:pPr marL="0" marR="0" algn="ctr">
                        <a:lnSpc>
                          <a:spcPct val="150000"/>
                        </a:lnSpc>
                      </a:pPr>
                      <a:r>
                        <a:rPr lang="en-IN" sz="1600">
                          <a:effectLst/>
                        </a:rPr>
                        <a:t>9</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62956" marR="62956" marT="0" marB="0"/>
                </a:tc>
                <a:tc>
                  <a:txBody>
                    <a:bodyPr/>
                    <a:lstStyle/>
                    <a:p>
                      <a:pPr marL="0" marR="0" algn="just">
                        <a:lnSpc>
                          <a:spcPct val="150000"/>
                        </a:lnSpc>
                      </a:pPr>
                      <a:r>
                        <a:rPr lang="en-IN" sz="1600">
                          <a:effectLst/>
                        </a:rPr>
                        <a:t> Chopde, Abhay et al. </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62956" marR="62956" marT="0" marB="0"/>
                </a:tc>
                <a:tc>
                  <a:txBody>
                    <a:bodyPr/>
                    <a:lstStyle/>
                    <a:p>
                      <a:pPr marL="0" marR="0" algn="just">
                        <a:lnSpc>
                          <a:spcPct val="150000"/>
                        </a:lnSpc>
                      </a:pPr>
                      <a:r>
                        <a:rPr lang="en-IN" sz="1600">
                          <a:effectLst/>
                        </a:rPr>
                        <a:t> Forest Fire Detection and Prediction from image processing using RCNN (2022)</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62956" marR="62956" marT="0" marB="0"/>
                </a:tc>
                <a:tc>
                  <a:txBody>
                    <a:bodyPr/>
                    <a:lstStyle/>
                    <a:p>
                      <a:pPr marL="0" marR="0" algn="just">
                        <a:lnSpc>
                          <a:spcPct val="150000"/>
                        </a:lnSpc>
                      </a:pPr>
                      <a:r>
                        <a:rPr lang="en-IN" sz="1600">
                          <a:effectLst/>
                        </a:rPr>
                        <a:t> Dependency on large datasets for training, Relies on clear image quality.</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62956" marR="62956" marT="0" marB="0"/>
                </a:tc>
                <a:extLst>
                  <a:ext uri="{0D108BD9-81ED-4DB2-BD59-A6C34878D82A}">
                    <a16:rowId xmlns:a16="http://schemas.microsoft.com/office/drawing/2014/main" val="3258847335"/>
                  </a:ext>
                </a:extLst>
              </a:tr>
              <a:tr h="1610951">
                <a:tc>
                  <a:txBody>
                    <a:bodyPr/>
                    <a:lstStyle/>
                    <a:p>
                      <a:pPr marL="0" marR="0" algn="ctr">
                        <a:lnSpc>
                          <a:spcPct val="150000"/>
                        </a:lnSpc>
                      </a:pPr>
                      <a:r>
                        <a:rPr lang="en-IN" sz="1600">
                          <a:effectLst/>
                        </a:rPr>
                        <a:t> </a:t>
                      </a:r>
                      <a:endParaRPr lang="en-US" sz="1600">
                        <a:effectLst/>
                      </a:endParaRPr>
                    </a:p>
                    <a:p>
                      <a:pPr marL="0" marR="0" algn="ctr">
                        <a:lnSpc>
                          <a:spcPct val="150000"/>
                        </a:lnSpc>
                      </a:pPr>
                      <a:r>
                        <a:rPr lang="en-IN" sz="1600">
                          <a:effectLst/>
                        </a:rPr>
                        <a:t> </a:t>
                      </a:r>
                      <a:endParaRPr lang="en-US" sz="1600">
                        <a:effectLst/>
                      </a:endParaRPr>
                    </a:p>
                    <a:p>
                      <a:pPr marL="0" marR="0" algn="ctr">
                        <a:lnSpc>
                          <a:spcPct val="150000"/>
                        </a:lnSpc>
                      </a:pPr>
                      <a:r>
                        <a:rPr lang="en-IN" sz="1600">
                          <a:effectLst/>
                        </a:rPr>
                        <a:t>10</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62956" marR="62956" marT="0" marB="0"/>
                </a:tc>
                <a:tc>
                  <a:txBody>
                    <a:bodyPr/>
                    <a:lstStyle/>
                    <a:p>
                      <a:pPr marL="0" marR="0" algn="just">
                        <a:lnSpc>
                          <a:spcPct val="150000"/>
                        </a:lnSpc>
                      </a:pPr>
                      <a:r>
                        <a:rPr lang="en-IN" sz="1600">
                          <a:effectLst/>
                        </a:rPr>
                        <a:t> Sathishkumar, V.E., Cho, J., Subramanian, M., et al. </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62956" marR="62956" marT="0" marB="0"/>
                </a:tc>
                <a:tc>
                  <a:txBody>
                    <a:bodyPr/>
                    <a:lstStyle/>
                    <a:p>
                      <a:pPr marL="0" marR="0" algn="just">
                        <a:lnSpc>
                          <a:spcPct val="150000"/>
                        </a:lnSpc>
                      </a:pPr>
                      <a:r>
                        <a:rPr lang="en-IN" sz="1600">
                          <a:effectLst/>
                        </a:rPr>
                        <a:t> Forest fire and smoke detection using deep learning-based learning without forgetting (2023)</a:t>
                      </a:r>
                      <a:endParaRPr lang="en-US" sz="1600">
                        <a:effectLst/>
                        <a:latin typeface="Times New Roman" panose="02020603050405020304" pitchFamily="18" charset="0"/>
                        <a:ea typeface="Times New Roman" panose="02020603050405020304" pitchFamily="18" charset="0"/>
                        <a:cs typeface="Arial" panose="020B0604020202020204" pitchFamily="34" charset="0"/>
                      </a:endParaRPr>
                    </a:p>
                  </a:txBody>
                  <a:tcPr marL="62956" marR="62956" marT="0" marB="0"/>
                </a:tc>
                <a:tc>
                  <a:txBody>
                    <a:bodyPr/>
                    <a:lstStyle/>
                    <a:p>
                      <a:pPr marL="0" marR="0" algn="just">
                        <a:lnSpc>
                          <a:spcPct val="150000"/>
                        </a:lnSpc>
                      </a:pPr>
                      <a:r>
                        <a:rPr lang="en-IN" sz="1600" dirty="0">
                          <a:effectLst/>
                        </a:rPr>
                        <a:t> High computational demand for training, Needs continuous retraining with new data.</a:t>
                      </a:r>
                      <a:endParaRPr lang="en-US" sz="1600" dirty="0">
                        <a:effectLst/>
                        <a:latin typeface="Times New Roman" panose="02020603050405020304" pitchFamily="18" charset="0"/>
                        <a:ea typeface="Times New Roman" panose="02020603050405020304" pitchFamily="18" charset="0"/>
                        <a:cs typeface="Arial" panose="020B0604020202020204" pitchFamily="34" charset="0"/>
                      </a:endParaRPr>
                    </a:p>
                  </a:txBody>
                  <a:tcPr marL="62956" marR="62956" marT="0" marB="0"/>
                </a:tc>
                <a:extLst>
                  <a:ext uri="{0D108BD9-81ED-4DB2-BD59-A6C34878D82A}">
                    <a16:rowId xmlns:a16="http://schemas.microsoft.com/office/drawing/2014/main" val="3194502198"/>
                  </a:ext>
                </a:extLst>
              </a:tr>
            </a:tbl>
          </a:graphicData>
        </a:graphic>
      </p:graphicFrame>
    </p:spTree>
    <p:extLst>
      <p:ext uri="{BB962C8B-B14F-4D97-AF65-F5344CB8AC3E}">
        <p14:creationId xmlns:p14="http://schemas.microsoft.com/office/powerpoint/2010/main" val="8723825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34298" y="275444"/>
            <a:ext cx="10550012" cy="1030878"/>
          </a:xfrm>
          <a:prstGeom prst="rect">
            <a:avLst/>
          </a:prstGeom>
        </p:spPr>
        <p:txBody>
          <a:bodyPr vert="horz" wrap="square" lIns="0" tIns="350348" rIns="0" bIns="0" rtlCol="0">
            <a:spAutoFit/>
          </a:bodyPr>
          <a:lstStyle/>
          <a:p>
            <a:pPr marL="12700">
              <a:lnSpc>
                <a:spcPct val="100000"/>
              </a:lnSpc>
              <a:spcBef>
                <a:spcPts val="130"/>
              </a:spcBef>
            </a:pPr>
            <a:r>
              <a:rPr spc="-45" dirty="0"/>
              <a:t>Proposed</a:t>
            </a:r>
            <a:r>
              <a:rPr spc="-200" dirty="0"/>
              <a:t> </a:t>
            </a:r>
            <a:r>
              <a:rPr spc="-35" dirty="0"/>
              <a:t>Methodology</a:t>
            </a:r>
          </a:p>
        </p:txBody>
      </p:sp>
      <p:sp>
        <p:nvSpPr>
          <p:cNvPr id="3" name="Text Placeholder 2">
            <a:extLst>
              <a:ext uri="{FF2B5EF4-FFF2-40B4-BE49-F238E27FC236}">
                <a16:creationId xmlns:a16="http://schemas.microsoft.com/office/drawing/2014/main" id="{F6597441-2FEC-432D-6F55-17397E825457}"/>
              </a:ext>
            </a:extLst>
          </p:cNvPr>
          <p:cNvSpPr>
            <a:spLocks noGrp="1"/>
          </p:cNvSpPr>
          <p:nvPr>
            <p:ph type="body" idx="1"/>
          </p:nvPr>
        </p:nvSpPr>
        <p:spPr>
          <a:xfrm>
            <a:off x="334299" y="1189703"/>
            <a:ext cx="11857702" cy="4708981"/>
          </a:xfrm>
        </p:spPr>
        <p:txBody>
          <a:bodyPr wrap="square" lIns="0" tIns="0" rIns="0" bIns="0" anchor="t">
            <a:spAutoFit/>
          </a:bodyPr>
          <a:lstStyle/>
          <a:p>
            <a:pPr marL="285750" indent="-285750" algn="just">
              <a:buFont typeface="Arial" panose="020B0604020202020204" pitchFamily="34" charset="0"/>
              <a:buChar char="•"/>
            </a:pPr>
            <a:r>
              <a:rPr lang="en-US" b="1" dirty="0">
                <a:ea typeface="+mn-lt"/>
                <a:cs typeface="+mn-lt"/>
              </a:rPr>
              <a:t>YOLOv8:</a:t>
            </a:r>
          </a:p>
          <a:p>
            <a:pPr marL="285750" indent="-285750" algn="just">
              <a:buFont typeface="Arial" panose="020B0604020202020204" pitchFamily="34" charset="0"/>
              <a:buChar char="•"/>
            </a:pPr>
            <a:r>
              <a:rPr lang="en-US" dirty="0"/>
              <a:t>YOLOv8 algorithm in the fire, smoke, and human detection project begins with data preparation, utilizing a comprehensive dataset sourced from </a:t>
            </a:r>
            <a:r>
              <a:rPr lang="en-US" dirty="0" err="1"/>
              <a:t>Roboflow</a:t>
            </a:r>
            <a:r>
              <a:rPr lang="en-US" dirty="0"/>
              <a:t>. </a:t>
            </a:r>
          </a:p>
          <a:p>
            <a:pPr marL="285750" indent="-285750" algn="just">
              <a:buFont typeface="Arial" panose="020B0604020202020204" pitchFamily="34" charset="0"/>
              <a:buChar char="•"/>
            </a:pPr>
            <a:r>
              <a:rPr lang="en-US" dirty="0"/>
              <a:t>This dataset includes a variety of annotated images containing instances of fire, smoke, and humans in diverse conditions. </a:t>
            </a:r>
          </a:p>
          <a:p>
            <a:pPr marL="285750" indent="-285750" algn="just">
              <a:buFont typeface="Arial" panose="020B0604020202020204" pitchFamily="34" charset="0"/>
              <a:buChar char="•"/>
            </a:pPr>
            <a:r>
              <a:rPr lang="en-US" dirty="0"/>
              <a:t>The images undergo preprocessing, which includes resizing, normalization, and augmentation techniques to enhance model robustness and prevent overfitting. </a:t>
            </a:r>
          </a:p>
          <a:p>
            <a:pPr marL="285750" indent="-285750" algn="just">
              <a:buFont typeface="Arial" panose="020B0604020202020204" pitchFamily="34" charset="0"/>
              <a:buChar char="•"/>
            </a:pPr>
            <a:r>
              <a:rPr lang="en-US" dirty="0"/>
              <a:t>Following data preparation, the YOLOv8 model architecture is established, leveraging its advanced features for real-time object detection. </a:t>
            </a:r>
          </a:p>
          <a:p>
            <a:pPr marL="285750" indent="-285750" algn="just">
              <a:buFont typeface="Arial" panose="020B0604020202020204" pitchFamily="34" charset="0"/>
              <a:buChar char="•"/>
            </a:pPr>
            <a:r>
              <a:rPr lang="en-US" dirty="0"/>
              <a:t>The model is then trained on the prepared dataset using transfer learning, which fine-tunes the pre-trained weights on the YOLOv8 model, allowing it to learn specific characteristics of the target classes more effectively. </a:t>
            </a:r>
          </a:p>
          <a:p>
            <a:pPr marL="285750" indent="-285750" algn="just">
              <a:buFont typeface="Arial" panose="020B0604020202020204" pitchFamily="34" charset="0"/>
              <a:buChar char="•"/>
            </a:pPr>
            <a:r>
              <a:rPr lang="en-US" dirty="0"/>
              <a:t>Hyperparameter tuning is conducted to optimize training parameters such as learning rate, batch size, and epochs, ensuring the model converges efficiently. </a:t>
            </a:r>
          </a:p>
          <a:p>
            <a:pPr marL="285750" indent="-285750" algn="just">
              <a:buFont typeface="Arial" panose="020B0604020202020204" pitchFamily="34" charset="0"/>
              <a:buChar char="•"/>
            </a:pPr>
            <a:r>
              <a:rPr lang="en-US" dirty="0"/>
              <a:t>During training, validation data is used to monitor performance and adjust parameters as necessary. After training completion, the model's accuracy and performance are evaluated using metrics like mean Average Precision (</a:t>
            </a:r>
            <a:r>
              <a:rPr lang="en-US" dirty="0" err="1"/>
              <a:t>mAP</a:t>
            </a:r>
            <a:r>
              <a:rPr lang="en-US" dirty="0"/>
              <a:t>) </a:t>
            </a:r>
          </a:p>
          <a:p>
            <a:pPr marL="285750" indent="-285750" algn="just">
              <a:buFont typeface="Arial" panose="020B0604020202020204" pitchFamily="34" charset="0"/>
              <a:buChar char="•"/>
            </a:pPr>
            <a:r>
              <a:rPr lang="en-US" dirty="0"/>
              <a:t>Finally, the trained YOLOv8 model is integrated into an application that allows for both image uploads and live camera feeds, providing real-time detection capabilities for users</a:t>
            </a:r>
            <a:endParaRPr lang="en-US" dirty="0">
              <a:ea typeface="+mn-lt"/>
              <a:cs typeface="+mn-lt"/>
            </a:endParaRPr>
          </a:p>
          <a:p>
            <a:pPr marL="285750" indent="-285750" algn="just">
              <a:buFont typeface="Arial" panose="020B0604020202020204" pitchFamily="34" charset="0"/>
              <a:buChar char="•"/>
            </a:pPr>
            <a:endParaRPr lang="en-US" b="1" dirty="0">
              <a:ea typeface="Calibri"/>
              <a:cs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6597441-2FEC-432D-6F55-17397E825457}"/>
              </a:ext>
            </a:extLst>
          </p:cNvPr>
          <p:cNvSpPr>
            <a:spLocks noGrp="1"/>
          </p:cNvSpPr>
          <p:nvPr>
            <p:ph type="body" idx="1"/>
          </p:nvPr>
        </p:nvSpPr>
        <p:spPr>
          <a:xfrm>
            <a:off x="577676" y="501457"/>
            <a:ext cx="11201452" cy="5262979"/>
          </a:xfrm>
        </p:spPr>
        <p:txBody>
          <a:bodyPr wrap="square" lIns="0" tIns="0" rIns="0" bIns="0" anchor="t">
            <a:spAutoFit/>
          </a:bodyPr>
          <a:lstStyle/>
          <a:p>
            <a:pPr marL="285750" indent="-285750" algn="just">
              <a:buFont typeface="Arial" panose="020B0604020202020204" pitchFamily="34" charset="0"/>
              <a:buChar char="•"/>
            </a:pPr>
            <a:r>
              <a:rPr lang="en-US" b="1" dirty="0">
                <a:ea typeface="+mn-lt"/>
                <a:cs typeface="+mn-lt"/>
              </a:rPr>
              <a:t> YOLOv9:</a:t>
            </a:r>
            <a:endParaRPr lang="en-US" dirty="0"/>
          </a:p>
          <a:p>
            <a:pPr marL="285750" indent="-285750" algn="just">
              <a:buFont typeface="Arial" panose="020B0604020202020204" pitchFamily="34" charset="0"/>
              <a:buChar char="•"/>
            </a:pPr>
            <a:endParaRPr lang="en-US" b="1" dirty="0">
              <a:ea typeface="+mn-lt"/>
              <a:cs typeface="+mn-lt"/>
            </a:endParaRPr>
          </a:p>
          <a:p>
            <a:pPr marL="285750" indent="-285750" algn="just">
              <a:buFont typeface="Arial" panose="020B0604020202020204" pitchFamily="34" charset="0"/>
              <a:buChar char="•"/>
            </a:pPr>
            <a:r>
              <a:rPr lang="en-US" sz="1800" dirty="0">
                <a:latin typeface="Times New Roman" panose="02020603050405020304" pitchFamily="18" charset="0"/>
                <a:ea typeface="Calibri" panose="020F0502020204030204" pitchFamily="34" charset="0"/>
                <a:cs typeface="Times New Roman" panose="02020603050405020304" pitchFamily="18" charset="0"/>
              </a:rPr>
              <a:t>YOLOv9 algorithm in the fire, smoke, and human detection project builds upon the foundation established by YOLOv8, incorporating enhancements to improve detection accuracy and efficiency. </a:t>
            </a:r>
          </a:p>
          <a:p>
            <a:pPr marL="285750" indent="-285750" algn="just">
              <a:buFont typeface="Arial" panose="020B0604020202020204" pitchFamily="34" charset="0"/>
              <a:buChar char="•"/>
            </a:pPr>
            <a:r>
              <a:rPr lang="en-US" sz="1800" dirty="0">
                <a:latin typeface="Times New Roman" panose="02020603050405020304" pitchFamily="18" charset="0"/>
                <a:ea typeface="Calibri" panose="020F0502020204030204" pitchFamily="34" charset="0"/>
                <a:cs typeface="Times New Roman" panose="02020603050405020304" pitchFamily="18" charset="0"/>
              </a:rPr>
              <a:t>The process begins with the same dataset from </a:t>
            </a:r>
            <a:r>
              <a:rPr lang="en-US" sz="1800" dirty="0" err="1">
                <a:latin typeface="Times New Roman" panose="02020603050405020304" pitchFamily="18" charset="0"/>
                <a:ea typeface="Calibri" panose="020F0502020204030204" pitchFamily="34" charset="0"/>
                <a:cs typeface="Times New Roman" panose="02020603050405020304" pitchFamily="18" charset="0"/>
              </a:rPr>
              <a:t>Roboflow</a:t>
            </a:r>
            <a:r>
              <a:rPr lang="en-US" sz="1800" dirty="0">
                <a:latin typeface="Times New Roman" panose="02020603050405020304" pitchFamily="18" charset="0"/>
                <a:ea typeface="Calibri" panose="020F0502020204030204" pitchFamily="34" charset="0"/>
                <a:cs typeface="Times New Roman" panose="02020603050405020304" pitchFamily="18" charset="0"/>
              </a:rPr>
              <a:t>, which is thoroughly curated and annotated to include various scenarios of fire, smoke, and human presence. </a:t>
            </a:r>
          </a:p>
          <a:p>
            <a:pPr marL="285750" indent="-285750" algn="just">
              <a:buFont typeface="Arial" panose="020B0604020202020204" pitchFamily="34" charset="0"/>
              <a:buChar char="•"/>
            </a:pPr>
            <a:r>
              <a:rPr lang="en-US" sz="1800" dirty="0">
                <a:latin typeface="Times New Roman" panose="02020603050405020304" pitchFamily="18" charset="0"/>
                <a:ea typeface="Calibri" panose="020F0502020204030204" pitchFamily="34" charset="0"/>
                <a:cs typeface="Times New Roman" panose="02020603050405020304" pitchFamily="18" charset="0"/>
              </a:rPr>
              <a:t>Data preprocessing is performed, including resizing images to the appropriate input dimensions, normalizing pixel values, and applying data augmentation techniques to enhance diversity in the training dataset. </a:t>
            </a:r>
          </a:p>
          <a:p>
            <a:pPr marL="285750" indent="-285750" algn="just">
              <a:buFont typeface="Arial" panose="020B0604020202020204" pitchFamily="34" charset="0"/>
              <a:buChar char="•"/>
            </a:pPr>
            <a:r>
              <a:rPr lang="en-US" sz="1800" dirty="0">
                <a:latin typeface="Times New Roman" panose="02020603050405020304" pitchFamily="18" charset="0"/>
                <a:ea typeface="Calibri" panose="020F0502020204030204" pitchFamily="34" charset="0"/>
                <a:cs typeface="Times New Roman" panose="02020603050405020304" pitchFamily="18" charset="0"/>
              </a:rPr>
              <a:t>The YOLOv9 model architecture is then defined, capitalizing on its improved features, such as better backbone networks and enhanced feature pyramid networks for more precise object detection. </a:t>
            </a:r>
          </a:p>
          <a:p>
            <a:pPr marL="285750" indent="-285750" algn="just">
              <a:buFont typeface="Arial" panose="020B0604020202020204" pitchFamily="34" charset="0"/>
              <a:buChar char="•"/>
            </a:pPr>
            <a:r>
              <a:rPr lang="en-US" sz="1800" dirty="0">
                <a:latin typeface="Times New Roman" panose="02020603050405020304" pitchFamily="18" charset="0"/>
                <a:ea typeface="Calibri" panose="020F0502020204030204" pitchFamily="34" charset="0"/>
                <a:cs typeface="Times New Roman" panose="02020603050405020304" pitchFamily="18" charset="0"/>
              </a:rPr>
              <a:t>The training process utilizes transfer learning, initializing the model with weights from pre-trained YOLOv9 models to expedite convergence and enhance learning efficiency. </a:t>
            </a:r>
          </a:p>
          <a:p>
            <a:pPr marL="285750" indent="-285750" algn="just">
              <a:buFont typeface="Arial" panose="020B0604020202020204" pitchFamily="34" charset="0"/>
              <a:buChar char="•"/>
            </a:pPr>
            <a:r>
              <a:rPr lang="en-US" sz="1800" dirty="0">
                <a:latin typeface="Times New Roman" panose="02020603050405020304" pitchFamily="18" charset="0"/>
                <a:ea typeface="Calibri" panose="020F0502020204030204" pitchFamily="34" charset="0"/>
                <a:cs typeface="Times New Roman" panose="02020603050405020304" pitchFamily="18" charset="0"/>
              </a:rPr>
              <a:t>Hyperparameter tuning is conducted to optimize the training process, adjusting parameters like learning rate, batch size, and number of epochs for maximum performance. As the model trains, validation data is used to regularly assess its performance, employing metrics such as mean Average Precision (</a:t>
            </a:r>
            <a:r>
              <a:rPr lang="en-US" sz="1800" dirty="0" err="1">
                <a:latin typeface="Times New Roman" panose="02020603050405020304" pitchFamily="18" charset="0"/>
                <a:ea typeface="Calibri" panose="020F0502020204030204" pitchFamily="34" charset="0"/>
                <a:cs typeface="Times New Roman" panose="02020603050405020304" pitchFamily="18" charset="0"/>
              </a:rPr>
              <a:t>mAP</a:t>
            </a:r>
            <a:r>
              <a:rPr lang="en-US" sz="1800" dirty="0">
                <a:latin typeface="Times New Roman" panose="02020603050405020304" pitchFamily="18" charset="0"/>
                <a:ea typeface="Calibri" panose="020F0502020204030204" pitchFamily="34" charset="0"/>
                <a:cs typeface="Times New Roman" panose="02020603050405020304" pitchFamily="18" charset="0"/>
              </a:rPr>
              <a:t>) and Intersection over Union (</a:t>
            </a:r>
            <a:r>
              <a:rPr lang="en-US" sz="1800" dirty="0" err="1">
                <a:latin typeface="Times New Roman" panose="02020603050405020304" pitchFamily="18" charset="0"/>
                <a:ea typeface="Calibri" panose="020F0502020204030204" pitchFamily="34" charset="0"/>
                <a:cs typeface="Times New Roman" panose="02020603050405020304" pitchFamily="18" charset="0"/>
              </a:rPr>
              <a:t>IoU</a:t>
            </a:r>
            <a:r>
              <a:rPr lang="en-US" sz="1800" dirty="0">
                <a:latin typeface="Times New Roman" panose="02020603050405020304" pitchFamily="18" charset="0"/>
                <a:ea typeface="Calibri" panose="020F0502020204030204" pitchFamily="34" charset="0"/>
                <a:cs typeface="Times New Roman" panose="02020603050405020304" pitchFamily="18" charset="0"/>
              </a:rPr>
              <a:t>) to monitor progress. </a:t>
            </a:r>
          </a:p>
          <a:p>
            <a:pPr marL="285750" indent="-285750" algn="just">
              <a:buFont typeface="Arial" panose="020B0604020202020204" pitchFamily="34" charset="0"/>
              <a:buChar char="•"/>
            </a:pPr>
            <a:r>
              <a:rPr lang="en-US" sz="1800" dirty="0">
                <a:latin typeface="Times New Roman" panose="02020603050405020304" pitchFamily="18" charset="0"/>
                <a:ea typeface="Calibri" panose="020F0502020204030204" pitchFamily="34" charset="0"/>
                <a:cs typeface="Times New Roman" panose="02020603050405020304" pitchFamily="18" charset="0"/>
              </a:rPr>
              <a:t>Upon completion of training, the YOLOv9 model is integrated into an application that supports both image uploads and live camera feeds, delivering real-time detection capabilities for fire, smoke, and human identification in critical environments.</a:t>
            </a:r>
            <a:endParaRPr lang="en-US" b="1" dirty="0">
              <a:ea typeface="Calibri"/>
              <a:cs typeface="Calibri"/>
            </a:endParaRPr>
          </a:p>
        </p:txBody>
      </p:sp>
    </p:spTree>
    <p:extLst>
      <p:ext uri="{BB962C8B-B14F-4D97-AF65-F5344CB8AC3E}">
        <p14:creationId xmlns:p14="http://schemas.microsoft.com/office/powerpoint/2010/main" val="11613659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50348" rIns="0" bIns="0" rtlCol="0">
            <a:spAutoFit/>
          </a:bodyPr>
          <a:lstStyle/>
          <a:p>
            <a:pPr marL="12700">
              <a:lnSpc>
                <a:spcPct val="100000"/>
              </a:lnSpc>
              <a:spcBef>
                <a:spcPts val="130"/>
              </a:spcBef>
            </a:pPr>
            <a:r>
              <a:rPr spc="-30"/>
              <a:t>Objectives</a:t>
            </a:r>
          </a:p>
        </p:txBody>
      </p:sp>
      <p:sp>
        <p:nvSpPr>
          <p:cNvPr id="3" name="Text Placeholder 2">
            <a:extLst>
              <a:ext uri="{FF2B5EF4-FFF2-40B4-BE49-F238E27FC236}">
                <a16:creationId xmlns:a16="http://schemas.microsoft.com/office/drawing/2014/main" id="{084694B6-337A-7C60-B402-69E046F85147}"/>
              </a:ext>
            </a:extLst>
          </p:cNvPr>
          <p:cNvSpPr>
            <a:spLocks noGrp="1"/>
          </p:cNvSpPr>
          <p:nvPr>
            <p:ph type="body" idx="1"/>
          </p:nvPr>
        </p:nvSpPr>
        <p:spPr>
          <a:xfrm>
            <a:off x="911703" y="1618361"/>
            <a:ext cx="11076192" cy="3600986"/>
          </a:xfrm>
        </p:spPr>
        <p:txBody>
          <a:bodyPr wrap="square" lIns="0" tIns="0" rIns="0" bIns="0" anchor="t">
            <a:spAutoFit/>
          </a:bodyPr>
          <a:lstStyle/>
          <a:p>
            <a:pPr marL="285750" indent="-285750" algn="l">
              <a:buFont typeface="Arial"/>
              <a:buChar char="•"/>
            </a:pPr>
            <a:r>
              <a:rPr lang="en-US" b="1" dirty="0">
                <a:ea typeface="+mn-lt"/>
                <a:cs typeface="+mn-lt"/>
              </a:rPr>
              <a:t>Real-Time Detection System:</a:t>
            </a:r>
            <a:endParaRPr lang="en-US" dirty="0"/>
          </a:p>
          <a:p>
            <a:pPr algn="l"/>
            <a:r>
              <a:rPr lang="en-US" dirty="0">
                <a:ea typeface="+mn-lt"/>
                <a:cs typeface="+mn-lt"/>
              </a:rPr>
              <a:t>  Develop a detection system using YOLOv8 and YOLOv9 to accurately identify humans, fire, and smoke in real-time.</a:t>
            </a:r>
            <a:endParaRPr lang="en-US" dirty="0">
              <a:ea typeface="Calibri"/>
              <a:cs typeface="Calibri"/>
            </a:endParaRPr>
          </a:p>
          <a:p>
            <a:pPr marL="285750" indent="-285750" algn="l">
              <a:buFont typeface="Arial"/>
              <a:buChar char="•"/>
            </a:pPr>
            <a:r>
              <a:rPr lang="en-US" b="1" dirty="0">
                <a:ea typeface="+mn-lt"/>
                <a:cs typeface="+mn-lt"/>
              </a:rPr>
              <a:t>Data Utilization</a:t>
            </a:r>
            <a:endParaRPr lang="en-US" dirty="0">
              <a:ea typeface="+mn-lt"/>
              <a:cs typeface="+mn-lt"/>
            </a:endParaRPr>
          </a:p>
          <a:p>
            <a:pPr algn="l"/>
            <a:r>
              <a:rPr lang="en-US" dirty="0">
                <a:ea typeface="+mn-lt"/>
                <a:cs typeface="+mn-lt"/>
              </a:rPr>
              <a:t>  Use a </a:t>
            </a:r>
            <a:r>
              <a:rPr lang="en-US" dirty="0" err="1">
                <a:ea typeface="+mn-lt"/>
                <a:cs typeface="+mn-lt"/>
              </a:rPr>
              <a:t>Roboflow</a:t>
            </a:r>
            <a:r>
              <a:rPr lang="en-US" dirty="0">
                <a:ea typeface="+mn-lt"/>
                <a:cs typeface="+mn-lt"/>
              </a:rPr>
              <a:t> dataset of humans, fire, and smoke to train and validate the models.</a:t>
            </a:r>
            <a:endParaRPr lang="en-US" dirty="0">
              <a:ea typeface="Calibri"/>
              <a:cs typeface="Calibri"/>
            </a:endParaRPr>
          </a:p>
          <a:p>
            <a:pPr marL="285750" indent="-285750" algn="l">
              <a:buFont typeface="Arial"/>
              <a:buChar char="•"/>
            </a:pPr>
            <a:r>
              <a:rPr lang="en-US" b="1" dirty="0">
                <a:ea typeface="+mn-lt"/>
                <a:cs typeface="+mn-lt"/>
              </a:rPr>
              <a:t>Model Implementation and Optimization</a:t>
            </a:r>
          </a:p>
          <a:p>
            <a:pPr algn="l"/>
            <a:r>
              <a:rPr lang="en-US" dirty="0">
                <a:ea typeface="+mn-lt"/>
                <a:cs typeface="+mn-lt"/>
              </a:rPr>
              <a:t>  Implement YOLOv8 and YOLOv9 in Python with Google </a:t>
            </a:r>
            <a:r>
              <a:rPr lang="en-US" dirty="0" err="1">
                <a:ea typeface="+mn-lt"/>
                <a:cs typeface="+mn-lt"/>
              </a:rPr>
              <a:t>Colab</a:t>
            </a:r>
            <a:r>
              <a:rPr lang="en-US" dirty="0">
                <a:ea typeface="+mn-lt"/>
                <a:cs typeface="+mn-lt"/>
              </a:rPr>
              <a:t>, optimizing for accuracy, speed, and efficiency.</a:t>
            </a:r>
            <a:endParaRPr lang="en-US" dirty="0">
              <a:ea typeface="Calibri"/>
              <a:cs typeface="Calibri"/>
            </a:endParaRPr>
          </a:p>
          <a:p>
            <a:pPr marL="285750" indent="-285750" algn="l">
              <a:buFont typeface="Arial"/>
              <a:buChar char="•"/>
            </a:pPr>
            <a:r>
              <a:rPr lang="en-US" b="1" dirty="0">
                <a:ea typeface="+mn-lt"/>
                <a:cs typeface="+mn-lt"/>
              </a:rPr>
              <a:t>Performance Comparison</a:t>
            </a:r>
            <a:endParaRPr lang="en-US" dirty="0">
              <a:ea typeface="+mn-lt"/>
              <a:cs typeface="+mn-lt"/>
            </a:endParaRPr>
          </a:p>
          <a:p>
            <a:pPr algn="l"/>
            <a:r>
              <a:rPr lang="en-US" dirty="0">
                <a:ea typeface="+mn-lt"/>
                <a:cs typeface="+mn-lt"/>
              </a:rPr>
              <a:t>  Compare YOLOv8 and YOLOv9 based on accuracy, speed, and robustness across scenarios.</a:t>
            </a:r>
            <a:endParaRPr lang="en-US" dirty="0">
              <a:ea typeface="Calibri"/>
              <a:cs typeface="Calibri"/>
            </a:endParaRPr>
          </a:p>
          <a:p>
            <a:pPr marL="285750" indent="-285750" algn="l">
              <a:buFont typeface="Arial"/>
              <a:buChar char="•"/>
            </a:pPr>
            <a:r>
              <a:rPr lang="en-US" b="1" dirty="0">
                <a:ea typeface="+mn-lt"/>
                <a:cs typeface="+mn-lt"/>
              </a:rPr>
              <a:t>Real-Time Processing</a:t>
            </a:r>
          </a:p>
          <a:p>
            <a:pPr algn="l"/>
            <a:r>
              <a:rPr lang="en-US" dirty="0">
                <a:ea typeface="+mn-lt"/>
                <a:cs typeface="+mn-lt"/>
              </a:rPr>
              <a:t>  Enable real-time image and video processing from a laptop camera, managing resolution and clarity challenges.</a:t>
            </a:r>
            <a:endParaRPr lang="en-US" dirty="0">
              <a:ea typeface="Calibri"/>
              <a:cs typeface="Calibri"/>
            </a:endParaRPr>
          </a:p>
          <a:p>
            <a:pPr marL="285750" indent="-285750" algn="l">
              <a:buFont typeface="Arial"/>
              <a:buChar char="•"/>
            </a:pPr>
            <a:r>
              <a:rPr lang="en-US" b="1" dirty="0">
                <a:ea typeface="+mn-lt"/>
                <a:cs typeface="+mn-lt"/>
              </a:rPr>
              <a:t>Visual feedback</a:t>
            </a:r>
          </a:p>
          <a:p>
            <a:pPr algn="l"/>
            <a:r>
              <a:rPr lang="en-US" dirty="0">
                <a:ea typeface="+mn-lt"/>
                <a:cs typeface="+mn-lt"/>
              </a:rPr>
              <a:t>  Implement real-time visual feedback to enhance safety and emergency response.</a:t>
            </a:r>
            <a:endParaRPr lang="en-US" dirty="0">
              <a:ea typeface="Calibri"/>
              <a:cs typeface="Calibri"/>
            </a:endParaRPr>
          </a:p>
          <a:p>
            <a:endParaRPr lang="en-US" dirty="0">
              <a:ea typeface="Calibri"/>
              <a:cs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07743" y="73121"/>
            <a:ext cx="8938260" cy="1056640"/>
          </a:xfrm>
          <a:prstGeom prst="rect">
            <a:avLst/>
          </a:prstGeom>
        </p:spPr>
        <p:txBody>
          <a:bodyPr vert="horz" wrap="square" lIns="0" tIns="350348" rIns="0" bIns="0" rtlCol="0">
            <a:spAutoFit/>
          </a:bodyPr>
          <a:lstStyle/>
          <a:p>
            <a:pPr marL="12700">
              <a:lnSpc>
                <a:spcPct val="100000"/>
              </a:lnSpc>
              <a:spcBef>
                <a:spcPts val="130"/>
              </a:spcBef>
            </a:pPr>
            <a:r>
              <a:rPr spc="-65" dirty="0"/>
              <a:t>System</a:t>
            </a:r>
            <a:r>
              <a:rPr spc="-150" dirty="0"/>
              <a:t> </a:t>
            </a:r>
            <a:r>
              <a:rPr spc="-25" dirty="0"/>
              <a:t>Design</a:t>
            </a:r>
            <a:r>
              <a:rPr spc="-140" dirty="0"/>
              <a:t> </a:t>
            </a:r>
            <a:r>
              <a:rPr dirty="0"/>
              <a:t>&amp;</a:t>
            </a:r>
            <a:r>
              <a:rPr spc="-125" dirty="0"/>
              <a:t> </a:t>
            </a:r>
            <a:r>
              <a:rPr spc="-35" dirty="0"/>
              <a:t>Implementation</a:t>
            </a:r>
          </a:p>
        </p:txBody>
      </p:sp>
      <p:sp>
        <p:nvSpPr>
          <p:cNvPr id="3" name="Text Placeholder 2">
            <a:extLst>
              <a:ext uri="{FF2B5EF4-FFF2-40B4-BE49-F238E27FC236}">
                <a16:creationId xmlns:a16="http://schemas.microsoft.com/office/drawing/2014/main" id="{E70756B0-BCB0-8A45-0F8D-963D91E59CF6}"/>
              </a:ext>
            </a:extLst>
          </p:cNvPr>
          <p:cNvSpPr>
            <a:spLocks noGrp="1"/>
          </p:cNvSpPr>
          <p:nvPr>
            <p:ph type="body" idx="1"/>
          </p:nvPr>
        </p:nvSpPr>
        <p:spPr>
          <a:xfrm>
            <a:off x="5693787" y="1332084"/>
            <a:ext cx="6413371" cy="4170372"/>
          </a:xfrm>
        </p:spPr>
        <p:txBody>
          <a:bodyPr wrap="square" lIns="0" tIns="0" rIns="0" bIns="0" anchor="t">
            <a:spAutoFit/>
          </a:bodyPr>
          <a:lstStyle/>
          <a:p>
            <a:pPr algn="just">
              <a:lnSpc>
                <a:spcPct val="150000"/>
              </a:lnSpc>
              <a:spcBef>
                <a:spcPts val="1200"/>
              </a:spcBef>
              <a:spcAft>
                <a:spcPts val="1200"/>
              </a:spcAft>
            </a:pPr>
            <a:r>
              <a:rPr lang="en-IN" b="1" dirty="0">
                <a:solidFill>
                  <a:srgbClr val="000000"/>
                </a:solidFill>
                <a:effectLst/>
                <a:latin typeface="Times New Roman" panose="02020603050405020304" pitchFamily="18" charset="0"/>
                <a:ea typeface="Times New Roman" panose="02020603050405020304" pitchFamily="18" charset="0"/>
              </a:rPr>
              <a:t>Data Collection</a:t>
            </a:r>
            <a:endParaRPr lang="en-IN" dirty="0">
              <a:effectLst/>
              <a:latin typeface="Times New Roman" panose="02020603050405020304" pitchFamily="18" charset="0"/>
              <a:ea typeface="Times New Roman" panose="02020603050405020304" pitchFamily="18" charset="0"/>
            </a:endParaRPr>
          </a:p>
          <a:p>
            <a:pPr marL="342900" lvl="0" indent="-342900" algn="just">
              <a:lnSpc>
                <a:spcPct val="150000"/>
              </a:lnSpc>
              <a:buFont typeface="Symbol" panose="05050102010706020507" pitchFamily="18" charset="2"/>
              <a:buChar char=""/>
            </a:pPr>
            <a:r>
              <a:rPr lang="en-IN" b="1" dirty="0">
                <a:solidFill>
                  <a:srgbClr val="000000"/>
                </a:solidFill>
                <a:effectLst/>
                <a:latin typeface="Times New Roman" panose="02020603050405020304" pitchFamily="18" charset="0"/>
                <a:ea typeface="Times New Roman" panose="02020603050405020304" pitchFamily="18" charset="0"/>
              </a:rPr>
              <a:t>Objective</a:t>
            </a:r>
            <a:r>
              <a:rPr lang="en-IN" dirty="0">
                <a:solidFill>
                  <a:srgbClr val="000000"/>
                </a:solidFill>
                <a:effectLst/>
                <a:latin typeface="Times New Roman" panose="02020603050405020304" pitchFamily="18" charset="0"/>
                <a:ea typeface="Times New Roman" panose="02020603050405020304" pitchFamily="18" charset="0"/>
              </a:rPr>
              <a:t>: Collect a comprehensive dataset of images and videos containing instances of fire, smoke, and human presence for training detection models.</a:t>
            </a:r>
          </a:p>
          <a:p>
            <a:pPr marL="342900" indent="-342900" algn="just">
              <a:lnSpc>
                <a:spcPct val="150000"/>
              </a:lnSpc>
              <a:buFont typeface="Symbol" panose="05050102010706020507" pitchFamily="18" charset="2"/>
              <a:buChar char=""/>
            </a:pPr>
            <a:r>
              <a:rPr lang="en-IN" b="1" dirty="0">
                <a:solidFill>
                  <a:srgbClr val="000000"/>
                </a:solidFill>
                <a:effectLst/>
                <a:latin typeface="Times New Roman" panose="02020603050405020304" pitchFamily="18" charset="0"/>
                <a:ea typeface="Times New Roman" panose="02020603050405020304" pitchFamily="18" charset="0"/>
              </a:rPr>
              <a:t>Dataset Split</a:t>
            </a:r>
            <a:r>
              <a:rPr lang="en-IN" dirty="0">
                <a:solidFill>
                  <a:srgbClr val="000000"/>
                </a:solidFill>
                <a:effectLst/>
                <a:latin typeface="Times New Roman" panose="02020603050405020304" pitchFamily="18" charset="0"/>
                <a:ea typeface="Times New Roman" panose="02020603050405020304" pitchFamily="18" charset="0"/>
              </a:rPr>
              <a:t>: Divide the data into training (70%), validation (15%), and testing (15%) subsets to facilitate effective model training, evaluation, and fine-tuning.</a:t>
            </a:r>
            <a:endParaRPr lang="en-IN" dirty="0">
              <a:effectLst/>
              <a:latin typeface="Times New Roman" panose="02020603050405020304" pitchFamily="18" charset="0"/>
              <a:ea typeface="Times New Roman" panose="02020603050405020304" pitchFamily="18" charset="0"/>
            </a:endParaRPr>
          </a:p>
          <a:p>
            <a:pPr marL="342900" lvl="0" indent="-342900" algn="just">
              <a:lnSpc>
                <a:spcPct val="150000"/>
              </a:lnSpc>
              <a:buFont typeface="Symbol" panose="05050102010706020507" pitchFamily="18" charset="2"/>
              <a:buChar char=""/>
            </a:pPr>
            <a:endParaRPr lang="en-IN" dirty="0">
              <a:effectLst/>
              <a:latin typeface="Times New Roman" panose="02020603050405020304" pitchFamily="18" charset="0"/>
              <a:ea typeface="Times New Roman" panose="02020603050405020304" pitchFamily="18" charset="0"/>
            </a:endParaRPr>
          </a:p>
          <a:p>
            <a:pPr lvl="0" algn="just">
              <a:lnSpc>
                <a:spcPct val="150000"/>
              </a:lnSpc>
            </a:pPr>
            <a:endParaRPr lang="en-IN" dirty="0">
              <a:effectLst/>
              <a:latin typeface="Times New Roman" panose="02020603050405020304" pitchFamily="18" charset="0"/>
              <a:ea typeface="Times New Roman" panose="02020603050405020304" pitchFamily="18" charset="0"/>
            </a:endParaRPr>
          </a:p>
          <a:p>
            <a:pPr algn="l"/>
            <a:endParaRPr lang="en-US" b="1" dirty="0">
              <a:ea typeface="Calibri"/>
              <a:cs typeface="Calibri"/>
            </a:endParaRPr>
          </a:p>
        </p:txBody>
      </p:sp>
      <p:pic>
        <p:nvPicPr>
          <p:cNvPr id="4" name="Picture 3">
            <a:extLst>
              <a:ext uri="{FF2B5EF4-FFF2-40B4-BE49-F238E27FC236}">
                <a16:creationId xmlns:a16="http://schemas.microsoft.com/office/drawing/2014/main" id="{0BDFD0FF-E1EA-435A-BAFD-DD8FF64C22B2}"/>
              </a:ext>
            </a:extLst>
          </p:cNvPr>
          <p:cNvPicPr>
            <a:picLocks noChangeAspect="1"/>
          </p:cNvPicPr>
          <p:nvPr/>
        </p:nvPicPr>
        <p:blipFill>
          <a:blip r:embed="rId2"/>
          <a:stretch>
            <a:fillRect/>
          </a:stretch>
        </p:blipFill>
        <p:spPr>
          <a:xfrm>
            <a:off x="84841" y="1197202"/>
            <a:ext cx="5608947" cy="472282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F465F82C-0515-F7FD-B227-3B660D660649}"/>
              </a:ext>
            </a:extLst>
          </p:cNvPr>
          <p:cNvSpPr>
            <a:spLocks noGrp="1"/>
          </p:cNvSpPr>
          <p:nvPr>
            <p:ph type="title"/>
          </p:nvPr>
        </p:nvSpPr>
        <p:spPr>
          <a:xfrm>
            <a:off x="282804" y="141402"/>
            <a:ext cx="11717517" cy="6266011"/>
          </a:xfrm>
        </p:spPr>
        <p:txBody>
          <a:bodyPr wrap="square" lIns="0" tIns="0" rIns="0" bIns="0" anchor="t">
            <a:spAutoFit/>
          </a:bodyPr>
          <a:lstStyle/>
          <a:p>
            <a:pPr algn="l">
              <a:lnSpc>
                <a:spcPct val="150000"/>
              </a:lnSpc>
              <a:spcBef>
                <a:spcPts val="1200"/>
              </a:spcBef>
              <a:spcAft>
                <a:spcPts val="1200"/>
              </a:spcAft>
            </a:pPr>
            <a:r>
              <a:rPr lang="en-IN" sz="1800" b="1" dirty="0">
                <a:solidFill>
                  <a:srgbClr val="000000"/>
                </a:solidFill>
                <a:effectLst/>
                <a:latin typeface="Times New Roman" panose="02020603050405020304" pitchFamily="18" charset="0"/>
                <a:ea typeface="Times New Roman" panose="02020603050405020304" pitchFamily="18" charset="0"/>
              </a:rPr>
              <a:t>Data Preprocessing</a:t>
            </a:r>
            <a:br>
              <a:rPr lang="en-IN" sz="1800" dirty="0">
                <a:effectLst/>
                <a:latin typeface="Times New Roman" panose="02020603050405020304" pitchFamily="18" charset="0"/>
                <a:ea typeface="Times New Roman" panose="02020603050405020304" pitchFamily="18" charset="0"/>
              </a:rPr>
            </a:br>
            <a:r>
              <a:rPr lang="en-IN" sz="1800" b="1" dirty="0">
                <a:solidFill>
                  <a:srgbClr val="000000"/>
                </a:solidFill>
                <a:effectLst/>
                <a:latin typeface="Times New Roman" panose="02020603050405020304" pitchFamily="18" charset="0"/>
                <a:ea typeface="Times New Roman" panose="02020603050405020304" pitchFamily="18" charset="0"/>
              </a:rPr>
              <a:t>Image Processing</a:t>
            </a:r>
            <a:r>
              <a:rPr lang="en-IN" sz="1800" dirty="0">
                <a:solidFill>
                  <a:srgbClr val="000000"/>
                </a:solidFill>
                <a:effectLst/>
                <a:latin typeface="Times New Roman" panose="02020603050405020304" pitchFamily="18" charset="0"/>
                <a:ea typeface="Times New Roman" panose="02020603050405020304" pitchFamily="18" charset="0"/>
              </a:rPr>
              <a:t>: Clean and normalize image data by adjusting brightness, contrast, and </a:t>
            </a:r>
            <a:r>
              <a:rPr lang="en-IN" sz="1800" dirty="0" err="1">
                <a:solidFill>
                  <a:srgbClr val="000000"/>
                </a:solidFill>
                <a:effectLst/>
                <a:latin typeface="Times New Roman" panose="02020603050405020304" pitchFamily="18" charset="0"/>
                <a:ea typeface="Times New Roman" panose="02020603050405020304" pitchFamily="18" charset="0"/>
              </a:rPr>
              <a:t>color</a:t>
            </a:r>
            <a:r>
              <a:rPr lang="en-IN" sz="1800" dirty="0">
                <a:solidFill>
                  <a:srgbClr val="000000"/>
                </a:solidFill>
                <a:effectLst/>
                <a:latin typeface="Times New Roman" panose="02020603050405020304" pitchFamily="18" charset="0"/>
                <a:ea typeface="Times New Roman" panose="02020603050405020304" pitchFamily="18" charset="0"/>
              </a:rPr>
              <a:t> balance. Apply augmentation techniques like rotation, scaling, and flipping to increase dataset variety.</a:t>
            </a:r>
            <a:br>
              <a:rPr lang="en-IN" sz="1800" dirty="0">
                <a:effectLst/>
                <a:latin typeface="Times New Roman" panose="02020603050405020304" pitchFamily="18" charset="0"/>
                <a:ea typeface="Times New Roman" panose="02020603050405020304" pitchFamily="18" charset="0"/>
              </a:rPr>
            </a:br>
            <a:r>
              <a:rPr lang="en-IN" sz="1800" b="1" dirty="0">
                <a:solidFill>
                  <a:srgbClr val="000000"/>
                </a:solidFill>
                <a:effectLst/>
                <a:latin typeface="Times New Roman" panose="02020603050405020304" pitchFamily="18" charset="0"/>
                <a:ea typeface="Times New Roman" panose="02020603050405020304" pitchFamily="18" charset="0"/>
              </a:rPr>
              <a:t>Video Processing</a:t>
            </a:r>
            <a:r>
              <a:rPr lang="en-IN" sz="1800" dirty="0">
                <a:solidFill>
                  <a:srgbClr val="000000"/>
                </a:solidFill>
                <a:effectLst/>
                <a:latin typeface="Times New Roman" panose="02020603050405020304" pitchFamily="18" charset="0"/>
                <a:ea typeface="Times New Roman" panose="02020603050405020304" pitchFamily="18" charset="0"/>
              </a:rPr>
              <a:t>: Perform frame extraction, noise reduction, and segmentation on video data. Convert video frames into a consistent format and resolution suitable for model training.</a:t>
            </a:r>
            <a:br>
              <a:rPr lang="en-IN" sz="1800" dirty="0">
                <a:effectLst/>
                <a:latin typeface="Times New Roman" panose="02020603050405020304" pitchFamily="18" charset="0"/>
                <a:ea typeface="Times New Roman" panose="02020603050405020304" pitchFamily="18" charset="0"/>
              </a:rPr>
            </a:br>
            <a:br>
              <a:rPr lang="en-IN" sz="1800" b="1" dirty="0">
                <a:solidFill>
                  <a:srgbClr val="000000"/>
                </a:solidFill>
                <a:effectLst/>
                <a:latin typeface="Times New Roman" panose="02020603050405020304" pitchFamily="18" charset="0"/>
                <a:ea typeface="Times New Roman" panose="02020603050405020304" pitchFamily="18" charset="0"/>
              </a:rPr>
            </a:br>
            <a:r>
              <a:rPr lang="en-IN" sz="1800" b="1" dirty="0">
                <a:solidFill>
                  <a:srgbClr val="000000"/>
                </a:solidFill>
                <a:effectLst/>
                <a:latin typeface="Times New Roman" panose="02020603050405020304" pitchFamily="18" charset="0"/>
                <a:ea typeface="Times New Roman" panose="02020603050405020304" pitchFamily="18" charset="0"/>
              </a:rPr>
              <a:t>Model Training</a:t>
            </a:r>
            <a:br>
              <a:rPr lang="en-IN" sz="1800" dirty="0">
                <a:effectLst/>
                <a:latin typeface="Times New Roman" panose="02020603050405020304" pitchFamily="18" charset="0"/>
                <a:ea typeface="Times New Roman" panose="02020603050405020304" pitchFamily="18" charset="0"/>
              </a:rPr>
            </a:br>
            <a:r>
              <a:rPr lang="en-IN" sz="1800" b="1" dirty="0">
                <a:solidFill>
                  <a:srgbClr val="000000"/>
                </a:solidFill>
                <a:effectLst/>
                <a:latin typeface="Times New Roman" panose="02020603050405020304" pitchFamily="18" charset="0"/>
                <a:ea typeface="Times New Roman" panose="02020603050405020304" pitchFamily="18" charset="0"/>
              </a:rPr>
              <a:t>Detection Models</a:t>
            </a:r>
            <a:r>
              <a:rPr lang="en-IN" sz="1800" dirty="0">
                <a:solidFill>
                  <a:srgbClr val="000000"/>
                </a:solidFill>
                <a:effectLst/>
                <a:latin typeface="Times New Roman" panose="02020603050405020304" pitchFamily="18" charset="0"/>
                <a:ea typeface="Times New Roman" panose="02020603050405020304" pitchFamily="18" charset="0"/>
              </a:rPr>
              <a:t>: Train YOLOv8 and YOLOv9 models using the processed image and video datasets to ensure accurate detection of fire, smoke, and human presence.</a:t>
            </a:r>
            <a:br>
              <a:rPr lang="en-IN" sz="1800" dirty="0">
                <a:solidFill>
                  <a:srgbClr val="000000"/>
                </a:solidFill>
                <a:effectLst/>
                <a:latin typeface="Times New Roman" panose="02020603050405020304" pitchFamily="18" charset="0"/>
                <a:ea typeface="Times New Roman" panose="02020603050405020304" pitchFamily="18" charset="0"/>
              </a:rPr>
            </a:br>
            <a:br>
              <a:rPr lang="en-IN" sz="1800" dirty="0">
                <a:solidFill>
                  <a:srgbClr val="000000"/>
                </a:solidFill>
                <a:effectLst/>
                <a:latin typeface="Times New Roman" panose="02020603050405020304" pitchFamily="18" charset="0"/>
                <a:ea typeface="Times New Roman" panose="02020603050405020304" pitchFamily="18" charset="0"/>
              </a:rPr>
            </a:br>
            <a:r>
              <a:rPr lang="en-IN" sz="1800" b="1" dirty="0">
                <a:solidFill>
                  <a:srgbClr val="000000"/>
                </a:solidFill>
                <a:effectLst/>
                <a:latin typeface="Times New Roman" panose="02020603050405020304" pitchFamily="18" charset="0"/>
                <a:ea typeface="Times New Roman" panose="02020603050405020304" pitchFamily="18" charset="0"/>
              </a:rPr>
              <a:t>Model Evaluation</a:t>
            </a:r>
            <a:br>
              <a:rPr lang="en-IN" sz="1800" dirty="0">
                <a:effectLst/>
                <a:latin typeface="Times New Roman" panose="02020603050405020304" pitchFamily="18" charset="0"/>
                <a:ea typeface="Times New Roman" panose="02020603050405020304" pitchFamily="18" charset="0"/>
              </a:rPr>
            </a:br>
            <a:r>
              <a:rPr lang="en-IN" sz="1800" b="1" dirty="0">
                <a:solidFill>
                  <a:srgbClr val="000000"/>
                </a:solidFill>
                <a:effectLst/>
                <a:latin typeface="Times New Roman" panose="02020603050405020304" pitchFamily="18" charset="0"/>
                <a:ea typeface="Times New Roman" panose="02020603050405020304" pitchFamily="18" charset="0"/>
              </a:rPr>
              <a:t>Performance Metrics</a:t>
            </a:r>
            <a:r>
              <a:rPr lang="en-IN" sz="1800" dirty="0">
                <a:solidFill>
                  <a:srgbClr val="000000"/>
                </a:solidFill>
                <a:effectLst/>
                <a:latin typeface="Times New Roman" panose="02020603050405020304" pitchFamily="18" charset="0"/>
                <a:ea typeface="Times New Roman" panose="02020603050405020304" pitchFamily="18" charset="0"/>
              </a:rPr>
              <a:t>: Assess detection models using metrics such as </a:t>
            </a:r>
            <a:r>
              <a:rPr lang="en-US" sz="2000" dirty="0">
                <a:ea typeface="+mn-lt"/>
                <a:cs typeface="+mn-lt"/>
              </a:rPr>
              <a:t>and </a:t>
            </a:r>
            <a:r>
              <a:rPr lang="en-US" sz="2000" dirty="0" err="1">
                <a:ea typeface="+mn-lt"/>
                <a:cs typeface="+mn-lt"/>
              </a:rPr>
              <a:t>mAP</a:t>
            </a:r>
            <a:r>
              <a:rPr lang="en-US" sz="2000" dirty="0">
                <a:ea typeface="+mn-lt"/>
                <a:cs typeface="+mn-lt"/>
              </a:rPr>
              <a:t> scores</a:t>
            </a:r>
            <a:r>
              <a:rPr lang="en-IN" sz="2000" dirty="0">
                <a:solidFill>
                  <a:srgbClr val="000000"/>
                </a:solidFill>
                <a:effectLst/>
                <a:latin typeface="Times New Roman" panose="02020603050405020304" pitchFamily="18" charset="0"/>
                <a:ea typeface="Times New Roman" panose="02020603050405020304" pitchFamily="18" charset="0"/>
              </a:rPr>
              <a:t> </a:t>
            </a:r>
            <a:r>
              <a:rPr lang="en-IN" sz="1800" dirty="0">
                <a:solidFill>
                  <a:srgbClr val="000000"/>
                </a:solidFill>
                <a:effectLst/>
                <a:latin typeface="Times New Roman" panose="02020603050405020304" pitchFamily="18" charset="0"/>
                <a:ea typeface="Times New Roman" panose="02020603050405020304" pitchFamily="18" charset="0"/>
              </a:rPr>
              <a:t>, precision, recall, and F1-score to evaluate model accuracy and effectiveness in identifying fire, smoke, and humans.</a:t>
            </a:r>
            <a:br>
              <a:rPr lang="en-IN" sz="1800" dirty="0">
                <a:effectLst/>
                <a:latin typeface="Times New Roman" panose="02020603050405020304" pitchFamily="18" charset="0"/>
                <a:ea typeface="Times New Roman" panose="02020603050405020304" pitchFamily="18" charset="0"/>
              </a:rPr>
            </a:br>
            <a:br>
              <a:rPr lang="en-IN" sz="1800" dirty="0">
                <a:effectLst/>
                <a:latin typeface="Times New Roman" panose="02020603050405020304" pitchFamily="18" charset="0"/>
                <a:ea typeface="Times New Roman" panose="02020603050405020304" pitchFamily="18" charset="0"/>
              </a:rPr>
            </a:br>
            <a:endParaRPr lang="en-US" sz="1800" dirty="0"/>
          </a:p>
        </p:txBody>
      </p:sp>
    </p:spTree>
    <p:extLst>
      <p:ext uri="{BB962C8B-B14F-4D97-AF65-F5344CB8AC3E}">
        <p14:creationId xmlns:p14="http://schemas.microsoft.com/office/powerpoint/2010/main" val="36745641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70756B0-BCB0-8A45-0F8D-963D91E59CF6}"/>
              </a:ext>
            </a:extLst>
          </p:cNvPr>
          <p:cNvSpPr>
            <a:spLocks noGrp="1"/>
          </p:cNvSpPr>
          <p:nvPr>
            <p:ph type="body" idx="1"/>
          </p:nvPr>
        </p:nvSpPr>
        <p:spPr>
          <a:xfrm>
            <a:off x="207390" y="480580"/>
            <a:ext cx="11896625" cy="9597499"/>
          </a:xfrm>
        </p:spPr>
        <p:txBody>
          <a:bodyPr wrap="square" lIns="0" tIns="0" rIns="0" bIns="0" anchor="t">
            <a:spAutoFit/>
          </a:bodyPr>
          <a:lstStyle/>
          <a:p>
            <a:pPr marL="285750" indent="-285750" algn="just">
              <a:buFont typeface="Arial,Sans-Serif"/>
              <a:buChar char="•"/>
            </a:pPr>
            <a:endParaRPr lang="en-US" dirty="0">
              <a:ea typeface="+mn-lt"/>
              <a:cs typeface="+mn-lt"/>
            </a:endParaRPr>
          </a:p>
          <a:p>
            <a:pPr algn="just"/>
            <a:r>
              <a:rPr lang="en-US" b="1" dirty="0">
                <a:ea typeface="+mn-lt"/>
                <a:cs typeface="+mn-lt"/>
              </a:rPr>
              <a:t>User Implementation:</a:t>
            </a:r>
          </a:p>
          <a:p>
            <a:pPr algn="just">
              <a:lnSpc>
                <a:spcPct val="150000"/>
              </a:lnSpc>
              <a:spcBef>
                <a:spcPts val="1200"/>
              </a:spcBef>
              <a:spcAft>
                <a:spcPts val="1200"/>
              </a:spcAft>
            </a:pPr>
            <a:r>
              <a:rPr lang="en-IN" sz="1800" b="1" dirty="0">
                <a:solidFill>
                  <a:srgbClr val="000000"/>
                </a:solidFill>
                <a:effectLst/>
                <a:latin typeface="Times New Roman" panose="02020603050405020304" pitchFamily="18" charset="0"/>
                <a:ea typeface="Times New Roman" panose="02020603050405020304" pitchFamily="18" charset="0"/>
              </a:rPr>
              <a:t>Register</a:t>
            </a:r>
            <a:r>
              <a:rPr lang="en-IN" b="1" dirty="0">
                <a:latin typeface="Times New Roman" panose="02020603050405020304" pitchFamily="18" charset="0"/>
                <a:ea typeface="Times New Roman" panose="02020603050405020304" pitchFamily="18" charset="0"/>
              </a:rPr>
              <a:t>: </a:t>
            </a:r>
            <a:r>
              <a:rPr lang="en-IN" sz="1800" dirty="0">
                <a:solidFill>
                  <a:srgbClr val="000000"/>
                </a:solidFill>
                <a:effectLst/>
                <a:latin typeface="Times New Roman" panose="02020603050405020304" pitchFamily="18" charset="0"/>
                <a:ea typeface="Times New Roman" panose="02020603050405020304" pitchFamily="18" charset="0"/>
              </a:rPr>
              <a:t>Users create an account to access the fire detection and alert </a:t>
            </a:r>
            <a:r>
              <a:rPr lang="en-IN" sz="1800" dirty="0" err="1">
                <a:solidFill>
                  <a:srgbClr val="000000"/>
                </a:solidFill>
                <a:effectLst/>
                <a:latin typeface="Times New Roman" panose="02020603050405020304" pitchFamily="18" charset="0"/>
                <a:ea typeface="Times New Roman" panose="02020603050405020304" pitchFamily="18" charset="0"/>
              </a:rPr>
              <a:t>system.Registration</a:t>
            </a:r>
            <a:r>
              <a:rPr lang="en-IN" sz="1800" dirty="0">
                <a:solidFill>
                  <a:srgbClr val="000000"/>
                </a:solidFill>
                <a:effectLst/>
                <a:latin typeface="Times New Roman" panose="02020603050405020304" pitchFamily="18" charset="0"/>
                <a:ea typeface="Times New Roman" panose="02020603050405020304" pitchFamily="18" charset="0"/>
              </a:rPr>
              <a:t> includes providing credentials, like user name and password.</a:t>
            </a:r>
          </a:p>
          <a:p>
            <a:pPr algn="just">
              <a:lnSpc>
                <a:spcPct val="150000"/>
              </a:lnSpc>
              <a:spcBef>
                <a:spcPts val="1200"/>
              </a:spcBef>
              <a:spcAft>
                <a:spcPts val="1200"/>
              </a:spcAft>
            </a:pPr>
            <a:r>
              <a:rPr lang="en-IN" sz="1800" b="1" dirty="0">
                <a:solidFill>
                  <a:srgbClr val="000000"/>
                </a:solidFill>
                <a:effectLst/>
                <a:latin typeface="Times New Roman" panose="02020603050405020304" pitchFamily="18" charset="0"/>
                <a:ea typeface="Times New Roman" panose="02020603050405020304" pitchFamily="18" charset="0"/>
              </a:rPr>
              <a:t>Login</a:t>
            </a:r>
            <a:r>
              <a:rPr lang="en-IN" b="1" dirty="0">
                <a:latin typeface="Times New Roman" panose="02020603050405020304" pitchFamily="18" charset="0"/>
                <a:ea typeface="Times New Roman" panose="02020603050405020304" pitchFamily="18" charset="0"/>
              </a:rPr>
              <a:t>: </a:t>
            </a:r>
            <a:r>
              <a:rPr lang="en-IN" sz="1800" dirty="0">
                <a:solidFill>
                  <a:srgbClr val="000000"/>
                </a:solidFill>
                <a:effectLst/>
                <a:latin typeface="Times New Roman" panose="02020603050405020304" pitchFamily="18" charset="0"/>
                <a:ea typeface="Times New Roman" panose="02020603050405020304" pitchFamily="18" charset="0"/>
              </a:rPr>
              <a:t>Registered users log in to access system features.</a:t>
            </a:r>
          </a:p>
          <a:p>
            <a:pPr algn="just">
              <a:lnSpc>
                <a:spcPct val="150000"/>
              </a:lnSpc>
              <a:spcBef>
                <a:spcPts val="1200"/>
              </a:spcBef>
              <a:spcAft>
                <a:spcPts val="1200"/>
              </a:spcAft>
            </a:pPr>
            <a:r>
              <a:rPr lang="en-IN" sz="1800" b="1" dirty="0">
                <a:solidFill>
                  <a:srgbClr val="000000"/>
                </a:solidFill>
                <a:effectLst/>
                <a:latin typeface="Times New Roman" panose="02020603050405020304" pitchFamily="18" charset="0"/>
                <a:ea typeface="Times New Roman" panose="02020603050405020304" pitchFamily="18" charset="0"/>
              </a:rPr>
              <a:t>Input/Upload Image Feed</a:t>
            </a:r>
            <a:r>
              <a:rPr lang="en-IN" b="1" dirty="0">
                <a:latin typeface="Times New Roman" panose="02020603050405020304" pitchFamily="18" charset="0"/>
                <a:ea typeface="Times New Roman" panose="02020603050405020304" pitchFamily="18" charset="0"/>
              </a:rPr>
              <a:t>: </a:t>
            </a:r>
            <a:r>
              <a:rPr lang="en-IN" sz="1800" dirty="0">
                <a:solidFill>
                  <a:srgbClr val="000000"/>
                </a:solidFill>
                <a:effectLst/>
                <a:latin typeface="Times New Roman" panose="02020603050405020304" pitchFamily="18" charset="0"/>
                <a:ea typeface="Times New Roman" panose="02020603050405020304" pitchFamily="18" charset="0"/>
              </a:rPr>
              <a:t>Users upload video feeds or connect live camera feeds for real-time monitoring and detection.</a:t>
            </a:r>
            <a:endParaRPr lang="en-IN" sz="1800" dirty="0">
              <a:effectLst/>
              <a:latin typeface="Times New Roman" panose="02020603050405020304" pitchFamily="18" charset="0"/>
              <a:ea typeface="Times New Roman" panose="02020603050405020304" pitchFamily="18" charset="0"/>
            </a:endParaRPr>
          </a:p>
          <a:p>
            <a:pPr lvl="0" algn="just">
              <a:lnSpc>
                <a:spcPct val="150000"/>
              </a:lnSpc>
            </a:pPr>
            <a:r>
              <a:rPr lang="en-IN" sz="1800" dirty="0">
                <a:solidFill>
                  <a:srgbClr val="000000"/>
                </a:solidFill>
                <a:effectLst/>
                <a:latin typeface="Times New Roman" panose="02020603050405020304" pitchFamily="18" charset="0"/>
                <a:ea typeface="Times New Roman" panose="02020603050405020304" pitchFamily="18" charset="0"/>
              </a:rPr>
              <a:t>Supports video or camera feed integration to monitor areas for fire, smoke, and human presence. Handles receiving and validating input data for processing by detection models.</a:t>
            </a:r>
          </a:p>
          <a:p>
            <a:pPr algn="just">
              <a:lnSpc>
                <a:spcPct val="150000"/>
              </a:lnSpc>
              <a:spcBef>
                <a:spcPts val="1200"/>
              </a:spcBef>
              <a:spcAft>
                <a:spcPts val="1200"/>
              </a:spcAft>
            </a:pPr>
            <a:r>
              <a:rPr lang="en-IN" sz="1800" b="1" dirty="0">
                <a:solidFill>
                  <a:srgbClr val="000000"/>
                </a:solidFill>
                <a:effectLst/>
                <a:latin typeface="Times New Roman" panose="02020603050405020304" pitchFamily="18" charset="0"/>
                <a:ea typeface="Times New Roman" panose="02020603050405020304" pitchFamily="18" charset="0"/>
              </a:rPr>
              <a:t>View Detection Results: </a:t>
            </a:r>
            <a:r>
              <a:rPr lang="en-IN" sz="1800" dirty="0">
                <a:solidFill>
                  <a:srgbClr val="000000"/>
                </a:solidFill>
                <a:effectLst/>
                <a:latin typeface="Times New Roman" panose="02020603050405020304" pitchFamily="18" charset="0"/>
                <a:ea typeface="Times New Roman" panose="02020603050405020304" pitchFamily="18" charset="0"/>
              </a:rPr>
              <a:t>Users view detection results for any identified </a:t>
            </a:r>
            <a:r>
              <a:rPr lang="en-IN" sz="1800" dirty="0" err="1">
                <a:solidFill>
                  <a:srgbClr val="000000"/>
                </a:solidFill>
                <a:effectLst/>
                <a:latin typeface="Times New Roman" panose="02020603050405020304" pitchFamily="18" charset="0"/>
                <a:ea typeface="Times New Roman" panose="02020603050405020304" pitchFamily="18" charset="0"/>
              </a:rPr>
              <a:t>risks.Displays</a:t>
            </a:r>
            <a:r>
              <a:rPr lang="en-IN" sz="1800" dirty="0">
                <a:solidFill>
                  <a:srgbClr val="000000"/>
                </a:solidFill>
                <a:effectLst/>
                <a:latin typeface="Times New Roman" panose="02020603050405020304" pitchFamily="18" charset="0"/>
                <a:ea typeface="Times New Roman" panose="02020603050405020304" pitchFamily="18" charset="0"/>
              </a:rPr>
              <a:t> detected instances of fire, smoke, and human presence in real-time.</a:t>
            </a:r>
          </a:p>
          <a:p>
            <a:pPr algn="just">
              <a:lnSpc>
                <a:spcPct val="150000"/>
              </a:lnSpc>
              <a:spcAft>
                <a:spcPts val="800"/>
              </a:spcAft>
            </a:pPr>
            <a:r>
              <a:rPr lang="en-IN" sz="1800" b="1" dirty="0" err="1">
                <a:solidFill>
                  <a:srgbClr val="000000"/>
                </a:solidFill>
                <a:effectLst/>
                <a:latin typeface="Times New Roman" panose="02020603050405020304" pitchFamily="18" charset="0"/>
                <a:ea typeface="Times New Roman" panose="02020603050405020304" pitchFamily="18" charset="0"/>
              </a:rPr>
              <a:t>Logout</a:t>
            </a:r>
            <a:r>
              <a:rPr lang="en-IN" b="1" dirty="0" err="1">
                <a:latin typeface="Times New Roman" panose="02020603050405020304" pitchFamily="18" charset="0"/>
                <a:ea typeface="Times New Roman" panose="02020603050405020304" pitchFamily="18" charset="0"/>
              </a:rPr>
              <a:t>L</a:t>
            </a:r>
            <a:r>
              <a:rPr lang="en-IN" b="1" dirty="0">
                <a:latin typeface="Times New Roman" panose="02020603050405020304" pitchFamily="18" charset="0"/>
                <a:ea typeface="Times New Roman" panose="02020603050405020304" pitchFamily="18" charset="0"/>
              </a:rPr>
              <a:t>: </a:t>
            </a:r>
            <a:r>
              <a:rPr lang="en-IN" sz="1800" dirty="0">
                <a:solidFill>
                  <a:srgbClr val="000000"/>
                </a:solidFill>
                <a:effectLst/>
                <a:latin typeface="Times New Roman" panose="02020603050405020304" pitchFamily="18" charset="0"/>
                <a:ea typeface="Times New Roman" panose="02020603050405020304" pitchFamily="18" charset="0"/>
              </a:rPr>
              <a:t>Users log out to secure their session and personal data.</a:t>
            </a:r>
            <a:endParaRPr lang="en-IN" sz="1800" dirty="0">
              <a:effectLst/>
              <a:latin typeface="Times New Roman" panose="02020603050405020304" pitchFamily="18" charset="0"/>
              <a:ea typeface="Times New Roman" panose="02020603050405020304" pitchFamily="18" charset="0"/>
            </a:endParaRPr>
          </a:p>
          <a:p>
            <a:pPr algn="just">
              <a:lnSpc>
                <a:spcPct val="150000"/>
              </a:lnSpc>
              <a:spcBef>
                <a:spcPts val="1200"/>
              </a:spcBef>
              <a:spcAft>
                <a:spcPts val="1200"/>
              </a:spcAft>
            </a:pPr>
            <a:endParaRPr lang="en-IN" sz="1800" dirty="0">
              <a:effectLst/>
              <a:latin typeface="Times New Roman" panose="02020603050405020304" pitchFamily="18" charset="0"/>
              <a:ea typeface="Times New Roman" panose="02020603050405020304" pitchFamily="18" charset="0"/>
            </a:endParaRPr>
          </a:p>
          <a:p>
            <a:pPr lvl="0" algn="just">
              <a:lnSpc>
                <a:spcPct val="150000"/>
              </a:lnSpc>
            </a:pPr>
            <a:endParaRPr lang="en-IN" sz="1800" dirty="0">
              <a:effectLst/>
              <a:latin typeface="Times New Roman" panose="02020603050405020304" pitchFamily="18" charset="0"/>
              <a:ea typeface="Times New Roman" panose="02020603050405020304" pitchFamily="18" charset="0"/>
            </a:endParaRPr>
          </a:p>
          <a:p>
            <a:pPr algn="just">
              <a:lnSpc>
                <a:spcPct val="150000"/>
              </a:lnSpc>
              <a:spcBef>
                <a:spcPts val="1200"/>
              </a:spcBef>
              <a:spcAft>
                <a:spcPts val="1200"/>
              </a:spcAft>
            </a:pPr>
            <a:endParaRPr lang="en-IN" sz="1800" dirty="0">
              <a:solidFill>
                <a:srgbClr val="000000"/>
              </a:solidFill>
              <a:effectLst/>
              <a:latin typeface="Times New Roman" panose="02020603050405020304" pitchFamily="18" charset="0"/>
              <a:ea typeface="Times New Roman" panose="02020603050405020304" pitchFamily="18" charset="0"/>
            </a:endParaRPr>
          </a:p>
          <a:p>
            <a:pPr algn="just">
              <a:lnSpc>
                <a:spcPct val="150000"/>
              </a:lnSpc>
              <a:spcBef>
                <a:spcPts val="1200"/>
              </a:spcBef>
              <a:spcAft>
                <a:spcPts val="1200"/>
              </a:spcAft>
            </a:pPr>
            <a:endParaRPr lang="en-IN" sz="1800" dirty="0">
              <a:effectLst/>
              <a:latin typeface="Times New Roman" panose="02020603050405020304" pitchFamily="18" charset="0"/>
              <a:ea typeface="Times New Roman" panose="02020603050405020304" pitchFamily="18" charset="0"/>
            </a:endParaRPr>
          </a:p>
          <a:p>
            <a:pPr lvl="0" algn="just">
              <a:lnSpc>
                <a:spcPct val="150000"/>
              </a:lnSpc>
            </a:pPr>
            <a:endParaRPr lang="en-IN" sz="1800" dirty="0">
              <a:solidFill>
                <a:srgbClr val="000000"/>
              </a:solidFill>
              <a:effectLst/>
              <a:latin typeface="Times New Roman" panose="02020603050405020304" pitchFamily="18" charset="0"/>
              <a:ea typeface="Times New Roman" panose="02020603050405020304" pitchFamily="18" charset="0"/>
            </a:endParaRPr>
          </a:p>
          <a:p>
            <a:pPr lvl="0" algn="just">
              <a:lnSpc>
                <a:spcPct val="150000"/>
              </a:lnSpc>
            </a:pPr>
            <a:endParaRPr lang="en-IN" sz="1800" dirty="0">
              <a:effectLst/>
              <a:latin typeface="Times New Roman" panose="02020603050405020304" pitchFamily="18" charset="0"/>
              <a:ea typeface="Times New Roman" panose="02020603050405020304" pitchFamily="18" charset="0"/>
            </a:endParaRPr>
          </a:p>
          <a:p>
            <a:pPr algn="just"/>
            <a:endParaRPr lang="en-US" b="1" dirty="0">
              <a:ea typeface="Calibri"/>
              <a:cs typeface="Calibri"/>
            </a:endParaRPr>
          </a:p>
          <a:p>
            <a:pPr algn="just"/>
            <a:endParaRPr lang="en-US" dirty="0">
              <a:ea typeface="Calibri"/>
              <a:cs typeface="Calibri"/>
            </a:endParaRPr>
          </a:p>
        </p:txBody>
      </p:sp>
    </p:spTree>
    <p:extLst>
      <p:ext uri="{BB962C8B-B14F-4D97-AF65-F5344CB8AC3E}">
        <p14:creationId xmlns:p14="http://schemas.microsoft.com/office/powerpoint/2010/main" val="23302387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50348" rIns="0" bIns="0" rtlCol="0">
            <a:spAutoFit/>
          </a:bodyPr>
          <a:lstStyle/>
          <a:p>
            <a:pPr marL="12700">
              <a:lnSpc>
                <a:spcPct val="100000"/>
              </a:lnSpc>
              <a:spcBef>
                <a:spcPts val="130"/>
              </a:spcBef>
            </a:pPr>
            <a:r>
              <a:rPr spc="-30"/>
              <a:t>Timeline</a:t>
            </a:r>
            <a:r>
              <a:rPr spc="-180"/>
              <a:t> </a:t>
            </a:r>
            <a:r>
              <a:t>of</a:t>
            </a:r>
            <a:r>
              <a:rPr spc="-135"/>
              <a:t> </a:t>
            </a:r>
            <a:r>
              <a:rPr spc="-20"/>
              <a:t>Project</a:t>
            </a:r>
          </a:p>
        </p:txBody>
      </p:sp>
      <p:pic>
        <p:nvPicPr>
          <p:cNvPr id="4" name="Picture 3">
            <a:extLst>
              <a:ext uri="{FF2B5EF4-FFF2-40B4-BE49-F238E27FC236}">
                <a16:creationId xmlns:a16="http://schemas.microsoft.com/office/drawing/2014/main" id="{66592EF3-2B9B-8898-BDF7-319A5D9332DC}"/>
              </a:ext>
            </a:extLst>
          </p:cNvPr>
          <p:cNvPicPr>
            <a:picLocks noChangeAspect="1"/>
          </p:cNvPicPr>
          <p:nvPr/>
        </p:nvPicPr>
        <p:blipFill>
          <a:blip r:embed="rId2"/>
          <a:stretch>
            <a:fillRect/>
          </a:stretch>
        </p:blipFill>
        <p:spPr>
          <a:xfrm>
            <a:off x="511480" y="1214972"/>
            <a:ext cx="11273422" cy="458463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50348" rIns="0" bIns="0" rtlCol="0" anchor="t">
            <a:spAutoFit/>
          </a:bodyPr>
          <a:lstStyle/>
          <a:p>
            <a:pPr marL="12700">
              <a:lnSpc>
                <a:spcPct val="100000"/>
              </a:lnSpc>
              <a:spcBef>
                <a:spcPts val="130"/>
              </a:spcBef>
            </a:pPr>
            <a:r>
              <a:rPr spc="-50" dirty="0"/>
              <a:t>Outcomes</a:t>
            </a:r>
            <a:r>
              <a:rPr spc="-165" dirty="0"/>
              <a:t> </a:t>
            </a:r>
            <a:endParaRPr lang="en-US" spc="-10" dirty="0">
              <a:ea typeface="Calibri Light"/>
            </a:endParaRPr>
          </a:p>
        </p:txBody>
      </p:sp>
      <p:sp>
        <p:nvSpPr>
          <p:cNvPr id="3" name="Text Placeholder 2">
            <a:extLst>
              <a:ext uri="{FF2B5EF4-FFF2-40B4-BE49-F238E27FC236}">
                <a16:creationId xmlns:a16="http://schemas.microsoft.com/office/drawing/2014/main" id="{FE158228-CDD3-C784-4103-03F70CE05835}"/>
              </a:ext>
            </a:extLst>
          </p:cNvPr>
          <p:cNvSpPr>
            <a:spLocks noGrp="1"/>
          </p:cNvSpPr>
          <p:nvPr>
            <p:ph type="body" idx="1"/>
          </p:nvPr>
        </p:nvSpPr>
        <p:spPr>
          <a:xfrm>
            <a:off x="922142" y="1566169"/>
            <a:ext cx="10063673" cy="4154984"/>
          </a:xfrm>
        </p:spPr>
        <p:txBody>
          <a:bodyPr wrap="square" lIns="0" tIns="0" rIns="0" bIns="0" anchor="t">
            <a:spAutoFit/>
          </a:bodyPr>
          <a:lstStyle/>
          <a:p>
            <a:pPr algn="l">
              <a:buFont typeface="Arial"/>
              <a:buChar char="•"/>
            </a:pPr>
            <a:r>
              <a:rPr lang="en-US" b="1" dirty="0">
                <a:ea typeface="+mn-lt"/>
                <a:cs typeface="+mn-lt"/>
              </a:rPr>
              <a:t>Real-Time Detection System</a:t>
            </a:r>
            <a:r>
              <a:rPr lang="en-US" dirty="0">
                <a:ea typeface="+mn-lt"/>
                <a:cs typeface="+mn-lt"/>
              </a:rPr>
              <a:t>: A fully functional application designed to detect humans, fire, and smoke in real-time from uploaded images and live video feeds, providing reliable classification for safety monitoring purposes.</a:t>
            </a:r>
          </a:p>
          <a:p>
            <a:pPr algn="l">
              <a:buFont typeface="Arial"/>
              <a:buChar char="•"/>
            </a:pPr>
            <a:r>
              <a:rPr lang="en-US" b="1" dirty="0">
                <a:ea typeface="+mn-lt"/>
                <a:cs typeface="+mn-lt"/>
              </a:rPr>
              <a:t>High-Accuracy Detection Models</a:t>
            </a:r>
            <a:r>
              <a:rPr lang="en-US" dirty="0">
                <a:ea typeface="+mn-lt"/>
                <a:cs typeface="+mn-lt"/>
              </a:rPr>
              <a:t>: Successfully trained YOLOv8 and YOLOv9 models, optimized for high accuracy in detecting humans, fire, and smoke under various conditions, with minimal false positives or negatives.</a:t>
            </a:r>
          </a:p>
          <a:p>
            <a:pPr algn="l">
              <a:buFont typeface="Arial"/>
              <a:buChar char="•"/>
            </a:pPr>
            <a:r>
              <a:rPr lang="en-US" b="1" dirty="0">
                <a:ea typeface="+mn-lt"/>
                <a:cs typeface="+mn-lt"/>
              </a:rPr>
              <a:t>Performance Evaluation and Comparison</a:t>
            </a:r>
            <a:r>
              <a:rPr lang="en-US" dirty="0">
                <a:ea typeface="+mn-lt"/>
                <a:cs typeface="+mn-lt"/>
              </a:rPr>
              <a:t>: A detailed comparison of YOLOv8 and YOLOv9 models in terms of accuracy, speed, and robustness, offering insights into their strengths, weaknesses, and suitability for different real-time detection scenarios.</a:t>
            </a:r>
          </a:p>
          <a:p>
            <a:pPr algn="l">
              <a:buFont typeface="Arial"/>
              <a:buChar char="•"/>
            </a:pPr>
            <a:r>
              <a:rPr lang="en-US" b="1" dirty="0">
                <a:ea typeface="+mn-lt"/>
                <a:cs typeface="+mn-lt"/>
              </a:rPr>
              <a:t>Real-Time Camera Processing</a:t>
            </a:r>
            <a:r>
              <a:rPr lang="en-US" dirty="0">
                <a:ea typeface="+mn-lt"/>
                <a:cs typeface="+mn-lt"/>
              </a:rPr>
              <a:t>: Implementation of a system capable of processing images from a laptop camera, ensuring effective real-time detection even with potential limitations in resolution and quality, demonstrating its practicality for everyday safety applications.</a:t>
            </a:r>
          </a:p>
          <a:p>
            <a:pPr algn="l">
              <a:buFont typeface="Arial"/>
              <a:buChar char="•"/>
            </a:pPr>
            <a:r>
              <a:rPr lang="en-US" b="1" dirty="0">
                <a:ea typeface="+mn-lt"/>
                <a:cs typeface="+mn-lt"/>
              </a:rPr>
              <a:t>Visual Feedback System</a:t>
            </a:r>
            <a:r>
              <a:rPr lang="en-US" dirty="0">
                <a:ea typeface="+mn-lt"/>
                <a:cs typeface="+mn-lt"/>
              </a:rPr>
              <a:t>: A responsive system that provides visual cues when humans, fire, or smoke are detected, improving response times in critical situations and enhancing safety and situational awareness.</a:t>
            </a:r>
          </a:p>
          <a:p>
            <a:pPr marL="285750" indent="-285750" algn="l">
              <a:buFont typeface="Arial"/>
              <a:buChar char="•"/>
            </a:pPr>
            <a:endParaRPr lang="en-US" dirty="0">
              <a:ea typeface="Calibri"/>
              <a:cs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7575" y="4047"/>
            <a:ext cx="8938260" cy="1056640"/>
          </a:xfrm>
          <a:prstGeom prst="rect">
            <a:avLst/>
          </a:prstGeom>
        </p:spPr>
        <p:txBody>
          <a:bodyPr vert="horz" wrap="square" lIns="0" tIns="350348" rIns="0" bIns="0" rtlCol="0">
            <a:spAutoFit/>
          </a:bodyPr>
          <a:lstStyle/>
          <a:p>
            <a:pPr marL="12700">
              <a:lnSpc>
                <a:spcPct val="100000"/>
              </a:lnSpc>
              <a:spcBef>
                <a:spcPts val="130"/>
              </a:spcBef>
            </a:pPr>
            <a:r>
              <a:rPr spc="-30"/>
              <a:t>Conclusion</a:t>
            </a:r>
          </a:p>
        </p:txBody>
      </p:sp>
      <p:sp>
        <p:nvSpPr>
          <p:cNvPr id="3" name="Text Placeholder 2">
            <a:extLst>
              <a:ext uri="{FF2B5EF4-FFF2-40B4-BE49-F238E27FC236}">
                <a16:creationId xmlns:a16="http://schemas.microsoft.com/office/drawing/2014/main" id="{3AA24E08-FC8F-DB2F-6B16-C54C911F2D39}"/>
              </a:ext>
            </a:extLst>
          </p:cNvPr>
          <p:cNvSpPr>
            <a:spLocks noGrp="1"/>
          </p:cNvSpPr>
          <p:nvPr>
            <p:ph type="body" idx="1"/>
          </p:nvPr>
        </p:nvSpPr>
        <p:spPr>
          <a:xfrm>
            <a:off x="615315" y="962899"/>
            <a:ext cx="10961370" cy="5262979"/>
          </a:xfrm>
        </p:spPr>
        <p:txBody>
          <a:bodyPr wrap="square" lIns="0" tIns="0" rIns="0" bIns="0" anchor="t">
            <a:spAutoFit/>
          </a:bodyPr>
          <a:lstStyle/>
          <a:p>
            <a:pPr marL="285750" indent="-285750" algn="just">
              <a:buFont typeface="Arial" panose="020B0604020202020204" pitchFamily="34" charset="0"/>
              <a:buChar char="•"/>
            </a:pPr>
            <a:r>
              <a:rPr lang="en-US" dirty="0">
                <a:ea typeface="+mn-lt"/>
                <a:cs typeface="+mn-lt"/>
              </a:rPr>
              <a:t>The training and evaluation metrics confirm that the model has been effectively trained to detect "fire," "smoke," and "human" with improving accuracy. </a:t>
            </a:r>
          </a:p>
          <a:p>
            <a:pPr marL="285750" indent="-285750" algn="just">
              <a:buFont typeface="Arial" panose="020B0604020202020204" pitchFamily="34" charset="0"/>
              <a:buChar char="•"/>
            </a:pPr>
            <a:r>
              <a:rPr lang="en-US" dirty="0">
                <a:ea typeface="+mn-lt"/>
                <a:cs typeface="+mn-lt"/>
              </a:rPr>
              <a:t>The consistent decline in training and validation losses indicates successful error minimization, while rising precision, recall, and </a:t>
            </a:r>
            <a:r>
              <a:rPr lang="en-US" dirty="0" err="1">
                <a:ea typeface="+mn-lt"/>
                <a:cs typeface="+mn-lt"/>
              </a:rPr>
              <a:t>mAP</a:t>
            </a:r>
            <a:r>
              <a:rPr lang="en-US" dirty="0">
                <a:ea typeface="+mn-lt"/>
                <a:cs typeface="+mn-lt"/>
              </a:rPr>
              <a:t> scores (</a:t>
            </a:r>
            <a:r>
              <a:rPr lang="en-US" dirty="0">
                <a:ea typeface="+mn-lt"/>
                <a:cs typeface="+mn-lt"/>
                <a:hlinkClick r:id="rId2"/>
              </a:rPr>
              <a:t>mAP@0.5</a:t>
            </a:r>
            <a:r>
              <a:rPr lang="en-US" dirty="0">
                <a:ea typeface="+mn-lt"/>
                <a:cs typeface="+mn-lt"/>
              </a:rPr>
              <a:t> and </a:t>
            </a:r>
            <a:r>
              <a:rPr lang="en-US" dirty="0">
                <a:ea typeface="+mn-lt"/>
                <a:cs typeface="+mn-lt"/>
                <a:hlinkClick r:id="rId3"/>
              </a:rPr>
              <a:t>mAP@0.5:0.95</a:t>
            </a:r>
            <a:r>
              <a:rPr lang="en-US" dirty="0">
                <a:ea typeface="+mn-lt"/>
                <a:cs typeface="+mn-lt"/>
              </a:rPr>
              <a:t>) demonstrate the model's growing capability to identify objects across different scales and confidence levels.</a:t>
            </a:r>
          </a:p>
          <a:p>
            <a:pPr marL="285750" indent="-285750" algn="just">
              <a:buFont typeface="Arial" panose="020B0604020202020204" pitchFamily="34" charset="0"/>
              <a:buChar char="•"/>
            </a:pPr>
            <a:r>
              <a:rPr lang="en-US" dirty="0">
                <a:ea typeface="+mn-lt"/>
                <a:cs typeface="+mn-lt"/>
              </a:rPr>
              <a:t>Although the model excels in detecting "fire" and "smoke," "human" detection lags slightly, reflected by lower precision and recall scores. Enhancing the dataset or refining model parameters for "human" detection could improve performance in this area.</a:t>
            </a:r>
          </a:p>
          <a:p>
            <a:pPr marL="285750" indent="-285750" algn="just">
              <a:buFont typeface="Arial" panose="020B0604020202020204" pitchFamily="34" charset="0"/>
              <a:buChar char="•"/>
            </a:pPr>
            <a:r>
              <a:rPr lang="en-US" dirty="0">
                <a:ea typeface="+mn-lt"/>
                <a:cs typeface="+mn-lt"/>
              </a:rPr>
              <a:t>YOLOv9 shows outstanding performance in detecting "fire" (precision-recall 0.982) and "smoke" (0.855), with minimal misclassifications, making it highly suitable for real-time safety applications like fire and smoke monitoring. However, it struggles with "human" detection (precision-recall 0.536), leading to misclassifications with other classes like background and smoke.</a:t>
            </a:r>
          </a:p>
          <a:p>
            <a:pPr marL="285750" indent="-285750" algn="just">
              <a:buFont typeface="Arial" panose="020B0604020202020204" pitchFamily="34" charset="0"/>
              <a:buChar char="•"/>
            </a:pPr>
            <a:r>
              <a:rPr lang="en-US" dirty="0">
                <a:ea typeface="+mn-lt"/>
                <a:cs typeface="+mn-lt"/>
              </a:rPr>
              <a:t>YOLOv8, on the other hand, achieves higher </a:t>
            </a:r>
            <a:r>
              <a:rPr lang="en-US" dirty="0" err="1">
                <a:ea typeface="+mn-lt"/>
                <a:cs typeface="+mn-lt"/>
              </a:rPr>
              <a:t>mAP</a:t>
            </a:r>
            <a:r>
              <a:rPr lang="en-US" dirty="0">
                <a:ea typeface="+mn-lt"/>
                <a:cs typeface="+mn-lt"/>
              </a:rPr>
              <a:t> scores and delivers a more balanced performance across all classes, including better "human" detection. Its consistent learning curve and declining losses make it versatile for diverse object detection tasks.</a:t>
            </a:r>
          </a:p>
          <a:p>
            <a:pPr marL="285750" indent="-285750" algn="just">
              <a:buFont typeface="Arial" panose="020B0604020202020204" pitchFamily="34" charset="0"/>
              <a:buChar char="•"/>
            </a:pPr>
            <a:r>
              <a:rPr lang="en-US" dirty="0">
                <a:ea typeface="+mn-lt"/>
                <a:cs typeface="+mn-lt"/>
              </a:rPr>
              <a:t> YOLOv8 is better suited for general-purpose applications, while YOLOv9 is ideal for high-precision tasks like fire and smoke detection. The choice between the two depends on whether the focus is on specific safety-critical tasks or broader detection needs.</a:t>
            </a:r>
          </a:p>
          <a:p>
            <a:pPr algn="just"/>
            <a:endParaRPr lang="en-US" dirty="0">
              <a:ea typeface="+mn-lt"/>
              <a:cs typeface="+mn-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50348" rIns="0" bIns="0" rtlCol="0">
            <a:spAutoFit/>
          </a:bodyPr>
          <a:lstStyle/>
          <a:p>
            <a:pPr marL="12700">
              <a:lnSpc>
                <a:spcPct val="100000"/>
              </a:lnSpc>
              <a:spcBef>
                <a:spcPts val="130"/>
              </a:spcBef>
            </a:pPr>
            <a:r>
              <a:rPr spc="-60"/>
              <a:t>References</a:t>
            </a:r>
          </a:p>
        </p:txBody>
      </p:sp>
      <p:sp>
        <p:nvSpPr>
          <p:cNvPr id="3" name="Text Placeholder 2">
            <a:extLst>
              <a:ext uri="{FF2B5EF4-FFF2-40B4-BE49-F238E27FC236}">
                <a16:creationId xmlns:a16="http://schemas.microsoft.com/office/drawing/2014/main" id="{9C93712B-1215-E889-2DE4-C196E6145B48}"/>
              </a:ext>
            </a:extLst>
          </p:cNvPr>
          <p:cNvSpPr>
            <a:spLocks noGrp="1"/>
          </p:cNvSpPr>
          <p:nvPr>
            <p:ph type="body" idx="1"/>
          </p:nvPr>
        </p:nvSpPr>
        <p:spPr>
          <a:xfrm>
            <a:off x="869950" y="1618361"/>
            <a:ext cx="10961370" cy="4154984"/>
          </a:xfrm>
        </p:spPr>
        <p:txBody>
          <a:bodyPr wrap="square" lIns="0" tIns="0" rIns="0" bIns="0" anchor="t">
            <a:spAutoFit/>
          </a:bodyPr>
          <a:lstStyle/>
          <a:p>
            <a:r>
              <a:rPr lang="en-US" dirty="0">
                <a:ea typeface="+mn-lt"/>
                <a:cs typeface="+mn-lt"/>
              </a:rPr>
              <a:t>[1]. Aathithya, S., Kavya, S., Malavika, J., Raveena, R., &amp; Durga, E. (2020) ‘Detection of Human Existence Using Thermal Imaging for Automated Fire Extinguisher’, Developed a thermal imaging-based system for human detection. Useful for automated fire extinguishing. Limited to thermal detection accuracy.</a:t>
            </a:r>
          </a:p>
          <a:p>
            <a:endParaRPr lang="en-US" dirty="0">
              <a:ea typeface="+mn-lt"/>
              <a:cs typeface="+mn-lt"/>
            </a:endParaRPr>
          </a:p>
          <a:p>
            <a:r>
              <a:rPr lang="en-US" dirty="0">
                <a:ea typeface="+mn-lt"/>
                <a:cs typeface="+mn-lt"/>
              </a:rPr>
              <a:t>[2]. </a:t>
            </a:r>
            <a:r>
              <a:rPr lang="en-US" err="1">
                <a:ea typeface="+mn-lt"/>
                <a:cs typeface="+mn-lt"/>
              </a:rPr>
              <a:t>Chopde</a:t>
            </a:r>
            <a:r>
              <a:rPr lang="en-US" dirty="0">
                <a:ea typeface="+mn-lt"/>
                <a:cs typeface="+mn-lt"/>
              </a:rPr>
              <a:t>, A., et al. (2022) ‘Forest Fire Detection and Prediction from Image Processing Using RCNN’, Developed an RCNN-based system for forest fire detection. High accuracy in image-based detection. Dependency on large datasets for training. </a:t>
            </a:r>
          </a:p>
          <a:p>
            <a:endParaRPr lang="en-US" dirty="0">
              <a:ea typeface="+mn-lt"/>
              <a:cs typeface="+mn-lt"/>
            </a:endParaRPr>
          </a:p>
          <a:p>
            <a:r>
              <a:rPr lang="en-US" dirty="0">
                <a:ea typeface="+mn-lt"/>
                <a:cs typeface="+mn-lt"/>
              </a:rPr>
              <a:t>[3]. Jaradat, F., &amp; Valles, D. (2018) ‘A Human Detection Approach for Burning Building Sites Using Deep Learning Techniques’, Developed a human detection approach using deep learning. Effective in complex environments. Requires extensive training data. </a:t>
            </a:r>
          </a:p>
          <a:p>
            <a:endParaRPr lang="en-US" dirty="0">
              <a:ea typeface="+mn-lt"/>
              <a:cs typeface="+mn-lt"/>
            </a:endParaRPr>
          </a:p>
          <a:p>
            <a:r>
              <a:rPr lang="en-US" dirty="0">
                <a:ea typeface="+mn-lt"/>
                <a:cs typeface="+mn-lt"/>
              </a:rPr>
              <a:t>[4]. </a:t>
            </a:r>
            <a:r>
              <a:rPr lang="en-US" dirty="0" err="1">
                <a:ea typeface="+mn-lt"/>
                <a:cs typeface="+mn-lt"/>
              </a:rPr>
              <a:t>Jaeseung</a:t>
            </a:r>
            <a:r>
              <a:rPr lang="en-US" dirty="0">
                <a:ea typeface="+mn-lt"/>
                <a:cs typeface="+mn-lt"/>
              </a:rPr>
              <a:t> Baek, Alhindi, T. J., Jeong, Y. S., Jeong, M. K., Seo, S., Kang, J., Shim, W., &amp; Heo, Y. (2021) ‘Real-time fire detection system based on dynamic time warping of multichannel sensor networks’, Developed a real-time fire detection system. High efficiency with multichannel sensor networks. Complexity in sensor network integration. </a:t>
            </a:r>
            <a:endParaRPr lang="en-US" dirty="0">
              <a:ea typeface="Calibri"/>
              <a:cs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7EDD71BA-9F4A-59C2-D9F6-3991CB2F9D3D}"/>
              </a:ext>
            </a:extLst>
          </p:cNvPr>
          <p:cNvSpPr>
            <a:spLocks noGrp="1"/>
          </p:cNvSpPr>
          <p:nvPr>
            <p:ph type="body" idx="1"/>
          </p:nvPr>
        </p:nvSpPr>
        <p:spPr>
          <a:xfrm>
            <a:off x="619429" y="313566"/>
            <a:ext cx="10961370" cy="5539978"/>
          </a:xfrm>
        </p:spPr>
        <p:txBody>
          <a:bodyPr wrap="square" lIns="0" tIns="0" rIns="0" bIns="0" anchor="t">
            <a:spAutoFit/>
          </a:bodyPr>
          <a:lstStyle/>
          <a:p>
            <a:r>
              <a:rPr lang="en-US" dirty="0">
                <a:ea typeface="+mn-lt"/>
                <a:cs typeface="+mn-lt"/>
              </a:rPr>
              <a:t>[5]. Lee, H.-W., Lee, K.-O., Bae, J.-H., Kim, S.-Y., &amp; Park, Y. Y. (2022) ‘Using Hybrid Algorithms of Human Detection Technique for Detecting Indoor Disaster Victims’, Developed a method for detecting disaster victims using hybrid algorithms. Improved detection accuracy in indoor settings. Complexity in algorithm implementation. </a:t>
            </a:r>
          </a:p>
          <a:p>
            <a:endParaRPr lang="en-US" dirty="0">
              <a:ea typeface="+mn-lt"/>
              <a:cs typeface="+mn-lt"/>
            </a:endParaRPr>
          </a:p>
          <a:p>
            <a:r>
              <a:rPr lang="en-US" dirty="0">
                <a:ea typeface="+mn-lt"/>
                <a:cs typeface="+mn-lt"/>
              </a:rPr>
              <a:t>[6]. Luo, W. (2021) ‘Research on fire detection based on YOLOv5’, Implemented fire detection using YOLOv5. High detection accuracy. Requires high computational resources. </a:t>
            </a:r>
          </a:p>
          <a:p>
            <a:endParaRPr lang="en-US" dirty="0">
              <a:ea typeface="+mn-lt"/>
              <a:cs typeface="+mn-lt"/>
            </a:endParaRPr>
          </a:p>
          <a:p>
            <a:r>
              <a:rPr lang="en-US" dirty="0">
                <a:ea typeface="+mn-lt"/>
                <a:cs typeface="+mn-lt"/>
              </a:rPr>
              <a:t>[7]. Muhammad Salihin Ahmad Azmil, M. S., </a:t>
            </a:r>
            <a:r>
              <a:rPr lang="en-US" err="1">
                <a:ea typeface="+mn-lt"/>
                <a:cs typeface="+mn-lt"/>
              </a:rPr>
              <a:t>Ya'acob</a:t>
            </a:r>
            <a:r>
              <a:rPr lang="en-US" dirty="0">
                <a:ea typeface="+mn-lt"/>
                <a:cs typeface="+mn-lt"/>
              </a:rPr>
              <a:t>, N., Tahar, K. N., &amp; Sarnin, S. S. (2015) ‘Wireless fire detection monitoring system for fire and rescue application’, Developed a wireless monitoring system. Wireless, portable, suitable for rescue operations. Limited range of wireless communication. School of Computer Science Engineering &amp; Information Science, Presidency University. 40 Human Life Detection During Fire </a:t>
            </a:r>
          </a:p>
          <a:p>
            <a:endParaRPr lang="en-US" dirty="0">
              <a:ea typeface="+mn-lt"/>
              <a:cs typeface="+mn-lt"/>
            </a:endParaRPr>
          </a:p>
          <a:p>
            <a:r>
              <a:rPr lang="en-US" dirty="0">
                <a:ea typeface="+mn-lt"/>
                <a:cs typeface="+mn-lt"/>
              </a:rPr>
              <a:t>[8]. Seetharaman, R., Sreeja, R. R., Dakshin, S., Vidhul, N., Nivetha, N., </a:t>
            </a:r>
            <a:r>
              <a:rPr lang="en-US" dirty="0" err="1">
                <a:ea typeface="+mn-lt"/>
                <a:cs typeface="+mn-lt"/>
              </a:rPr>
              <a:t>Gowsigan</a:t>
            </a:r>
            <a:r>
              <a:rPr lang="en-US" dirty="0">
                <a:ea typeface="+mn-lt"/>
                <a:cs typeface="+mn-lt"/>
              </a:rPr>
              <a:t>, S., &amp; Barath, M. (2020) ‘Analysis of a Real Time Fire Detection and Intimation System’, Analyzed real-time fire detection and alert systems. Quick response time, efficient alerting. May face false alarms under certain conditions. </a:t>
            </a:r>
            <a:endParaRPr lang="en-US"/>
          </a:p>
          <a:p>
            <a:endParaRPr lang="en-US" dirty="0">
              <a:ea typeface="+mn-lt"/>
              <a:cs typeface="+mn-lt"/>
            </a:endParaRPr>
          </a:p>
          <a:p>
            <a:r>
              <a:rPr lang="en-US" dirty="0">
                <a:ea typeface="+mn-lt"/>
                <a:cs typeface="+mn-lt"/>
              </a:rPr>
              <a:t>[9]. Sathishkumar, V. E., Cho, J., Subramanian, M., et al. (2023) ‘Forest fire and smoke detection using deep learning-based learning without forgetting’, Developed a system for detecting forest fires using deep learning. Adaptive learning capabilities. High computational demand for training. </a:t>
            </a:r>
          </a:p>
          <a:p>
            <a:endParaRPr lang="en-US">
              <a:ea typeface="Calibri"/>
              <a:cs typeface="Calibri"/>
            </a:endParaRPr>
          </a:p>
        </p:txBody>
      </p:sp>
    </p:spTree>
    <p:extLst>
      <p:ext uri="{BB962C8B-B14F-4D97-AF65-F5344CB8AC3E}">
        <p14:creationId xmlns:p14="http://schemas.microsoft.com/office/powerpoint/2010/main" val="8794839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7EDD71BA-9F4A-59C2-D9F6-3991CB2F9D3D}"/>
              </a:ext>
            </a:extLst>
          </p:cNvPr>
          <p:cNvSpPr>
            <a:spLocks noGrp="1"/>
          </p:cNvSpPr>
          <p:nvPr>
            <p:ph type="body" idx="1"/>
          </p:nvPr>
        </p:nvSpPr>
        <p:spPr>
          <a:xfrm>
            <a:off x="619429" y="313566"/>
            <a:ext cx="10961370" cy="1107996"/>
          </a:xfrm>
        </p:spPr>
        <p:txBody>
          <a:bodyPr wrap="square" lIns="0" tIns="0" rIns="0" bIns="0" anchor="t">
            <a:spAutoFit/>
          </a:bodyPr>
          <a:lstStyle/>
          <a:p>
            <a:pPr algn="l"/>
            <a:r>
              <a:rPr lang="en-US" dirty="0">
                <a:ea typeface="Calibri"/>
                <a:cs typeface="Calibri"/>
              </a:rPr>
              <a:t>[10]. Zaher, A., Al </a:t>
            </a:r>
            <a:r>
              <a:rPr lang="en-US" dirty="0" err="1">
                <a:ea typeface="Calibri"/>
                <a:cs typeface="Calibri"/>
              </a:rPr>
              <a:t>Faqsh</a:t>
            </a:r>
            <a:r>
              <a:rPr lang="en-US" dirty="0">
                <a:ea typeface="Calibri"/>
                <a:cs typeface="Calibri"/>
              </a:rPr>
              <a:t>, A., </a:t>
            </a:r>
            <a:r>
              <a:rPr lang="en-US" dirty="0" err="1">
                <a:ea typeface="Calibri"/>
                <a:cs typeface="Calibri"/>
              </a:rPr>
              <a:t>Abdulredha</a:t>
            </a:r>
            <a:r>
              <a:rPr lang="en-US" dirty="0">
                <a:ea typeface="Calibri"/>
                <a:cs typeface="Calibri"/>
              </a:rPr>
              <a:t>, H., Al-</a:t>
            </a:r>
            <a:r>
              <a:rPr lang="en-US" dirty="0" err="1">
                <a:ea typeface="Calibri"/>
                <a:cs typeface="Calibri"/>
              </a:rPr>
              <a:t>Qudaihi</a:t>
            </a:r>
            <a:r>
              <a:rPr lang="en-US" dirty="0">
                <a:ea typeface="Calibri"/>
                <a:cs typeface="Calibri"/>
              </a:rPr>
              <a:t>, H., &amp; </a:t>
            </a:r>
            <a:r>
              <a:rPr lang="en-US" dirty="0" err="1">
                <a:ea typeface="Calibri"/>
                <a:cs typeface="Calibri"/>
              </a:rPr>
              <a:t>Toaube</a:t>
            </a:r>
            <a:r>
              <a:rPr lang="en-US" dirty="0">
                <a:ea typeface="Calibri"/>
                <a:cs typeface="Calibri"/>
              </a:rPr>
              <a:t>, M. (2021) ‘A Fire Prevention/Monitoring Smart System’, Developed a smart system for fire prevention and monitoring. Real-time monitoring and prevention. Dependency on sensors, high cost.</a:t>
            </a:r>
          </a:p>
          <a:p>
            <a:endParaRPr lang="en-US" dirty="0">
              <a:ea typeface="Calibri"/>
              <a:cs typeface="Calibri"/>
            </a:endParaRPr>
          </a:p>
        </p:txBody>
      </p:sp>
    </p:spTree>
    <p:extLst>
      <p:ext uri="{BB962C8B-B14F-4D97-AF65-F5344CB8AC3E}">
        <p14:creationId xmlns:p14="http://schemas.microsoft.com/office/powerpoint/2010/main" val="34796570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2"/>
          <p:cNvSpPr txBox="1">
            <a:spLocks noGrp="1"/>
          </p:cNvSpPr>
          <p:nvPr>
            <p:ph type="title"/>
          </p:nvPr>
        </p:nvSpPr>
        <p:spPr>
          <a:xfrm>
            <a:off x="720591" y="384475"/>
            <a:ext cx="7091300" cy="898581"/>
          </a:xfrm>
          <a:prstGeom prst="rect">
            <a:avLst/>
          </a:prstGeom>
        </p:spPr>
        <p:txBody>
          <a:bodyPr vert="horz" lIns="91440" tIns="45720" rIns="91440" bIns="45720" rtlCol="0" anchor="ctr">
            <a:normAutofit/>
          </a:bodyPr>
          <a:lstStyle/>
          <a:p>
            <a:pPr marL="12700" algn="l" rtl="0">
              <a:lnSpc>
                <a:spcPct val="90000"/>
              </a:lnSpc>
              <a:spcBef>
                <a:spcPct val="0"/>
              </a:spcBef>
            </a:pPr>
            <a:r>
              <a:rPr lang="en-US" kern="1200" spc="-45" dirty="0">
                <a:ea typeface="Calibri Light"/>
              </a:rPr>
              <a:t>Proof Of Publication</a:t>
            </a:r>
            <a:r>
              <a:rPr lang="en-US" kern="1200" spc="-25" dirty="0">
                <a:ea typeface="Calibri Light"/>
              </a:rPr>
              <a:t>:</a:t>
            </a:r>
          </a:p>
        </p:txBody>
      </p:sp>
      <p:pic>
        <p:nvPicPr>
          <p:cNvPr id="3" name="Picture 2" descr="A certificate of publication&#10;&#10;Description automatically generated">
            <a:extLst>
              <a:ext uri="{FF2B5EF4-FFF2-40B4-BE49-F238E27FC236}">
                <a16:creationId xmlns:a16="http://schemas.microsoft.com/office/drawing/2014/main" id="{765F166F-FD2A-4756-07C8-1554EDE316AD}"/>
              </a:ext>
            </a:extLst>
          </p:cNvPr>
          <p:cNvPicPr>
            <a:picLocks noChangeAspect="1"/>
          </p:cNvPicPr>
          <p:nvPr/>
        </p:nvPicPr>
        <p:blipFill>
          <a:blip r:embed="rId2"/>
          <a:stretch>
            <a:fillRect/>
          </a:stretch>
        </p:blipFill>
        <p:spPr>
          <a:xfrm>
            <a:off x="715748" y="1717944"/>
            <a:ext cx="5131088" cy="3630244"/>
          </a:xfrm>
          <a:prstGeom prst="rect">
            <a:avLst/>
          </a:prstGeom>
        </p:spPr>
      </p:pic>
      <p:pic>
        <p:nvPicPr>
          <p:cNvPr id="4" name="Picture 3" descr="A certificate of publication&#10;&#10;Description automatically generated">
            <a:extLst>
              <a:ext uri="{FF2B5EF4-FFF2-40B4-BE49-F238E27FC236}">
                <a16:creationId xmlns:a16="http://schemas.microsoft.com/office/drawing/2014/main" id="{92ED6151-4CED-9278-C87B-1ECBE81BA04F}"/>
              </a:ext>
            </a:extLst>
          </p:cNvPr>
          <p:cNvPicPr>
            <a:picLocks noChangeAspect="1"/>
          </p:cNvPicPr>
          <p:nvPr/>
        </p:nvPicPr>
        <p:blipFill>
          <a:blip r:embed="rId3"/>
          <a:stretch>
            <a:fillRect/>
          </a:stretch>
        </p:blipFill>
        <p:spPr>
          <a:xfrm>
            <a:off x="6439110" y="1712677"/>
            <a:ext cx="5131087" cy="363024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ertificate of publication&#10;&#10;Description automatically generated">
            <a:extLst>
              <a:ext uri="{FF2B5EF4-FFF2-40B4-BE49-F238E27FC236}">
                <a16:creationId xmlns:a16="http://schemas.microsoft.com/office/drawing/2014/main" id="{116071C5-2D5D-53BB-037B-71E0EB06AE50}"/>
              </a:ext>
            </a:extLst>
          </p:cNvPr>
          <p:cNvPicPr>
            <a:picLocks noChangeAspect="1"/>
          </p:cNvPicPr>
          <p:nvPr/>
        </p:nvPicPr>
        <p:blipFill>
          <a:blip r:embed="rId2"/>
          <a:stretch>
            <a:fillRect/>
          </a:stretch>
        </p:blipFill>
        <p:spPr>
          <a:xfrm>
            <a:off x="700217" y="654158"/>
            <a:ext cx="5133975" cy="3629025"/>
          </a:xfrm>
          <a:prstGeom prst="rect">
            <a:avLst/>
          </a:prstGeom>
        </p:spPr>
      </p:pic>
    </p:spTree>
    <p:extLst>
      <p:ext uri="{BB962C8B-B14F-4D97-AF65-F5344CB8AC3E}">
        <p14:creationId xmlns:p14="http://schemas.microsoft.com/office/powerpoint/2010/main" val="28270527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7012E-8887-00CD-F65B-4266079A375E}"/>
              </a:ext>
            </a:extLst>
          </p:cNvPr>
          <p:cNvSpPr>
            <a:spLocks noGrp="1"/>
          </p:cNvSpPr>
          <p:nvPr>
            <p:ph type="title"/>
          </p:nvPr>
        </p:nvSpPr>
        <p:spPr>
          <a:xfrm>
            <a:off x="782320" y="3992880"/>
            <a:ext cx="11186159" cy="1508105"/>
          </a:xfrm>
        </p:spPr>
        <p:txBody>
          <a:bodyPr/>
          <a:lstStyle/>
          <a:p>
            <a:pPr algn="l"/>
            <a:r>
              <a:rPr lang="en-US" sz="1800" b="1" dirty="0">
                <a:effectLst/>
                <a:latin typeface="Times New Roman" panose="02020603050405020304" pitchFamily="18" charset="0"/>
                <a:ea typeface="Times New Roman" panose="02020603050405020304" pitchFamily="18" charset="0"/>
              </a:rPr>
              <a:t>SDG 9: Industry, Innovation, and Infrastructure</a:t>
            </a:r>
            <a:br>
              <a:rPr lang="en-US" sz="1800" b="1" dirty="0">
                <a:effectLst/>
                <a:latin typeface="Times New Roman" panose="02020603050405020304" pitchFamily="18" charset="0"/>
                <a:ea typeface="Times New Roman" panose="02020603050405020304" pitchFamily="18" charset="0"/>
              </a:rPr>
            </a:br>
            <a:r>
              <a:rPr lang="en-US" sz="1800" b="1" dirty="0">
                <a:effectLst/>
                <a:latin typeface="Times New Roman" panose="02020603050405020304" pitchFamily="18" charset="0"/>
                <a:ea typeface="Times New Roman" panose="02020603050405020304" pitchFamily="18" charset="0"/>
              </a:rPr>
              <a:t>SDG 11: Sustainable Cities and Communities</a:t>
            </a:r>
            <a:br>
              <a:rPr lang="en-US" sz="1800" dirty="0">
                <a:effectLst/>
                <a:latin typeface="Times New Roman" panose="02020603050405020304" pitchFamily="18" charset="0"/>
                <a:ea typeface="Times New Roman" panose="02020603050405020304" pitchFamily="18" charset="0"/>
              </a:rPr>
            </a:br>
            <a:br>
              <a:rPr lang="en-US" sz="1800" dirty="0">
                <a:effectLst/>
                <a:latin typeface="Times New Roman" panose="02020603050405020304" pitchFamily="18" charset="0"/>
                <a:ea typeface="Times New Roman" panose="02020603050405020304" pitchFamily="18" charset="0"/>
              </a:rPr>
            </a:br>
            <a:endParaRPr lang="en-US" dirty="0"/>
          </a:p>
        </p:txBody>
      </p:sp>
      <p:pic>
        <p:nvPicPr>
          <p:cNvPr id="3" name="Picture 2" descr="A chart of goals for a sustainable development&#10;&#10;Description automatically generated">
            <a:extLst>
              <a:ext uri="{FF2B5EF4-FFF2-40B4-BE49-F238E27FC236}">
                <a16:creationId xmlns:a16="http://schemas.microsoft.com/office/drawing/2014/main" id="{4E79BCA8-5316-57B6-9D54-D97CAF78F8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7575" y="275444"/>
            <a:ext cx="8175625" cy="3516630"/>
          </a:xfrm>
          <a:prstGeom prst="rect">
            <a:avLst/>
          </a:prstGeom>
        </p:spPr>
      </p:pic>
    </p:spTree>
    <p:extLst>
      <p:ext uri="{BB962C8B-B14F-4D97-AF65-F5344CB8AC3E}">
        <p14:creationId xmlns:p14="http://schemas.microsoft.com/office/powerpoint/2010/main" val="15359819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936234" y="1883029"/>
            <a:ext cx="5104130" cy="1490980"/>
          </a:xfrm>
          <a:prstGeom prst="rect">
            <a:avLst/>
          </a:prstGeom>
        </p:spPr>
        <p:txBody>
          <a:bodyPr vert="horz" wrap="square" lIns="0" tIns="14605" rIns="0" bIns="0" rtlCol="0">
            <a:spAutoFit/>
          </a:bodyPr>
          <a:lstStyle/>
          <a:p>
            <a:pPr marL="12700">
              <a:lnSpc>
                <a:spcPct val="100000"/>
              </a:lnSpc>
              <a:spcBef>
                <a:spcPts val="115"/>
              </a:spcBef>
            </a:pPr>
            <a:r>
              <a:rPr sz="9600">
                <a:latin typeface="Calibri"/>
                <a:cs typeface="Calibri"/>
              </a:rPr>
              <a:t>Thank</a:t>
            </a:r>
            <a:r>
              <a:rPr sz="9600" spc="-10">
                <a:latin typeface="Calibri"/>
                <a:cs typeface="Calibri"/>
              </a:rPr>
              <a:t> </a:t>
            </a:r>
            <a:r>
              <a:rPr sz="9600" spc="-810">
                <a:latin typeface="Calibri"/>
                <a:cs typeface="Calibri"/>
              </a:rPr>
              <a:t>Y</a:t>
            </a:r>
            <a:r>
              <a:rPr sz="9600">
                <a:latin typeface="Calibri"/>
                <a:cs typeface="Calibri"/>
              </a:rPr>
              <a:t>o</a:t>
            </a:r>
            <a:r>
              <a:rPr sz="9600" spc="-25">
                <a:latin typeface="Calibri"/>
                <a:cs typeface="Calibri"/>
              </a:rPr>
              <a:t>u</a:t>
            </a:r>
            <a:endParaRPr sz="9600">
              <a:latin typeface="Calibri"/>
              <a:cs typeface="Calibri"/>
            </a:endParaRPr>
          </a:p>
        </p:txBody>
      </p:sp>
      <p:pic>
        <p:nvPicPr>
          <p:cNvPr id="3" name="object 3"/>
          <p:cNvPicPr/>
          <p:nvPr/>
        </p:nvPicPr>
        <p:blipFill>
          <a:blip r:embed="rId2" cstate="print"/>
          <a:stretch>
            <a:fillRect/>
          </a:stretch>
        </p:blipFill>
        <p:spPr>
          <a:xfrm>
            <a:off x="695325" y="1028700"/>
            <a:ext cx="4459833" cy="385762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7E94455598354AA92C9A7FF1F6F333" ma:contentTypeVersion="5" ma:contentTypeDescription="Create a new document." ma:contentTypeScope="" ma:versionID="d1214e9f2fbf46823729ad5a94ae138c">
  <xsd:schema xmlns:xsd="http://www.w3.org/2001/XMLSchema" xmlns:xs="http://www.w3.org/2001/XMLSchema" xmlns:p="http://schemas.microsoft.com/office/2006/metadata/properties" xmlns:ns3="5c7b1ef3-87d6-4fc2-bfdd-1f6cfa67cf6f" targetNamespace="http://schemas.microsoft.com/office/2006/metadata/properties" ma:root="true" ma:fieldsID="c97b86a337e6a120d3491ccadcdb38d0" ns3:_="">
    <xsd:import namespace="5c7b1ef3-87d6-4fc2-bfdd-1f6cfa67cf6f"/>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ObjectDetectorVersion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c7b1ef3-87d6-4fc2-bfdd-1f6cfa67cf6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B6B9596F-0D40-466F-93CC-07509880384D}">
  <ds:schemaRefs>
    <ds:schemaRef ds:uri="5c7b1ef3-87d6-4fc2-bfdd-1f6cfa67cf6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C1200E81-7405-48FE-8780-639EFDDD86A9}">
  <ds:schemaRefs>
    <ds:schemaRef ds:uri="http://schemas.microsoft.com/sharepoint/v3/contenttype/forms"/>
  </ds:schemaRefs>
</ds:datastoreItem>
</file>

<file path=customXml/itemProps3.xml><?xml version="1.0" encoding="utf-8"?>
<ds:datastoreItem xmlns:ds="http://schemas.openxmlformats.org/officeDocument/2006/customXml" ds:itemID="{15834ED1-730F-4E32-90E3-C51A1E92D48D}">
  <ds:schemaRefs>
    <ds:schemaRef ds:uri="5c7b1ef3-87d6-4fc2-bfdd-1f6cfa67cf6f"/>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
  <TotalTime>98</TotalTime>
  <Words>2707</Words>
  <Application>Microsoft Office PowerPoint</Application>
  <PresentationFormat>Widescreen</PresentationFormat>
  <Paragraphs>181</Paragraphs>
  <Slides>21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Arial</vt:lpstr>
      <vt:lpstr>Arial,Sans-Serif</vt:lpstr>
      <vt:lpstr>Calibri</vt:lpstr>
      <vt:lpstr>Calibri Light</vt:lpstr>
      <vt:lpstr>Symbol</vt:lpstr>
      <vt:lpstr>Times New Roman</vt:lpstr>
      <vt:lpstr>Verdana</vt:lpstr>
      <vt:lpstr>Office Theme</vt:lpstr>
      <vt:lpstr>Final Review</vt:lpstr>
      <vt:lpstr>PowerPoint Presentation</vt:lpstr>
      <vt:lpstr>Literature Review</vt:lpstr>
      <vt:lpstr>PowerPoint Presentation</vt:lpstr>
      <vt:lpstr>PowerPoint Presentation</vt:lpstr>
      <vt:lpstr>Proposed Methodology</vt:lpstr>
      <vt:lpstr>PowerPoint Presentation</vt:lpstr>
      <vt:lpstr>Objectives</vt:lpstr>
      <vt:lpstr>System Design &amp; Implementation</vt:lpstr>
      <vt:lpstr>Data Preprocessing Image Processing: Clean and normalize image data by adjusting brightness, contrast, and color balance. Apply augmentation techniques like rotation, scaling, and flipping to increase dataset variety. Video Processing: Perform frame extraction, noise reduction, and segmentation on video data. Convert video frames into a consistent format and resolution suitable for model training.  Model Training Detection Models: Train YOLOv8 and YOLOv9 models using the processed image and video datasets to ensure accurate detection of fire, smoke, and human presence.  Model Evaluation Performance Metrics: Assess detection models using metrics such as and mAP scores , precision, recall, and F1-score to evaluate model accuracy and effectiveness in identifying fire, smoke, and humans.  </vt:lpstr>
      <vt:lpstr>PowerPoint Presentation</vt:lpstr>
      <vt:lpstr>Timeline of Project</vt:lpstr>
      <vt:lpstr>Outcomes </vt:lpstr>
      <vt:lpstr>Conclusion</vt:lpstr>
      <vt:lpstr>References</vt:lpstr>
      <vt:lpstr>PowerPoint Presentation</vt:lpstr>
      <vt:lpstr>PowerPoint Presentation</vt:lpstr>
      <vt:lpstr>Proof Of Publication:</vt:lpstr>
      <vt:lpstr>PowerPoint Presentation</vt:lpstr>
      <vt:lpstr>SDG 9: Industry, Innovation, and Infrastructure SDG 11: Sustainable Cities and Communities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GAJJALA AKHILA</cp:lastModifiedBy>
  <cp:revision>184</cp:revision>
  <dcterms:created xsi:type="dcterms:W3CDTF">2025-01-10T08:18:54Z</dcterms:created>
  <dcterms:modified xsi:type="dcterms:W3CDTF">2025-01-17T05:21:14Z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2025-01-09T00:00:00Z</vt:filetime>
  </property>
  <property fmtid="{D5CDD505-2E9C-101B-9397-08002B2CF9AE}" pid="3" name="LastSaved">
    <vt:filetime>2025-01-10T00:00:00Z</vt:filetime>
  </property>
  <property fmtid="{D5CDD505-2E9C-101B-9397-08002B2CF9AE}" pid="4" name="ContentTypeId">
    <vt:lpwstr>0x010100CF7E94455598354AA92C9A7FF1F6F333</vt:lpwstr>
  </property>
</Properties>
</file>