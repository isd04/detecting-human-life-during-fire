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56" r:id="rId2"/>
    <p:sldId id="280" r:id="rId3"/>
    <p:sldId id="278" r:id="rId4"/>
    <p:sldId id="258" r:id="rId5"/>
    <p:sldId id="285" r:id="rId6"/>
    <p:sldId id="286" r:id="rId7"/>
    <p:sldId id="287" r:id="rId8"/>
    <p:sldId id="276" r:id="rId9"/>
    <p:sldId id="281" r:id="rId10"/>
    <p:sldId id="259" r:id="rId11"/>
    <p:sldId id="282" r:id="rId12"/>
    <p:sldId id="260" r:id="rId13"/>
    <p:sldId id="261" r:id="rId14"/>
    <p:sldId id="283" r:id="rId15"/>
    <p:sldId id="284" r:id="rId16"/>
    <p:sldId id="275" r:id="rId17"/>
    <p:sldId id="277" r:id="rId18"/>
    <p:sldId id="262" r:id="rId19"/>
    <p:sldId id="263" r:id="rId20"/>
    <p:sldId id="264" r:id="rId21"/>
    <p:sldId id="268" r:id="rId22"/>
    <p:sldId id="265" r:id="rId23"/>
    <p:sldId id="288" r:id="rId24"/>
    <p:sldId id="274" r:id="rId25"/>
    <p:sldId id="266"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82" d="100"/>
          <a:sy n="82" d="100"/>
        </p:scale>
        <p:origin x="691"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8AD288-E15B-4271-B55D-DDB1B43DC8BE}" type="datetimeFigureOut">
              <a:rPr lang="en-IN" smtClean="0"/>
              <a:t>16-01-2025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6EC8B7-7AE0-485D-8CE3-A3E29B97A364}" type="slidenum">
              <a:rPr lang="en-IN" smtClean="0"/>
              <a:t>‹#›</a:t>
            </a:fld>
            <a:endParaRPr lang="en-IN"/>
          </a:p>
        </p:txBody>
      </p:sp>
    </p:spTree>
    <p:extLst>
      <p:ext uri="{BB962C8B-B14F-4D97-AF65-F5344CB8AC3E}">
        <p14:creationId xmlns:p14="http://schemas.microsoft.com/office/powerpoint/2010/main" val="11463670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50877" y="1322386"/>
            <a:ext cx="10363200" cy="1470025"/>
          </a:xfrm>
        </p:spPr>
        <p:txBody>
          <a:bodyPr/>
          <a:lstStyle>
            <a:lvl1pPr>
              <a:defRPr>
                <a:solidFill>
                  <a:schemeClr val="tx2">
                    <a:lumMod val="75000"/>
                  </a:schemeClr>
                </a:solidFill>
              </a:defRPr>
            </a:lvl1pPr>
          </a:lstStyle>
          <a:p>
            <a:r>
              <a:rPr lang="en-US"/>
              <a:t>Click to edit Master title style</a:t>
            </a:r>
          </a:p>
        </p:txBody>
      </p:sp>
      <p:sp>
        <p:nvSpPr>
          <p:cNvPr id="3" name="Subtitle 2"/>
          <p:cNvSpPr>
            <a:spLocks noGrp="1"/>
          </p:cNvSpPr>
          <p:nvPr>
            <p:ph type="subTitle" idx="1"/>
          </p:nvPr>
        </p:nvSpPr>
        <p:spPr>
          <a:xfrm>
            <a:off x="2032000" y="3326641"/>
            <a:ext cx="8534400" cy="1752600"/>
          </a:xfrm>
        </p:spPr>
        <p:txBody>
          <a:bodyPr>
            <a:normAutofit/>
          </a:bodyPr>
          <a:lstStyle>
            <a:lvl1pPr marL="0" indent="0" algn="ctr">
              <a:buNone/>
              <a:defRPr sz="2000" b="1">
                <a:solidFill>
                  <a:schemeClr val="tx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994CE30-7D40-4BC0-BA0D-56C992D5B4BD}" type="datetimeFigureOut">
              <a:rPr lang="en-GB" smtClean="0"/>
              <a:t>16/01/2025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1679971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lumMod val="75000"/>
                  </a:schemeClr>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4CE30-7D40-4BC0-BA0D-56C992D5B4BD}" type="datetimeFigureOut">
              <a:rPr lang="en-GB" smtClean="0"/>
              <a:t>16/01/2025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1190914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994CE30-7D40-4BC0-BA0D-56C992D5B4BD}" type="datetimeFigureOut">
              <a:rPr lang="en-GB" smtClean="0"/>
              <a:t>16/01/2025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3406418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lang="en-US" dirty="0"/>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994CE30-7D40-4BC0-BA0D-56C992D5B4BD}" type="datetimeFigureOut">
              <a:rPr lang="en-GB" smtClean="0"/>
              <a:t>16/01/2025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738786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59368" y="304800"/>
            <a:ext cx="10668000" cy="487362"/>
          </a:xfrm>
        </p:spPr>
        <p:txBody>
          <a:bodyPr/>
          <a:lstStyle>
            <a:lvl1pPr>
              <a:defRPr>
                <a:solidFill>
                  <a:srgbClr val="FF0000"/>
                </a:solidFill>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94CE30-7D40-4BC0-BA0D-56C992D5B4BD}" type="datetimeFigureOut">
              <a:rPr lang="en-GB" smtClean="0"/>
              <a:t>16/01/2025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801633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860800" y="274638"/>
            <a:ext cx="7721600" cy="487362"/>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4994CE30-7D40-4BC0-BA0D-56C992D5B4BD}" type="datetimeFigureOut">
              <a:rPr lang="en-GB" smtClean="0"/>
              <a:t>16/01/2025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BCD3F7E-62B3-4FB9-95CE-D1B0CC271B85}" type="slidenum">
              <a:rPr lang="en-GB" smtClean="0"/>
              <a:t>‹#›</a:t>
            </a:fld>
            <a:endParaRPr lang="en-GB"/>
          </a:p>
        </p:txBody>
      </p:sp>
      <p:pic>
        <p:nvPicPr>
          <p:cNvPr id="2051" name="Picture 3" descr="C:\Users\AMMU\Desktop\Border.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05209" y="139874"/>
            <a:ext cx="9686793" cy="698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2022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94CE30-7D40-4BC0-BA0D-56C992D5B4BD}" type="datetimeFigureOut">
              <a:rPr lang="en-GB" smtClean="0"/>
              <a:t>16/01/2025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1249718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994CE30-7D40-4BC0-BA0D-56C992D5B4BD}" type="datetimeFigureOut">
              <a:rPr lang="en-GB" smtClean="0"/>
              <a:t>16/01/2025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1521564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994CE30-7D40-4BC0-BA0D-56C992D5B4BD}" type="datetimeFigureOut">
              <a:rPr lang="en-GB" smtClean="0"/>
              <a:t>16/01/2025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3874595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4CE30-7D40-4BC0-BA0D-56C992D5B4BD}" type="datetimeFigureOut">
              <a:rPr lang="en-GB" smtClean="0"/>
              <a:t>16/01/2025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96261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4CE30-7D40-4BC0-BA0D-56C992D5B4BD}" type="datetimeFigureOut">
              <a:rPr lang="en-GB" smtClean="0"/>
              <a:t>16/01/2025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87830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274638"/>
            <a:ext cx="10668000" cy="487362"/>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12800" y="1143001"/>
            <a:ext cx="10668000" cy="495299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latin typeface="Verdana" pitchFamily="34" charset="0"/>
                <a:ea typeface="Verdana" pitchFamily="34" charset="0"/>
                <a:cs typeface="Verdana" pitchFamily="34" charset="0"/>
              </a:defRPr>
            </a:lvl1pPr>
          </a:lstStyle>
          <a:p>
            <a:fld id="{4994CE30-7D40-4BC0-BA0D-56C992D5B4BD}" type="datetimeFigureOut">
              <a:rPr lang="en-GB" smtClean="0"/>
              <a:t>16/01/2025</a:t>
            </a:fld>
            <a:endParaRPr lang="en-GB"/>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latin typeface="Verdana" pitchFamily="34" charset="0"/>
                <a:ea typeface="Verdana" pitchFamily="34" charset="0"/>
                <a:cs typeface="Verdana" pitchFamily="34" charset="0"/>
              </a:defRPr>
            </a:lvl1pPr>
          </a:lstStyle>
          <a:p>
            <a:endParaRPr lang="en-GB"/>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latin typeface="Verdana" pitchFamily="34" charset="0"/>
                <a:ea typeface="Verdana" pitchFamily="34" charset="0"/>
                <a:cs typeface="Verdana" pitchFamily="34" charset="0"/>
              </a:defRPr>
            </a:lvl1pPr>
          </a:lstStyle>
          <a:p>
            <a:fld id="{1BCD3F7E-62B3-4FB9-95CE-D1B0CC271B85}" type="slidenum">
              <a:rPr lang="en-GB" smtClean="0"/>
              <a:t>‹#›</a:t>
            </a:fld>
            <a:endParaRPr lang="en-GB"/>
          </a:p>
        </p:txBody>
      </p:sp>
      <p:sp>
        <p:nvSpPr>
          <p:cNvPr id="8" name="Line 6">
            <a:extLst>
              <a:ext uri="{FF2B5EF4-FFF2-40B4-BE49-F238E27FC236}">
                <a16:creationId xmlns:a16="http://schemas.microsoft.com/office/drawing/2014/main" id="{3F0EAE8F-8B4C-436F-93E6-DF250930561C}"/>
              </a:ext>
            </a:extLst>
          </p:cNvPr>
          <p:cNvSpPr>
            <a:spLocks noChangeShapeType="1"/>
          </p:cNvSpPr>
          <p:nvPr/>
        </p:nvSpPr>
        <p:spPr bwMode="auto">
          <a:xfrm>
            <a:off x="812800" y="914400"/>
            <a:ext cx="10668000" cy="0"/>
          </a:xfrm>
          <a:prstGeom prst="line">
            <a:avLst/>
          </a:prstGeom>
          <a:noFill/>
          <a:ln w="57150" cmpd="thickThin">
            <a:solidFill>
              <a:schemeClr val="tx1"/>
            </a:solidFill>
            <a:round/>
            <a:headEnd/>
            <a:tailEnd/>
          </a:ln>
          <a:effectLst/>
        </p:spPr>
        <p:txBody>
          <a:bodyPr/>
          <a:lstStyle/>
          <a:p>
            <a:pPr>
              <a:defRPr/>
            </a:pPr>
            <a:endParaRPr lang="en-IN" sz="1800"/>
          </a:p>
        </p:txBody>
      </p:sp>
      <p:pic>
        <p:nvPicPr>
          <p:cNvPr id="7" name="Picture 7">
            <a:extLst>
              <a:ext uri="{FF2B5EF4-FFF2-40B4-BE49-F238E27FC236}">
                <a16:creationId xmlns:a16="http://schemas.microsoft.com/office/drawing/2014/main" id="{F5847C07-33FE-4652-A9FD-CD40E657B784}"/>
              </a:ext>
            </a:extLst>
          </p:cNvPr>
          <p:cNvPicPr>
            <a:picLocks noChangeAspect="1"/>
          </p:cNvPicPr>
          <p:nvPr/>
        </p:nvPicPr>
        <p:blipFill rotWithShape="1">
          <a:blip r:embed="rId13">
            <a:extLst>
              <a:ext uri="{28A0092B-C50C-407E-A947-70E740481C1C}">
                <a14:useLocalDpi xmlns:a14="http://schemas.microsoft.com/office/drawing/2010/main" val="0"/>
              </a:ext>
            </a:extLst>
          </a:blip>
          <a:srcRect b="18045"/>
          <a:stretch/>
        </p:blipFill>
        <p:spPr bwMode="auto">
          <a:xfrm>
            <a:off x="0" y="5991366"/>
            <a:ext cx="12192000" cy="866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648401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2800" b="1" kern="1200">
          <a:solidFill>
            <a:srgbClr val="FF0000"/>
          </a:solidFill>
          <a:latin typeface="Verdana" pitchFamily="34" charset="0"/>
          <a:ea typeface="Verdana" pitchFamily="34" charset="0"/>
          <a:cs typeface="Verdana" pitchFamily="34"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Verdana" pitchFamily="34" charset="0"/>
          <a:ea typeface="Verdana" pitchFamily="34" charset="0"/>
          <a:cs typeface="Verdana" pitchFamily="34" charset="0"/>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Verdana" pitchFamily="34" charset="0"/>
          <a:ea typeface="Verdana" pitchFamily="34" charset="0"/>
          <a:cs typeface="Verdana" pitchFamily="34"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Verdana" pitchFamily="34" charset="0"/>
          <a:ea typeface="Verdana" pitchFamily="34" charset="0"/>
          <a:cs typeface="Verdana"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Verdana" pitchFamily="34" charset="0"/>
          <a:ea typeface="Verdana" pitchFamily="34" charset="0"/>
          <a:cs typeface="Verdana" pitchFamily="34" charset="0"/>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Verdana" pitchFamily="34" charset="0"/>
          <a:ea typeface="Verdana" pitchFamily="34" charset="0"/>
          <a:cs typeface="Verdan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doi.org/10.1007/978-3-030-32150-5_30" TargetMode="External"/><Relationship Id="rId2" Type="http://schemas.openxmlformats.org/officeDocument/2006/relationships/hyperlink" Target="https://doi.org/10.3390/computation10110197"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doi.org/10.1186/s42408-022-00165-0"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algn="ctr"/>
            <a:r>
              <a:rPr lang="en-US" sz="2800" b="1" dirty="0">
                <a:latin typeface="Times New Roman" panose="02020603050405020304" pitchFamily="18" charset="0"/>
                <a:ea typeface="Calibri" panose="020F0502020204030204" pitchFamily="34" charset="0"/>
                <a:cs typeface="Times New Roman" panose="02020603050405020304" pitchFamily="18" charset="0"/>
              </a:rPr>
              <a:t>DETECTING HUMAN LIFE DURING FIRE</a:t>
            </a:r>
            <a:endParaRPr lang="en-US" sz="2800" b="1"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88" name="Google Shape;88;p13"/>
          <p:cNvSpPr txBox="1">
            <a:spLocks noGrp="1"/>
          </p:cNvSpPr>
          <p:nvPr>
            <p:ph type="subTitle" idx="1"/>
          </p:nvPr>
        </p:nvSpPr>
        <p:spPr>
          <a:xfrm>
            <a:off x="790469" y="2100770"/>
            <a:ext cx="3970500"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dirty="0">
                <a:latin typeface="Cambria" panose="02040503050406030204" pitchFamily="18" charset="0"/>
                <a:ea typeface="Cambria" panose="02040503050406030204" pitchFamily="18" charset="0"/>
              </a:rPr>
              <a:t>Batch Number:  ISD-04</a:t>
            </a:r>
            <a:endParaRPr dirty="0">
              <a:latin typeface="Cambria" panose="02040503050406030204" pitchFamily="18" charset="0"/>
              <a:ea typeface="Cambria" panose="02040503050406030204" pitchFamily="18" charset="0"/>
            </a:endParaRPr>
          </a:p>
          <a:p>
            <a:pPr marL="0" lvl="0" indent="0" algn="l" rtl="0">
              <a:spcBef>
                <a:spcPts val="400"/>
              </a:spcBef>
              <a:spcAft>
                <a:spcPts val="0"/>
              </a:spcAft>
              <a:buClr>
                <a:srgbClr val="17365D"/>
              </a:buClr>
              <a:buSzPts val="2000"/>
              <a:buNone/>
            </a:pPr>
            <a:endParaRPr dirty="0">
              <a:latin typeface="Cambria" panose="02040503050406030204" pitchFamily="18" charset="0"/>
              <a:ea typeface="Cambria" panose="02040503050406030204" pitchFamily="18" charset="0"/>
            </a:endParaRPr>
          </a:p>
        </p:txBody>
      </p:sp>
      <p:graphicFrame>
        <p:nvGraphicFramePr>
          <p:cNvPr id="89" name="Google Shape;89;p13"/>
          <p:cNvGraphicFramePr/>
          <p:nvPr>
            <p:extLst>
              <p:ext uri="{D42A27DB-BD31-4B8C-83A1-F6EECF244321}">
                <p14:modId xmlns:p14="http://schemas.microsoft.com/office/powerpoint/2010/main" val="299689206"/>
              </p:ext>
            </p:extLst>
          </p:nvPr>
        </p:nvGraphicFramePr>
        <p:xfrm>
          <a:off x="553347" y="2721840"/>
          <a:ext cx="5418675" cy="2194620"/>
        </p:xfrm>
        <a:graphic>
          <a:graphicData uri="http://schemas.openxmlformats.org/drawingml/2006/table">
            <a:tbl>
              <a:tblPr firstRow="1" bandRow="1">
                <a:noFill/>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endParaRPr lang="en-GB"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lang="en-GB"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endParaRPr lang="en-IN"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lang="en-IN"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US" sz="1700" b="1" i="0" u="none" strike="noStrike" cap="none" dirty="0" err="1">
                <a:solidFill>
                  <a:srgbClr val="17365D"/>
                </a:solidFill>
                <a:latin typeface="Cambria" panose="02040503050406030204" pitchFamily="18" charset="0"/>
                <a:ea typeface="Cambria" panose="02040503050406030204" pitchFamily="18" charset="0"/>
                <a:cs typeface="Verdana"/>
                <a:sym typeface="Verdana"/>
              </a:rPr>
              <a:t>Prof.</a:t>
            </a:r>
            <a:r>
              <a:rPr lang="en-US" sz="1700" b="1" dirty="0" err="1">
                <a:solidFill>
                  <a:srgbClr val="17365D"/>
                </a:solidFill>
                <a:latin typeface="Cambria" panose="02040503050406030204" pitchFamily="18" charset="0"/>
                <a:ea typeface="Cambria" panose="02040503050406030204" pitchFamily="18" charset="0"/>
                <a:cs typeface="Verdana"/>
                <a:sym typeface="Verdana"/>
              </a:rPr>
              <a:t>Monisha</a:t>
            </a:r>
            <a:r>
              <a:rPr lang="en-US" sz="1700" b="1" dirty="0">
                <a:solidFill>
                  <a:srgbClr val="17365D"/>
                </a:solidFill>
                <a:latin typeface="Cambria" panose="02040503050406030204" pitchFamily="18" charset="0"/>
                <a:ea typeface="Cambria" panose="02040503050406030204" pitchFamily="18" charset="0"/>
                <a:cs typeface="Verdana"/>
                <a:sym typeface="Verdana"/>
              </a:rPr>
              <a:t> Gupta</a:t>
            </a:r>
            <a:endParaRPr lang="en-US" sz="1200"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US"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 / Associate Professor / Assistant Professor</a:t>
            </a:r>
            <a:endParaRPr lang="en-US" sz="1200"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US"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lang="en-US" sz="1200"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US"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lang="en-US" sz="1200"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91" name="Google Shape;91;p13"/>
          <p:cNvSpPr txBox="1"/>
          <p:nvPr/>
        </p:nvSpPr>
        <p:spPr>
          <a:xfrm>
            <a:off x="3986772" y="334089"/>
            <a:ext cx="3970500" cy="552300"/>
          </a:xfrm>
          <a:prstGeom prst="rect">
            <a:avLst/>
          </a:prstGeom>
          <a:noFill/>
          <a:ln>
            <a:noFill/>
          </a:ln>
        </p:spPr>
        <p:txBody>
          <a:bodyPr spcFirstLastPara="1" wrap="square" lIns="91425" tIns="45700" rIns="91425" bIns="45700" anchor="t" anchorCtr="0">
            <a:normAutofit fontScale="85000" lnSpcReduction="20000"/>
          </a:bodyPr>
          <a:lstStyle/>
          <a:p>
            <a:pPr marL="0" marR="0" lvl="0" indent="0" algn="ctr" rtl="0">
              <a:spcBef>
                <a:spcPts val="0"/>
              </a:spcBef>
              <a:spcAft>
                <a:spcPts val="0"/>
              </a:spcAft>
              <a:buClr>
                <a:srgbClr val="17365D"/>
              </a:buClr>
              <a:buSzPct val="100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PIP2001 Capstone Project</a:t>
            </a:r>
            <a:endParaRPr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Review-1</a:t>
            </a: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ISD </a:t>
            </a:r>
          </a:p>
          <a:p>
            <a:pPr marL="0" marR="0" lvl="0" indent="0" rtl="0">
              <a:spcBef>
                <a:spcPts val="0"/>
              </a:spcBef>
              <a:spcAft>
                <a:spcPts val="0"/>
              </a:spcAft>
              <a:buClr>
                <a:srgbClr val="17365D"/>
              </a:buClr>
              <a:buSzPct val="100000"/>
              <a:buFont typeface="Arial"/>
              <a:buNone/>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a:t>
            </a:r>
            <a:r>
              <a:rPr lang="en-US" sz="2000" b="1" dirty="0" err="1">
                <a:solidFill>
                  <a:schemeClr val="accent1"/>
                </a:solidFill>
                <a:latin typeface="Cambria" panose="02040503050406030204" pitchFamily="18" charset="0"/>
                <a:ea typeface="Cambria" panose="02040503050406030204" pitchFamily="18" charset="0"/>
                <a:cs typeface="Verdana"/>
                <a:sym typeface="Verdana"/>
              </a:rPr>
              <a:t>HoD</a:t>
            </a:r>
            <a:r>
              <a:rPr lang="en-US" sz="2000" b="1" dirty="0">
                <a:solidFill>
                  <a:schemeClr val="accent1"/>
                </a:solidFill>
                <a:latin typeface="Cambria" panose="02040503050406030204" pitchFamily="18" charset="0"/>
                <a:ea typeface="Cambria" panose="02040503050406030204" pitchFamily="18" charset="0"/>
                <a:cs typeface="Verdana"/>
                <a:sym typeface="Verdana"/>
              </a:rPr>
              <a:t>: </a:t>
            </a:r>
            <a:r>
              <a:rPr lang="en-US" sz="2000" b="1" dirty="0">
                <a:solidFill>
                  <a:schemeClr val="tx1"/>
                </a:solidFill>
                <a:latin typeface="Cambria" panose="02040503050406030204" pitchFamily="18" charset="0"/>
                <a:ea typeface="Cambria" panose="02040503050406030204" pitchFamily="18" charset="0"/>
                <a:cs typeface="Verdana"/>
                <a:sym typeface="Verdana"/>
              </a:rPr>
              <a:t>PALLAVI R</a:t>
            </a:r>
          </a:p>
          <a:p>
            <a:pPr>
              <a:buClr>
                <a:srgbClr val="17365D"/>
              </a:buClr>
              <a:buSzPct val="100000"/>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Mr. Amarnath J.L &amp; Dr. Jayanthi</a:t>
            </a:r>
            <a:r>
              <a:rPr lang="en-US" sz="2000" b="1" dirty="0">
                <a:solidFill>
                  <a:schemeClr val="tx1"/>
                </a:solidFill>
                <a:latin typeface="Cambria" panose="02040503050406030204" pitchFamily="18" charset="0"/>
                <a:ea typeface="Cambria" panose="02040503050406030204" pitchFamily="18" charset="0"/>
                <a:cs typeface="Verdana"/>
                <a:sym typeface="Verdana"/>
              </a:rPr>
              <a:t>. K.</a:t>
            </a:r>
            <a:endPar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Abdul Khadar A / Mr. Md </a:t>
            </a:r>
            <a:r>
              <a:rPr lang="en-US" sz="20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Ziaur</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 Rahman</a:t>
            </a:r>
          </a:p>
        </p:txBody>
      </p:sp>
      <p:graphicFrame>
        <p:nvGraphicFramePr>
          <p:cNvPr id="3" name="Table 2">
            <a:extLst>
              <a:ext uri="{FF2B5EF4-FFF2-40B4-BE49-F238E27FC236}">
                <a16:creationId xmlns:a16="http://schemas.microsoft.com/office/drawing/2014/main" id="{6C234BE5-E559-6878-99D4-EAC583D7F3DA}"/>
              </a:ext>
            </a:extLst>
          </p:cNvPr>
          <p:cNvGraphicFramePr>
            <a:graphicFrameLocks noGrp="1"/>
          </p:cNvGraphicFramePr>
          <p:nvPr>
            <p:extLst>
              <p:ext uri="{D42A27DB-BD31-4B8C-83A1-F6EECF244321}">
                <p14:modId xmlns:p14="http://schemas.microsoft.com/office/powerpoint/2010/main" val="3885953645"/>
              </p:ext>
            </p:extLst>
          </p:nvPr>
        </p:nvGraphicFramePr>
        <p:xfrm>
          <a:off x="553347" y="2781300"/>
          <a:ext cx="5542654" cy="1752600"/>
        </p:xfrm>
        <a:graphic>
          <a:graphicData uri="http://schemas.openxmlformats.org/drawingml/2006/table">
            <a:tbl>
              <a:tblPr firstRow="1" bandRow="1">
                <a:tableStyleId>{5C22544A-7EE6-4342-B048-85BDC9FD1C3A}</a:tableStyleId>
              </a:tblPr>
              <a:tblGrid>
                <a:gridCol w="2096547">
                  <a:extLst>
                    <a:ext uri="{9D8B030D-6E8A-4147-A177-3AD203B41FA5}">
                      <a16:colId xmlns:a16="http://schemas.microsoft.com/office/drawing/2014/main" val="1602285187"/>
                    </a:ext>
                  </a:extLst>
                </a:gridCol>
                <a:gridCol w="3446107">
                  <a:extLst>
                    <a:ext uri="{9D8B030D-6E8A-4147-A177-3AD203B41FA5}">
                      <a16:colId xmlns:a16="http://schemas.microsoft.com/office/drawing/2014/main" val="2015406116"/>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1" u="none" strike="noStrike" cap="none" dirty="0">
                          <a:solidFill>
                            <a:srgbClr val="17365D"/>
                          </a:solidFill>
                        </a:rPr>
                        <a:t>Roll Number</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1" u="none" strike="noStrike" cap="none" dirty="0">
                          <a:solidFill>
                            <a:srgbClr val="17365D"/>
                          </a:solidFill>
                        </a:rPr>
                        <a:t>Student Name</a:t>
                      </a:r>
                    </a:p>
                    <a:p>
                      <a:endParaRPr lang="en-IN" dirty="0"/>
                    </a:p>
                  </a:txBody>
                  <a:tcPr/>
                </a:tc>
                <a:extLst>
                  <a:ext uri="{0D108BD9-81ED-4DB2-BD59-A6C34878D82A}">
                    <a16:rowId xmlns:a16="http://schemas.microsoft.com/office/drawing/2014/main" val="1885228960"/>
                  </a:ext>
                </a:extLst>
              </a:tr>
              <a:tr h="370840">
                <a:tc>
                  <a:txBody>
                    <a:bodyPr/>
                    <a:lstStyle/>
                    <a:p>
                      <a:r>
                        <a:rPr lang="en-US" dirty="0"/>
                        <a:t>20211ISD0015</a:t>
                      </a:r>
                      <a:endParaRPr lang="en-IN" dirty="0"/>
                    </a:p>
                  </a:txBody>
                  <a:tcPr/>
                </a:tc>
                <a:tc>
                  <a:txBody>
                    <a:bodyPr/>
                    <a:lstStyle/>
                    <a:p>
                      <a:r>
                        <a:rPr lang="en-US" dirty="0"/>
                        <a:t>GAJJALA AKHILA</a:t>
                      </a:r>
                      <a:endParaRPr lang="en-IN" dirty="0"/>
                    </a:p>
                  </a:txBody>
                  <a:tcPr/>
                </a:tc>
                <a:extLst>
                  <a:ext uri="{0D108BD9-81ED-4DB2-BD59-A6C34878D82A}">
                    <a16:rowId xmlns:a16="http://schemas.microsoft.com/office/drawing/2014/main" val="2533220769"/>
                  </a:ext>
                </a:extLst>
              </a:tr>
              <a:tr h="370840">
                <a:tc>
                  <a:txBody>
                    <a:bodyPr/>
                    <a:lstStyle/>
                    <a:p>
                      <a:r>
                        <a:rPr lang="en-US" dirty="0"/>
                        <a:t>20211ISD0007</a:t>
                      </a:r>
                      <a:endParaRPr lang="en-IN" dirty="0"/>
                    </a:p>
                  </a:txBody>
                  <a:tcPr/>
                </a:tc>
                <a:tc>
                  <a:txBody>
                    <a:bodyPr/>
                    <a:lstStyle/>
                    <a:p>
                      <a:r>
                        <a:rPr lang="en-US" sz="1800" dirty="0"/>
                        <a:t>SUNKU SAI YASWANTH</a:t>
                      </a:r>
                      <a:endParaRPr lang="en-IN" sz="1800" dirty="0"/>
                    </a:p>
                  </a:txBody>
                  <a:tcPr/>
                </a:tc>
                <a:extLst>
                  <a:ext uri="{0D108BD9-81ED-4DB2-BD59-A6C34878D82A}">
                    <a16:rowId xmlns:a16="http://schemas.microsoft.com/office/drawing/2014/main" val="3779511464"/>
                  </a:ext>
                </a:extLst>
              </a:tr>
              <a:tr h="370840">
                <a:tc>
                  <a:txBody>
                    <a:bodyPr/>
                    <a:lstStyle/>
                    <a:p>
                      <a:r>
                        <a:rPr lang="en-US" dirty="0"/>
                        <a:t>20211ISD0027</a:t>
                      </a:r>
                      <a:endParaRPr lang="en-IN" dirty="0"/>
                    </a:p>
                  </a:txBody>
                  <a:tcPr/>
                </a:tc>
                <a:tc>
                  <a:txBody>
                    <a:bodyPr/>
                    <a:lstStyle/>
                    <a:p>
                      <a:r>
                        <a:rPr lang="en-US" dirty="0"/>
                        <a:t>K PAVAN KUMAR</a:t>
                      </a:r>
                      <a:endParaRPr lang="en-IN" dirty="0"/>
                    </a:p>
                  </a:txBody>
                  <a:tcPr/>
                </a:tc>
                <a:extLst>
                  <a:ext uri="{0D108BD9-81ED-4DB2-BD59-A6C34878D82A}">
                    <a16:rowId xmlns:a16="http://schemas.microsoft.com/office/drawing/2014/main" val="89430402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Introduction</a:t>
            </a:r>
          </a:p>
        </p:txBody>
      </p:sp>
      <p:sp>
        <p:nvSpPr>
          <p:cNvPr id="3" name="Content Placeholder 2"/>
          <p:cNvSpPr>
            <a:spLocks noGrp="1"/>
          </p:cNvSpPr>
          <p:nvPr>
            <p:ph idx="1"/>
          </p:nvPr>
        </p:nvSpPr>
        <p:spPr/>
        <p:txBody>
          <a:bodyPr>
            <a:normAutofit fontScale="92500"/>
          </a:bodyPr>
          <a:lstStyle/>
          <a:p>
            <a:pPr marL="0" indent="0">
              <a:buNone/>
            </a:pPr>
            <a:r>
              <a:rPr lang="en-US" dirty="0">
                <a:latin typeface="Times New Roman" panose="02020603050405020304" pitchFamily="18" charset="0"/>
                <a:cs typeface="Times New Roman" panose="02020603050405020304" pitchFamily="18" charset="0"/>
              </a:rPr>
              <a:t>This project focuses on the development and evaluation of a robust detection system for identifying humans, fire, and smoke in real-time using advanced deep learning algorithms YOLOv8 and YOLOv9. Leveraging a dataset from </a:t>
            </a:r>
            <a:r>
              <a:rPr lang="en-US" dirty="0" err="1">
                <a:latin typeface="Times New Roman" panose="02020603050405020304" pitchFamily="18" charset="0"/>
                <a:cs typeface="Times New Roman" panose="02020603050405020304" pitchFamily="18" charset="0"/>
              </a:rPr>
              <a:t>Roboflow</a:t>
            </a:r>
            <a:r>
              <a:rPr lang="en-US" dirty="0">
                <a:latin typeface="Times New Roman" panose="02020603050405020304" pitchFamily="18" charset="0"/>
                <a:cs typeface="Times New Roman" panose="02020603050405020304" pitchFamily="18" charset="0"/>
              </a:rPr>
              <a:t> that contains a variety of images featuring these elements, we aim to implement a model that accurately detects and classifies the presence of humans, fire, and smoke in uploaded images and live camera </a:t>
            </a:r>
            <a:r>
              <a:rPr lang="en-US" dirty="0" err="1">
                <a:latin typeface="Times New Roman" panose="02020603050405020304" pitchFamily="18" charset="0"/>
                <a:cs typeface="Times New Roman" panose="02020603050405020304" pitchFamily="18" charset="0"/>
              </a:rPr>
              <a:t>feeds.The</a:t>
            </a:r>
            <a:r>
              <a:rPr lang="en-US" dirty="0">
                <a:latin typeface="Times New Roman" panose="02020603050405020304" pitchFamily="18" charset="0"/>
                <a:cs typeface="Times New Roman" panose="02020603050405020304" pitchFamily="18" charset="0"/>
              </a:rPr>
              <a:t> system will be developed in Python using Google </a:t>
            </a:r>
            <a:r>
              <a:rPr lang="en-US" dirty="0" err="1">
                <a:latin typeface="Times New Roman" panose="02020603050405020304" pitchFamily="18" charset="0"/>
                <a:cs typeface="Times New Roman" panose="02020603050405020304" pitchFamily="18" charset="0"/>
              </a:rPr>
              <a:t>Colab</a:t>
            </a:r>
            <a:r>
              <a:rPr lang="en-US" dirty="0">
                <a:latin typeface="Times New Roman" panose="02020603050405020304" pitchFamily="18" charset="0"/>
                <a:cs typeface="Times New Roman" panose="02020603050405020304" pitchFamily="18" charset="0"/>
              </a:rPr>
              <a:t> as the integrated development environment. By employing the capabilities of YOLOv8 and YOLOv9, we will compare their performance in terms of accuracy, speed, and robustness in various detection scenarios. The model will be capable of processing images from a laptop camera, although we acknowledge potential limitations due to the camera's resolution and clarity, which may affect detection </a:t>
            </a:r>
            <a:r>
              <a:rPr lang="en-US" dirty="0" err="1">
                <a:latin typeface="Times New Roman" panose="02020603050405020304" pitchFamily="18" charset="0"/>
                <a:cs typeface="Times New Roman" panose="02020603050405020304" pitchFamily="18" charset="0"/>
              </a:rPr>
              <a:t>accuracy.The</a:t>
            </a:r>
            <a:r>
              <a:rPr lang="en-US" dirty="0">
                <a:latin typeface="Times New Roman" panose="02020603050405020304" pitchFamily="18" charset="0"/>
                <a:cs typeface="Times New Roman" panose="02020603050405020304" pitchFamily="18" charset="0"/>
              </a:rPr>
              <a:t> expected outcome is a functional application that provides real-time alerts and visual feedback when fire, smoke, or human presence is detected, enhancing safety and response measures in critical situations. This project aims to contribute to the growing field of computer vision and its applications in safety and security systems.</a:t>
            </a:r>
            <a:endParaRPr lang="en-IN" dirty="0">
              <a:latin typeface="Times New Roman" panose="02020603050405020304" pitchFamily="18" charset="0"/>
              <a:cs typeface="Times New Roman" panose="02020603050405020304" pitchFamily="18" charset="0"/>
            </a:endParaRPr>
          </a:p>
          <a:p>
            <a:endParaRPr lang="en-GB" dirty="0"/>
          </a:p>
        </p:txBody>
      </p:sp>
    </p:spTree>
    <p:extLst>
      <p:ext uri="{BB962C8B-B14F-4D97-AF65-F5344CB8AC3E}">
        <p14:creationId xmlns:p14="http://schemas.microsoft.com/office/powerpoint/2010/main" val="1723811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Literature Review</a:t>
            </a:r>
          </a:p>
        </p:txBody>
      </p:sp>
      <p:graphicFrame>
        <p:nvGraphicFramePr>
          <p:cNvPr id="8" name="Content Placeholder 7">
            <a:extLst>
              <a:ext uri="{FF2B5EF4-FFF2-40B4-BE49-F238E27FC236}">
                <a16:creationId xmlns:a16="http://schemas.microsoft.com/office/drawing/2014/main" id="{7BC8DCAE-7C02-BD69-F708-3C55E4A55E93}"/>
              </a:ext>
            </a:extLst>
          </p:cNvPr>
          <p:cNvGraphicFramePr>
            <a:graphicFrameLocks noGrp="1"/>
          </p:cNvGraphicFramePr>
          <p:nvPr>
            <p:ph idx="1"/>
            <p:extLst>
              <p:ext uri="{D42A27DB-BD31-4B8C-83A1-F6EECF244321}">
                <p14:modId xmlns:p14="http://schemas.microsoft.com/office/powerpoint/2010/main" val="2201808246"/>
              </p:ext>
            </p:extLst>
          </p:nvPr>
        </p:nvGraphicFramePr>
        <p:xfrm>
          <a:off x="322729" y="1143000"/>
          <a:ext cx="11654119" cy="4455899"/>
        </p:xfrm>
        <a:graphic>
          <a:graphicData uri="http://schemas.openxmlformats.org/drawingml/2006/table">
            <a:tbl>
              <a:tblPr firstRow="1" bandRow="1">
                <a:tableStyleId>{5C22544A-7EE6-4342-B048-85BDC9FD1C3A}</a:tableStyleId>
              </a:tblPr>
              <a:tblGrid>
                <a:gridCol w="672353">
                  <a:extLst>
                    <a:ext uri="{9D8B030D-6E8A-4147-A177-3AD203B41FA5}">
                      <a16:colId xmlns:a16="http://schemas.microsoft.com/office/drawing/2014/main" val="4149281982"/>
                    </a:ext>
                  </a:extLst>
                </a:gridCol>
                <a:gridCol w="842683">
                  <a:extLst>
                    <a:ext uri="{9D8B030D-6E8A-4147-A177-3AD203B41FA5}">
                      <a16:colId xmlns:a16="http://schemas.microsoft.com/office/drawing/2014/main" val="3214579835"/>
                    </a:ext>
                  </a:extLst>
                </a:gridCol>
                <a:gridCol w="1721223">
                  <a:extLst>
                    <a:ext uri="{9D8B030D-6E8A-4147-A177-3AD203B41FA5}">
                      <a16:colId xmlns:a16="http://schemas.microsoft.com/office/drawing/2014/main" val="2610386382"/>
                    </a:ext>
                  </a:extLst>
                </a:gridCol>
                <a:gridCol w="1371600">
                  <a:extLst>
                    <a:ext uri="{9D8B030D-6E8A-4147-A177-3AD203B41FA5}">
                      <a16:colId xmlns:a16="http://schemas.microsoft.com/office/drawing/2014/main" val="4261737690"/>
                    </a:ext>
                  </a:extLst>
                </a:gridCol>
                <a:gridCol w="2115671">
                  <a:extLst>
                    <a:ext uri="{9D8B030D-6E8A-4147-A177-3AD203B41FA5}">
                      <a16:colId xmlns:a16="http://schemas.microsoft.com/office/drawing/2014/main" val="723003490"/>
                    </a:ext>
                  </a:extLst>
                </a:gridCol>
                <a:gridCol w="2263592">
                  <a:extLst>
                    <a:ext uri="{9D8B030D-6E8A-4147-A177-3AD203B41FA5}">
                      <a16:colId xmlns:a16="http://schemas.microsoft.com/office/drawing/2014/main" val="3656723304"/>
                    </a:ext>
                  </a:extLst>
                </a:gridCol>
                <a:gridCol w="2666997">
                  <a:extLst>
                    <a:ext uri="{9D8B030D-6E8A-4147-A177-3AD203B41FA5}">
                      <a16:colId xmlns:a16="http://schemas.microsoft.com/office/drawing/2014/main" val="4185211003"/>
                    </a:ext>
                  </a:extLst>
                </a:gridCol>
              </a:tblGrid>
              <a:tr h="435578">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S.No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Year</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Authors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Title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Outcomes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Advantages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Limitations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53166760"/>
                  </a:ext>
                </a:extLst>
              </a:tr>
              <a:tr h="1614636">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1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2015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Muhammad </a:t>
                      </a:r>
                      <a:r>
                        <a:rPr lang="en-IN" sz="1400" kern="100" dirty="0" err="1">
                          <a:effectLst/>
                          <a:latin typeface="Calibri" panose="020F0502020204030204" pitchFamily="34" charset="0"/>
                          <a:ea typeface="Calibri" panose="020F0502020204030204" pitchFamily="34" charset="0"/>
                          <a:cs typeface="Times New Roman" panose="02020603050405020304" pitchFamily="18" charset="0"/>
                        </a:rPr>
                        <a:t>Salihin</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Ahmad </a:t>
                      </a:r>
                      <a:r>
                        <a:rPr lang="en-IN" sz="1400" kern="100" dirty="0" err="1">
                          <a:effectLst/>
                          <a:latin typeface="Calibri" panose="020F0502020204030204" pitchFamily="34" charset="0"/>
                          <a:ea typeface="Calibri" panose="020F0502020204030204" pitchFamily="34" charset="0"/>
                          <a:cs typeface="Times New Roman" panose="02020603050405020304" pitchFamily="18" charset="0"/>
                        </a:rPr>
                        <a:t>Azmil</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M. S., </a:t>
                      </a:r>
                      <a:r>
                        <a:rPr lang="en-IN" sz="1400" kern="100" dirty="0" err="1">
                          <a:effectLst/>
                          <a:latin typeface="Calibri" panose="020F0502020204030204" pitchFamily="34" charset="0"/>
                          <a:ea typeface="Calibri" panose="020F0502020204030204" pitchFamily="34" charset="0"/>
                          <a:cs typeface="Times New Roman" panose="02020603050405020304" pitchFamily="18" charset="0"/>
                        </a:rPr>
                        <a:t>Ya'acob</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N., Tahar, K. N., &amp; </a:t>
                      </a:r>
                      <a:r>
                        <a:rPr lang="en-IN" sz="1400" kern="100" dirty="0" err="1">
                          <a:effectLst/>
                          <a:latin typeface="Calibri" panose="020F0502020204030204" pitchFamily="34" charset="0"/>
                          <a:ea typeface="Calibri" panose="020F0502020204030204" pitchFamily="34" charset="0"/>
                          <a:cs typeface="Times New Roman" panose="02020603050405020304" pitchFamily="18" charset="0"/>
                        </a:rPr>
                        <a:t>Sarnin</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S. S.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Wireless fire detection monitoring system for fire and rescue application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Developed a wireless monitoring system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Wireless, portable, suitable for rescue operations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Limited range of wireless communication </a:t>
                      </a:r>
                    </a:p>
                  </a:txBody>
                  <a:tcPr marL="68580" marR="68580" marT="0" marB="0"/>
                </a:tc>
                <a:extLst>
                  <a:ext uri="{0D108BD9-81ED-4DB2-BD59-A6C34878D82A}">
                    <a16:rowId xmlns:a16="http://schemas.microsoft.com/office/drawing/2014/main" val="29085916"/>
                  </a:ext>
                </a:extLst>
              </a:tr>
              <a:tr h="2165686">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2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2018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F. Jaradat and D. Valles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A Human Detection Approach for Burning Building Sites Using Deep Learning Techniques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Developed a human detection approach using deep learning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Effective in complex environments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Requires extensive training data </a:t>
                      </a:r>
                    </a:p>
                  </a:txBody>
                  <a:tcPr marL="68580" marR="68580" marT="0" marB="0"/>
                </a:tc>
                <a:extLst>
                  <a:ext uri="{0D108BD9-81ED-4DB2-BD59-A6C34878D82A}">
                    <a16:rowId xmlns:a16="http://schemas.microsoft.com/office/drawing/2014/main" val="2514890798"/>
                  </a:ext>
                </a:extLst>
              </a:tr>
            </a:tbl>
          </a:graphicData>
        </a:graphic>
      </p:graphicFrame>
    </p:spTree>
    <p:extLst>
      <p:ext uri="{BB962C8B-B14F-4D97-AF65-F5344CB8AC3E}">
        <p14:creationId xmlns:p14="http://schemas.microsoft.com/office/powerpoint/2010/main" val="9963181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Literature Review</a:t>
            </a:r>
          </a:p>
        </p:txBody>
      </p:sp>
      <p:graphicFrame>
        <p:nvGraphicFramePr>
          <p:cNvPr id="4" name="Table 3">
            <a:extLst>
              <a:ext uri="{FF2B5EF4-FFF2-40B4-BE49-F238E27FC236}">
                <a16:creationId xmlns:a16="http://schemas.microsoft.com/office/drawing/2014/main" id="{DDEFA3B4-C0E4-DF6C-D074-FCC4E86B1A51}"/>
              </a:ext>
            </a:extLst>
          </p:cNvPr>
          <p:cNvGraphicFramePr>
            <a:graphicFrameLocks noGrp="1"/>
          </p:cNvGraphicFramePr>
          <p:nvPr>
            <p:extLst>
              <p:ext uri="{D42A27DB-BD31-4B8C-83A1-F6EECF244321}">
                <p14:modId xmlns:p14="http://schemas.microsoft.com/office/powerpoint/2010/main" val="2173264775"/>
              </p:ext>
            </p:extLst>
          </p:nvPr>
        </p:nvGraphicFramePr>
        <p:xfrm>
          <a:off x="412376" y="1539496"/>
          <a:ext cx="11170026" cy="4090594"/>
        </p:xfrm>
        <a:graphic>
          <a:graphicData uri="http://schemas.openxmlformats.org/drawingml/2006/table">
            <a:tbl>
              <a:tblPr firstRow="1" bandRow="1">
                <a:tableStyleId>{5C22544A-7EE6-4342-B048-85BDC9FD1C3A}</a:tableStyleId>
              </a:tblPr>
              <a:tblGrid>
                <a:gridCol w="591671">
                  <a:extLst>
                    <a:ext uri="{9D8B030D-6E8A-4147-A177-3AD203B41FA5}">
                      <a16:colId xmlns:a16="http://schemas.microsoft.com/office/drawing/2014/main" val="20000"/>
                    </a:ext>
                  </a:extLst>
                </a:gridCol>
                <a:gridCol w="726141">
                  <a:extLst>
                    <a:ext uri="{9D8B030D-6E8A-4147-A177-3AD203B41FA5}">
                      <a16:colId xmlns:a16="http://schemas.microsoft.com/office/drawing/2014/main" val="20001"/>
                    </a:ext>
                  </a:extLst>
                </a:gridCol>
                <a:gridCol w="1604683">
                  <a:extLst>
                    <a:ext uri="{9D8B030D-6E8A-4147-A177-3AD203B41FA5}">
                      <a16:colId xmlns:a16="http://schemas.microsoft.com/office/drawing/2014/main" val="20002"/>
                    </a:ext>
                  </a:extLst>
                </a:gridCol>
                <a:gridCol w="1380564">
                  <a:extLst>
                    <a:ext uri="{9D8B030D-6E8A-4147-A177-3AD203B41FA5}">
                      <a16:colId xmlns:a16="http://schemas.microsoft.com/office/drawing/2014/main" val="20003"/>
                    </a:ext>
                  </a:extLst>
                </a:gridCol>
                <a:gridCol w="2393577">
                  <a:extLst>
                    <a:ext uri="{9D8B030D-6E8A-4147-A177-3AD203B41FA5}">
                      <a16:colId xmlns:a16="http://schemas.microsoft.com/office/drawing/2014/main" val="20004"/>
                    </a:ext>
                  </a:extLst>
                </a:gridCol>
                <a:gridCol w="2093645">
                  <a:extLst>
                    <a:ext uri="{9D8B030D-6E8A-4147-A177-3AD203B41FA5}">
                      <a16:colId xmlns:a16="http://schemas.microsoft.com/office/drawing/2014/main" val="3967683951"/>
                    </a:ext>
                  </a:extLst>
                </a:gridCol>
                <a:gridCol w="2379745">
                  <a:extLst>
                    <a:ext uri="{9D8B030D-6E8A-4147-A177-3AD203B41FA5}">
                      <a16:colId xmlns:a16="http://schemas.microsoft.com/office/drawing/2014/main" val="3850575712"/>
                    </a:ext>
                  </a:extLst>
                </a:gridCol>
              </a:tblGrid>
              <a:tr h="647801">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S.No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Year</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Authors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Title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Outcomes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Advantages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Limitations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1605240">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3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2020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Seetharaman, R., Sreeja, R. R., Dakshin, S. </a:t>
                      </a:r>
                      <a:r>
                        <a:rPr lang="en-IN" sz="1400" kern="100" dirty="0" err="1">
                          <a:effectLst/>
                          <a:latin typeface="Calibri" panose="020F0502020204030204" pitchFamily="34" charset="0"/>
                          <a:ea typeface="Calibri" panose="020F0502020204030204" pitchFamily="34" charset="0"/>
                          <a:cs typeface="Times New Roman" panose="02020603050405020304" pitchFamily="18" charset="0"/>
                        </a:rPr>
                        <a:t>Vidhul</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400" kern="100" dirty="0" err="1">
                          <a:effectLst/>
                          <a:latin typeface="Calibri" panose="020F0502020204030204" pitchFamily="34" charset="0"/>
                          <a:ea typeface="Calibri" panose="020F0502020204030204" pitchFamily="34" charset="0"/>
                          <a:cs typeface="Times New Roman" panose="02020603050405020304" pitchFamily="18" charset="0"/>
                        </a:rPr>
                        <a:t>Nivetha</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N., </a:t>
                      </a:r>
                      <a:r>
                        <a:rPr lang="en-IN" sz="1400" kern="100" dirty="0" err="1">
                          <a:effectLst/>
                          <a:latin typeface="Calibri" panose="020F0502020204030204" pitchFamily="34" charset="0"/>
                          <a:ea typeface="Calibri" panose="020F0502020204030204" pitchFamily="34" charset="0"/>
                          <a:cs typeface="Times New Roman" panose="02020603050405020304" pitchFamily="18" charset="0"/>
                        </a:rPr>
                        <a:t>Gowsigan</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S., &amp; </a:t>
                      </a:r>
                      <a:r>
                        <a:rPr lang="en-IN" sz="1400" kern="100" dirty="0" err="1">
                          <a:effectLst/>
                          <a:latin typeface="Calibri" panose="020F0502020204030204" pitchFamily="34" charset="0"/>
                          <a:ea typeface="Calibri" panose="020F0502020204030204" pitchFamily="34" charset="0"/>
                          <a:cs typeface="Times New Roman" panose="02020603050405020304" pitchFamily="18" charset="0"/>
                        </a:rPr>
                        <a:t>Barath</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M.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Analysis of a Real Time Fire Detection and Intimation System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400" kern="100" dirty="0" err="1">
                          <a:effectLst/>
                          <a:latin typeface="Calibri" panose="020F0502020204030204" pitchFamily="34" charset="0"/>
                          <a:ea typeface="Calibri" panose="020F0502020204030204" pitchFamily="34" charset="0"/>
                          <a:cs typeface="Times New Roman" panose="02020603050405020304" pitchFamily="18" charset="0"/>
                        </a:rPr>
                        <a:t>Analyzed</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real-time fire detection and alert systems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Quick response time, efficient alerting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May face false alarms under certain conditions </a:t>
                      </a:r>
                    </a:p>
                  </a:txBody>
                  <a:tcPr marL="68580" marR="68580" marT="0" marB="0"/>
                </a:tc>
                <a:extLst>
                  <a:ext uri="{0D108BD9-81ED-4DB2-BD59-A6C34878D82A}">
                    <a16:rowId xmlns:a16="http://schemas.microsoft.com/office/drawing/2014/main" val="10001"/>
                  </a:ext>
                </a:extLst>
              </a:tr>
              <a:tr h="1809777">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4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2020 </a:t>
                      </a:r>
                    </a:p>
                  </a:txBody>
                  <a:tcPr marL="68580" marR="68580" marT="0" marB="0"/>
                </a:tc>
                <a:tc>
                  <a:txBody>
                    <a:bodyPr/>
                    <a:lstStyle/>
                    <a:p>
                      <a:pPr>
                        <a:lnSpc>
                          <a:spcPct val="107000"/>
                        </a:lnSpc>
                        <a:spcAft>
                          <a:spcPts val="800"/>
                        </a:spcAft>
                      </a:pPr>
                      <a:r>
                        <a:rPr lang="fi-FI" sz="1400" kern="100">
                          <a:effectLst/>
                          <a:latin typeface="Calibri" panose="020F0502020204030204" pitchFamily="34" charset="0"/>
                          <a:ea typeface="Calibri" panose="020F0502020204030204" pitchFamily="34" charset="0"/>
                          <a:cs typeface="Times New Roman" panose="02020603050405020304" pitchFamily="18" charset="0"/>
                        </a:rPr>
                        <a:t> Aathithya, S., Kavya, S., Malavika, J., Raveena, R., Durga, E. </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fi-FI" sz="1400" kern="100">
                          <a:effectLst/>
                          <a:latin typeface="Calibri" panose="020F0502020204030204" pitchFamily="34" charset="0"/>
                          <a:ea typeface="Calibri" panose="020F0502020204030204" pitchFamily="34" charset="0"/>
                          <a:cs typeface="Times New Roman" panose="02020603050405020304" pitchFamily="18" charset="0"/>
                        </a:rPr>
                        <a:t> </a:t>
                      </a:r>
                      <a:r>
                        <a:rPr lang="en-IN" sz="1400" kern="100">
                          <a:effectLst/>
                          <a:latin typeface="Calibri" panose="020F0502020204030204" pitchFamily="34" charset="0"/>
                          <a:ea typeface="Calibri" panose="020F0502020204030204" pitchFamily="34" charset="0"/>
                          <a:cs typeface="Times New Roman" panose="02020603050405020304" pitchFamily="18" charset="0"/>
                        </a:rPr>
                        <a:t>Detection of Human Existence Using Thermal Imaging for Automated Fire Extinguisher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Developed a thermal imaging-based system for human detection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Useful for automated fire extinguishing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Limited to thermal detection accuracy </a:t>
                      </a:r>
                    </a:p>
                  </a:txBody>
                  <a:tcPr marL="68580" marR="68580" marT="0" marB="0"/>
                </a:tc>
                <a:extLst>
                  <a:ext uri="{0D108BD9-81ED-4DB2-BD59-A6C34878D82A}">
                    <a16:rowId xmlns:a16="http://schemas.microsoft.com/office/drawing/2014/main" val="10002"/>
                  </a:ext>
                </a:extLst>
              </a:tr>
            </a:tbl>
          </a:graphicData>
        </a:graphic>
      </p:graphicFrame>
      <p:sp>
        <p:nvSpPr>
          <p:cNvPr id="5" name="Title 1">
            <a:extLst>
              <a:ext uri="{FF2B5EF4-FFF2-40B4-BE49-F238E27FC236}">
                <a16:creationId xmlns:a16="http://schemas.microsoft.com/office/drawing/2014/main" id="{94BBA202-CA73-6013-4CCC-59F809884CFF}"/>
              </a:ext>
            </a:extLst>
          </p:cNvPr>
          <p:cNvSpPr txBox="1"/>
          <p:nvPr/>
        </p:nvSpPr>
        <p:spPr>
          <a:xfrm>
            <a:off x="1415704"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3767711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Literature Review</a:t>
            </a:r>
          </a:p>
        </p:txBody>
      </p:sp>
      <p:graphicFrame>
        <p:nvGraphicFramePr>
          <p:cNvPr id="4" name="Table 3">
            <a:extLst>
              <a:ext uri="{FF2B5EF4-FFF2-40B4-BE49-F238E27FC236}">
                <a16:creationId xmlns:a16="http://schemas.microsoft.com/office/drawing/2014/main" id="{DDEFA3B4-C0E4-DF6C-D074-FCC4E86B1A51}"/>
              </a:ext>
            </a:extLst>
          </p:cNvPr>
          <p:cNvGraphicFramePr>
            <a:graphicFrameLocks noGrp="1"/>
          </p:cNvGraphicFramePr>
          <p:nvPr>
            <p:extLst>
              <p:ext uri="{D42A27DB-BD31-4B8C-83A1-F6EECF244321}">
                <p14:modId xmlns:p14="http://schemas.microsoft.com/office/powerpoint/2010/main" val="2425550029"/>
              </p:ext>
            </p:extLst>
          </p:nvPr>
        </p:nvGraphicFramePr>
        <p:xfrm>
          <a:off x="672353" y="1045794"/>
          <a:ext cx="11403107" cy="3616670"/>
        </p:xfrm>
        <a:graphic>
          <a:graphicData uri="http://schemas.openxmlformats.org/drawingml/2006/table">
            <a:tbl>
              <a:tblPr firstRow="1" bandRow="1">
                <a:tableStyleId>{5C22544A-7EE6-4342-B048-85BDC9FD1C3A}</a:tableStyleId>
              </a:tblPr>
              <a:tblGrid>
                <a:gridCol w="663388">
                  <a:extLst>
                    <a:ext uri="{9D8B030D-6E8A-4147-A177-3AD203B41FA5}">
                      <a16:colId xmlns:a16="http://schemas.microsoft.com/office/drawing/2014/main" val="20000"/>
                    </a:ext>
                  </a:extLst>
                </a:gridCol>
                <a:gridCol w="726141">
                  <a:extLst>
                    <a:ext uri="{9D8B030D-6E8A-4147-A177-3AD203B41FA5}">
                      <a16:colId xmlns:a16="http://schemas.microsoft.com/office/drawing/2014/main" val="20001"/>
                    </a:ext>
                  </a:extLst>
                </a:gridCol>
                <a:gridCol w="1389530">
                  <a:extLst>
                    <a:ext uri="{9D8B030D-6E8A-4147-A177-3AD203B41FA5}">
                      <a16:colId xmlns:a16="http://schemas.microsoft.com/office/drawing/2014/main" val="20002"/>
                    </a:ext>
                  </a:extLst>
                </a:gridCol>
                <a:gridCol w="1810870">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2409114">
                  <a:extLst>
                    <a:ext uri="{9D8B030D-6E8A-4147-A177-3AD203B41FA5}">
                      <a16:colId xmlns:a16="http://schemas.microsoft.com/office/drawing/2014/main" val="3024423440"/>
                    </a:ext>
                  </a:extLst>
                </a:gridCol>
                <a:gridCol w="2682840">
                  <a:extLst>
                    <a:ext uri="{9D8B030D-6E8A-4147-A177-3AD203B41FA5}">
                      <a16:colId xmlns:a16="http://schemas.microsoft.com/office/drawing/2014/main" val="262045854"/>
                    </a:ext>
                  </a:extLst>
                </a:gridCol>
              </a:tblGrid>
              <a:tr h="647801">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S.No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Year</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Authors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Title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Outcomes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Advantages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Limitations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746414">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5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2021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Zaher, A., Al-Faqsh, A., Abdulredha, H., Al-Qudaihi, H., &amp; Toaube, M.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A Fire Prevention/Monitoring Smart System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Developed a smart system for fire prevention and monitoring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Real-time monitoring and prevention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Dependency on sensors, potential high cost </a:t>
                      </a:r>
                    </a:p>
                  </a:txBody>
                  <a:tcPr marL="68580" marR="68580" marT="0" marB="0"/>
                </a:tc>
                <a:extLst>
                  <a:ext uri="{0D108BD9-81ED-4DB2-BD59-A6C34878D82A}">
                    <a16:rowId xmlns:a16="http://schemas.microsoft.com/office/drawing/2014/main" val="10001"/>
                  </a:ext>
                </a:extLst>
              </a:tr>
              <a:tr h="1809777">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6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2021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Luo, W.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Research on fire detection based on YOLOv5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Implemented fire detection using YOLOv5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High detection accuracy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Requires high computational resources </a:t>
                      </a:r>
                    </a:p>
                  </a:txBody>
                  <a:tcPr marL="68580" marR="68580" marT="0" marB="0"/>
                </a:tc>
                <a:extLst>
                  <a:ext uri="{0D108BD9-81ED-4DB2-BD59-A6C34878D82A}">
                    <a16:rowId xmlns:a16="http://schemas.microsoft.com/office/drawing/2014/main" val="10002"/>
                  </a:ext>
                </a:extLst>
              </a:tr>
            </a:tbl>
          </a:graphicData>
        </a:graphic>
      </p:graphicFrame>
      <p:sp>
        <p:nvSpPr>
          <p:cNvPr id="5" name="Title 1">
            <a:extLst>
              <a:ext uri="{FF2B5EF4-FFF2-40B4-BE49-F238E27FC236}">
                <a16:creationId xmlns:a16="http://schemas.microsoft.com/office/drawing/2014/main" id="{94BBA202-CA73-6013-4CCC-59F809884CFF}"/>
              </a:ext>
            </a:extLst>
          </p:cNvPr>
          <p:cNvSpPr txBox="1"/>
          <p:nvPr/>
        </p:nvSpPr>
        <p:spPr>
          <a:xfrm>
            <a:off x="1415704"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16620099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Literature Review</a:t>
            </a:r>
          </a:p>
        </p:txBody>
      </p:sp>
      <p:graphicFrame>
        <p:nvGraphicFramePr>
          <p:cNvPr id="4" name="Table 3">
            <a:extLst>
              <a:ext uri="{FF2B5EF4-FFF2-40B4-BE49-F238E27FC236}">
                <a16:creationId xmlns:a16="http://schemas.microsoft.com/office/drawing/2014/main" id="{DDEFA3B4-C0E4-DF6C-D074-FCC4E86B1A51}"/>
              </a:ext>
            </a:extLst>
          </p:cNvPr>
          <p:cNvGraphicFramePr>
            <a:graphicFrameLocks noGrp="1"/>
          </p:cNvGraphicFramePr>
          <p:nvPr>
            <p:extLst>
              <p:ext uri="{D42A27DB-BD31-4B8C-83A1-F6EECF244321}">
                <p14:modId xmlns:p14="http://schemas.microsoft.com/office/powerpoint/2010/main" val="161932532"/>
              </p:ext>
            </p:extLst>
          </p:nvPr>
        </p:nvGraphicFramePr>
        <p:xfrm>
          <a:off x="582706" y="930878"/>
          <a:ext cx="10586038" cy="4838277"/>
        </p:xfrm>
        <a:graphic>
          <a:graphicData uri="http://schemas.openxmlformats.org/drawingml/2006/table">
            <a:tbl>
              <a:tblPr firstRow="1" bandRow="1">
                <a:tableStyleId>{5C22544A-7EE6-4342-B048-85BDC9FD1C3A}</a:tableStyleId>
              </a:tblPr>
              <a:tblGrid>
                <a:gridCol w="708212">
                  <a:extLst>
                    <a:ext uri="{9D8B030D-6E8A-4147-A177-3AD203B41FA5}">
                      <a16:colId xmlns:a16="http://schemas.microsoft.com/office/drawing/2014/main" val="20000"/>
                    </a:ext>
                  </a:extLst>
                </a:gridCol>
                <a:gridCol w="824753">
                  <a:extLst>
                    <a:ext uri="{9D8B030D-6E8A-4147-A177-3AD203B41FA5}">
                      <a16:colId xmlns:a16="http://schemas.microsoft.com/office/drawing/2014/main" val="20001"/>
                    </a:ext>
                  </a:extLst>
                </a:gridCol>
                <a:gridCol w="1308847">
                  <a:extLst>
                    <a:ext uri="{9D8B030D-6E8A-4147-A177-3AD203B41FA5}">
                      <a16:colId xmlns:a16="http://schemas.microsoft.com/office/drawing/2014/main" val="20002"/>
                    </a:ext>
                  </a:extLst>
                </a:gridCol>
                <a:gridCol w="1506070">
                  <a:extLst>
                    <a:ext uri="{9D8B030D-6E8A-4147-A177-3AD203B41FA5}">
                      <a16:colId xmlns:a16="http://schemas.microsoft.com/office/drawing/2014/main" val="20003"/>
                    </a:ext>
                  </a:extLst>
                </a:gridCol>
                <a:gridCol w="2052918">
                  <a:extLst>
                    <a:ext uri="{9D8B030D-6E8A-4147-A177-3AD203B41FA5}">
                      <a16:colId xmlns:a16="http://schemas.microsoft.com/office/drawing/2014/main" val="20004"/>
                    </a:ext>
                  </a:extLst>
                </a:gridCol>
                <a:gridCol w="2160494">
                  <a:extLst>
                    <a:ext uri="{9D8B030D-6E8A-4147-A177-3AD203B41FA5}">
                      <a16:colId xmlns:a16="http://schemas.microsoft.com/office/drawing/2014/main" val="3773309496"/>
                    </a:ext>
                  </a:extLst>
                </a:gridCol>
                <a:gridCol w="2024744">
                  <a:extLst>
                    <a:ext uri="{9D8B030D-6E8A-4147-A177-3AD203B41FA5}">
                      <a16:colId xmlns:a16="http://schemas.microsoft.com/office/drawing/2014/main" val="2317306258"/>
                    </a:ext>
                  </a:extLst>
                </a:gridCol>
              </a:tblGrid>
              <a:tr h="648898">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S.No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Year</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Authors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Title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Outcomes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Advantages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Limitations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2283097">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7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2021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400" kern="100" dirty="0" err="1">
                          <a:effectLst/>
                          <a:latin typeface="Calibri" panose="020F0502020204030204" pitchFamily="34" charset="0"/>
                          <a:ea typeface="Calibri" panose="020F0502020204030204" pitchFamily="34" charset="0"/>
                          <a:cs typeface="Times New Roman" panose="02020603050405020304" pitchFamily="18" charset="0"/>
                        </a:rPr>
                        <a:t>Jaeseung</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Baek, Taha J. </a:t>
                      </a:r>
                      <a:r>
                        <a:rPr lang="en-IN" sz="1400" kern="100" dirty="0" err="1">
                          <a:effectLst/>
                          <a:latin typeface="Calibri" panose="020F0502020204030204" pitchFamily="34" charset="0"/>
                          <a:ea typeface="Calibri" panose="020F0502020204030204" pitchFamily="34" charset="0"/>
                          <a:cs typeface="Times New Roman" panose="02020603050405020304" pitchFamily="18" charset="0"/>
                        </a:rPr>
                        <a:t>Alhindi</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Young-</a:t>
                      </a:r>
                      <a:r>
                        <a:rPr lang="en-IN" sz="1400" kern="100" dirty="0" err="1">
                          <a:effectLst/>
                          <a:latin typeface="Calibri" panose="020F0502020204030204" pitchFamily="34" charset="0"/>
                          <a:ea typeface="Calibri" panose="020F0502020204030204" pitchFamily="34" charset="0"/>
                          <a:cs typeface="Times New Roman" panose="02020603050405020304" pitchFamily="18" charset="0"/>
                        </a:rPr>
                        <a:t>Seon</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Jeong, Myong K. Jeong, </a:t>
                      </a:r>
                      <a:r>
                        <a:rPr lang="en-IN" sz="1400" kern="100" dirty="0" err="1">
                          <a:effectLst/>
                          <a:latin typeface="Calibri" panose="020F0502020204030204" pitchFamily="34" charset="0"/>
                          <a:ea typeface="Calibri" panose="020F0502020204030204" pitchFamily="34" charset="0"/>
                          <a:cs typeface="Times New Roman" panose="02020603050405020304" pitchFamily="18" charset="0"/>
                        </a:rPr>
                        <a:t>Seongho</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Seo, </a:t>
                      </a:r>
                      <a:r>
                        <a:rPr lang="en-IN" sz="1400" kern="100" dirty="0" err="1">
                          <a:effectLst/>
                          <a:latin typeface="Calibri" panose="020F0502020204030204" pitchFamily="34" charset="0"/>
                          <a:ea typeface="Calibri" panose="020F0502020204030204" pitchFamily="34" charset="0"/>
                          <a:cs typeface="Times New Roman" panose="02020603050405020304" pitchFamily="18" charset="0"/>
                        </a:rPr>
                        <a:t>Jongseok</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Kang, We Shim, </a:t>
                      </a:r>
                      <a:r>
                        <a:rPr lang="en-IN" sz="1400" kern="100" dirty="0" err="1">
                          <a:effectLst/>
                          <a:latin typeface="Calibri" panose="020F0502020204030204" pitchFamily="34" charset="0"/>
                          <a:ea typeface="Calibri" panose="020F0502020204030204" pitchFamily="34" charset="0"/>
                          <a:cs typeface="Times New Roman" panose="02020603050405020304" pitchFamily="18" charset="0"/>
                        </a:rPr>
                        <a:t>Yoseob</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Heo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Real-time fire detection system based on dynamic time warping of multichannel sensor networks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Developed a real-time fire detection system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High efficiency with multichannel sensor networks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Complexity in sensor network integration </a:t>
                      </a:r>
                    </a:p>
                  </a:txBody>
                  <a:tcPr marL="68580" marR="68580" marT="0" marB="0"/>
                </a:tc>
                <a:extLst>
                  <a:ext uri="{0D108BD9-81ED-4DB2-BD59-A6C34878D82A}">
                    <a16:rowId xmlns:a16="http://schemas.microsoft.com/office/drawing/2014/main" val="10001"/>
                  </a:ext>
                </a:extLst>
              </a:tr>
              <a:tr h="1879603">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8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2022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Lee H-W, Lee K-O, Bae J-H, Kim S-Y, Park Y-Y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Using Hybrid Algorithms of Human Detection Technique for Detecting Indoor Disaster Victims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Developed a method for detecting disaster victims using hybrid algorithms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Improved detection accuracy in indoor settings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Complexity in algorithm implementation </a:t>
                      </a:r>
                    </a:p>
                  </a:txBody>
                  <a:tcPr marL="68580" marR="68580" marT="0" marB="0"/>
                </a:tc>
                <a:extLst>
                  <a:ext uri="{0D108BD9-81ED-4DB2-BD59-A6C34878D82A}">
                    <a16:rowId xmlns:a16="http://schemas.microsoft.com/office/drawing/2014/main" val="10002"/>
                  </a:ext>
                </a:extLst>
              </a:tr>
            </a:tbl>
          </a:graphicData>
        </a:graphic>
      </p:graphicFrame>
      <p:sp>
        <p:nvSpPr>
          <p:cNvPr id="5" name="Title 1">
            <a:extLst>
              <a:ext uri="{FF2B5EF4-FFF2-40B4-BE49-F238E27FC236}">
                <a16:creationId xmlns:a16="http://schemas.microsoft.com/office/drawing/2014/main" id="{94BBA202-CA73-6013-4CCC-59F809884CFF}"/>
              </a:ext>
            </a:extLst>
          </p:cNvPr>
          <p:cNvSpPr txBox="1"/>
          <p:nvPr/>
        </p:nvSpPr>
        <p:spPr>
          <a:xfrm>
            <a:off x="1415704"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24631843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Literature Review</a:t>
            </a:r>
          </a:p>
        </p:txBody>
      </p:sp>
      <p:graphicFrame>
        <p:nvGraphicFramePr>
          <p:cNvPr id="4" name="Table 3">
            <a:extLst>
              <a:ext uri="{FF2B5EF4-FFF2-40B4-BE49-F238E27FC236}">
                <a16:creationId xmlns:a16="http://schemas.microsoft.com/office/drawing/2014/main" id="{DDEFA3B4-C0E4-DF6C-D074-FCC4E86B1A51}"/>
              </a:ext>
            </a:extLst>
          </p:cNvPr>
          <p:cNvGraphicFramePr>
            <a:graphicFrameLocks noGrp="1"/>
          </p:cNvGraphicFramePr>
          <p:nvPr>
            <p:extLst>
              <p:ext uri="{D42A27DB-BD31-4B8C-83A1-F6EECF244321}">
                <p14:modId xmlns:p14="http://schemas.microsoft.com/office/powerpoint/2010/main" val="1380254435"/>
              </p:ext>
            </p:extLst>
          </p:nvPr>
        </p:nvGraphicFramePr>
        <p:xfrm>
          <a:off x="708212" y="1539496"/>
          <a:ext cx="10772586" cy="4325263"/>
        </p:xfrm>
        <a:graphic>
          <a:graphicData uri="http://schemas.openxmlformats.org/drawingml/2006/table">
            <a:tbl>
              <a:tblPr firstRow="1" bandRow="1">
                <a:tableStyleId>{5C22544A-7EE6-4342-B048-85BDC9FD1C3A}</a:tableStyleId>
              </a:tblPr>
              <a:tblGrid>
                <a:gridCol w="788894">
                  <a:extLst>
                    <a:ext uri="{9D8B030D-6E8A-4147-A177-3AD203B41FA5}">
                      <a16:colId xmlns:a16="http://schemas.microsoft.com/office/drawing/2014/main" val="20000"/>
                    </a:ext>
                  </a:extLst>
                </a:gridCol>
                <a:gridCol w="851647">
                  <a:extLst>
                    <a:ext uri="{9D8B030D-6E8A-4147-A177-3AD203B41FA5}">
                      <a16:colId xmlns:a16="http://schemas.microsoft.com/office/drawing/2014/main" val="20001"/>
                    </a:ext>
                  </a:extLst>
                </a:gridCol>
                <a:gridCol w="1353671">
                  <a:extLst>
                    <a:ext uri="{9D8B030D-6E8A-4147-A177-3AD203B41FA5}">
                      <a16:colId xmlns:a16="http://schemas.microsoft.com/office/drawing/2014/main" val="20002"/>
                    </a:ext>
                  </a:extLst>
                </a:gridCol>
                <a:gridCol w="1093694">
                  <a:extLst>
                    <a:ext uri="{9D8B030D-6E8A-4147-A177-3AD203B41FA5}">
                      <a16:colId xmlns:a16="http://schemas.microsoft.com/office/drawing/2014/main" val="20003"/>
                    </a:ext>
                  </a:extLst>
                </a:gridCol>
                <a:gridCol w="1963270">
                  <a:extLst>
                    <a:ext uri="{9D8B030D-6E8A-4147-A177-3AD203B41FA5}">
                      <a16:colId xmlns:a16="http://schemas.microsoft.com/office/drawing/2014/main" val="20004"/>
                    </a:ext>
                  </a:extLst>
                </a:gridCol>
                <a:gridCol w="2426339">
                  <a:extLst>
                    <a:ext uri="{9D8B030D-6E8A-4147-A177-3AD203B41FA5}">
                      <a16:colId xmlns:a16="http://schemas.microsoft.com/office/drawing/2014/main" val="4040773592"/>
                    </a:ext>
                  </a:extLst>
                </a:gridCol>
                <a:gridCol w="2295071">
                  <a:extLst>
                    <a:ext uri="{9D8B030D-6E8A-4147-A177-3AD203B41FA5}">
                      <a16:colId xmlns:a16="http://schemas.microsoft.com/office/drawing/2014/main" val="403331345"/>
                    </a:ext>
                  </a:extLst>
                </a:gridCol>
              </a:tblGrid>
              <a:tr h="647801">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S.No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Year</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Authors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Title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Outcomes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a:effectLst/>
                          <a:latin typeface="Calibri" panose="020F0502020204030204" pitchFamily="34" charset="0"/>
                          <a:ea typeface="Calibri" panose="020F0502020204030204" pitchFamily="34" charset="0"/>
                          <a:cs typeface="Times New Roman" panose="02020603050405020304" pitchFamily="18" charset="0"/>
                        </a:rPr>
                        <a:t>Advantages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Limitations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1605240">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9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2022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400" kern="100" dirty="0" err="1">
                          <a:effectLst/>
                          <a:latin typeface="Calibri" panose="020F0502020204030204" pitchFamily="34" charset="0"/>
                          <a:ea typeface="Calibri" panose="020F0502020204030204" pitchFamily="34" charset="0"/>
                          <a:cs typeface="Times New Roman" panose="02020603050405020304" pitchFamily="18" charset="0"/>
                        </a:rPr>
                        <a:t>Chopde</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Abhay et al.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Forest Fire Detection and Prediction from image processing using RCNN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Developed an RCNN-based system for forest fire detection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High accuracy in image-based detection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Dependency on large datasets for training </a:t>
                      </a:r>
                    </a:p>
                  </a:txBody>
                  <a:tcPr marL="68580" marR="68580" marT="0" marB="0"/>
                </a:tc>
                <a:extLst>
                  <a:ext uri="{0D108BD9-81ED-4DB2-BD59-A6C34878D82A}">
                    <a16:rowId xmlns:a16="http://schemas.microsoft.com/office/drawing/2014/main" val="10001"/>
                  </a:ext>
                </a:extLst>
              </a:tr>
              <a:tr h="1809777">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10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2023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Sathishkumar, V.E., Cho, J., Subramanian, M., et al. </a:t>
                      </a:r>
                    </a:p>
                  </a:txBody>
                  <a:tcPr marL="68580" marR="68580" marT="0" marB="0"/>
                </a:tc>
                <a:tc>
                  <a:txBody>
                    <a:bodyPr/>
                    <a:lstStyle/>
                    <a:p>
                      <a:pPr>
                        <a:lnSpc>
                          <a:spcPct val="107000"/>
                        </a:lnSpc>
                        <a:spcAft>
                          <a:spcPts val="800"/>
                        </a:spcAft>
                      </a:pPr>
                      <a:r>
                        <a:rPr lang="en-IN" sz="1400" kern="100">
                          <a:effectLst/>
                          <a:latin typeface="Calibri" panose="020F0502020204030204" pitchFamily="34" charset="0"/>
                          <a:ea typeface="Calibri" panose="020F0502020204030204" pitchFamily="34" charset="0"/>
                          <a:cs typeface="Times New Roman" panose="02020603050405020304" pitchFamily="18" charset="0"/>
                        </a:rPr>
                        <a:t> Forest fire and smoke detection using deep learning-based learning without forgetting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Developed a system for detecting forest fires using deep learning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Adaptive learning capabilities </a:t>
                      </a:r>
                    </a:p>
                  </a:txBody>
                  <a:tcPr marL="68580" marR="68580" marT="0" marB="0"/>
                </a:tc>
                <a:tc>
                  <a:txBody>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High computational demand for training </a:t>
                      </a:r>
                    </a:p>
                  </a:txBody>
                  <a:tcPr marL="68580" marR="68580" marT="0" marB="0"/>
                </a:tc>
                <a:extLst>
                  <a:ext uri="{0D108BD9-81ED-4DB2-BD59-A6C34878D82A}">
                    <a16:rowId xmlns:a16="http://schemas.microsoft.com/office/drawing/2014/main" val="10002"/>
                  </a:ext>
                </a:extLst>
              </a:tr>
            </a:tbl>
          </a:graphicData>
        </a:graphic>
      </p:graphicFrame>
      <p:sp>
        <p:nvSpPr>
          <p:cNvPr id="5" name="Title 1">
            <a:extLst>
              <a:ext uri="{FF2B5EF4-FFF2-40B4-BE49-F238E27FC236}">
                <a16:creationId xmlns:a16="http://schemas.microsoft.com/office/drawing/2014/main" id="{94BBA202-CA73-6013-4CCC-59F809884CFF}"/>
              </a:ext>
            </a:extLst>
          </p:cNvPr>
          <p:cNvSpPr txBox="1"/>
          <p:nvPr/>
        </p:nvSpPr>
        <p:spPr>
          <a:xfrm>
            <a:off x="1415704"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33435253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91458-3602-B88D-69F2-536F2B2C1F17}"/>
              </a:ext>
            </a:extLst>
          </p:cNvPr>
          <p:cNvSpPr>
            <a:spLocks noGrp="1"/>
          </p:cNvSpPr>
          <p:nvPr>
            <p:ph type="title"/>
          </p:nvPr>
        </p:nvSpPr>
        <p:spPr/>
        <p:txBody>
          <a:bodyPr/>
          <a:lstStyle/>
          <a:p>
            <a:r>
              <a:rPr lang="en-US" dirty="0"/>
              <a:t>Existing method Drawback</a:t>
            </a:r>
            <a:endParaRPr lang="en-IN" dirty="0"/>
          </a:p>
        </p:txBody>
      </p:sp>
      <p:sp>
        <p:nvSpPr>
          <p:cNvPr id="3" name="Content Placeholder 2">
            <a:extLst>
              <a:ext uri="{FF2B5EF4-FFF2-40B4-BE49-F238E27FC236}">
                <a16:creationId xmlns:a16="http://schemas.microsoft.com/office/drawing/2014/main" id="{6B8BBEEA-9AE3-9AD1-DBF4-A2CC98EF1B9B}"/>
              </a:ext>
            </a:extLst>
          </p:cNvPr>
          <p:cNvSpPr>
            <a:spLocks noGrp="1"/>
          </p:cNvSpPr>
          <p:nvPr>
            <p:ph idx="1"/>
          </p:nvPr>
        </p:nvSpPr>
        <p:spPr/>
        <p:txBody>
          <a:bodyPr/>
          <a:lstStyle/>
          <a:p>
            <a:r>
              <a:rPr lang="en-US" dirty="0">
                <a:latin typeface="Times New Roman" panose="02020603050405020304" pitchFamily="18" charset="0"/>
                <a:ea typeface="Calibri" panose="020F0502020204030204" pitchFamily="34" charset="0"/>
                <a:cs typeface="Times New Roman" panose="02020603050405020304" pitchFamily="18" charset="0"/>
              </a:rPr>
              <a:t>The existing system for real-time object detection, including humans, fire, and smoke, often relies on YOLOv5, a widely used deep learning model known for its speed and accuracy. YOLOv5 has been effectively applied in various safety and security systems due to its ability to perform rapid detections with relatively low computational requirements. It processes images in real-time, providing detection results for multiple objects within a single frame. However, YOLOv5 may face limitations in detecting objects under challenging conditions like low resolution or poor lighting, which calls for the exploration of more advanced models like YOLOv8 and YOLOv9.</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6376662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91458-3602-B88D-69F2-536F2B2C1F17}"/>
              </a:ext>
            </a:extLst>
          </p:cNvPr>
          <p:cNvSpPr>
            <a:spLocks noGrp="1"/>
          </p:cNvSpPr>
          <p:nvPr>
            <p:ph type="title"/>
          </p:nvPr>
        </p:nvSpPr>
        <p:spPr/>
        <p:txBody>
          <a:bodyPr/>
          <a:lstStyle/>
          <a:p>
            <a:r>
              <a:rPr lang="en-US" dirty="0"/>
              <a:t>Existing method Drawback</a:t>
            </a:r>
            <a:endParaRPr lang="en-IN" dirty="0"/>
          </a:p>
        </p:txBody>
      </p:sp>
      <p:sp>
        <p:nvSpPr>
          <p:cNvPr id="3" name="Content Placeholder 2">
            <a:extLst>
              <a:ext uri="{FF2B5EF4-FFF2-40B4-BE49-F238E27FC236}">
                <a16:creationId xmlns:a16="http://schemas.microsoft.com/office/drawing/2014/main" id="{6B8BBEEA-9AE3-9AD1-DBF4-A2CC98EF1B9B}"/>
              </a:ext>
            </a:extLst>
          </p:cNvPr>
          <p:cNvSpPr>
            <a:spLocks noGrp="1"/>
          </p:cNvSpPr>
          <p:nvPr>
            <p:ph idx="1"/>
          </p:nvPr>
        </p:nvSpPr>
        <p:spPr/>
        <p:txBody>
          <a:bodyPr>
            <a:normAutofit fontScale="77500" lnSpcReduction="20000"/>
          </a:bodyPr>
          <a:lstStyle/>
          <a:p>
            <a:pPr marL="285750" indent="-285750" algn="just">
              <a:lnSpc>
                <a:spcPct val="200000"/>
              </a:lnSpc>
              <a:spcAft>
                <a:spcPts val="800"/>
              </a:spcAft>
              <a:buFont typeface="Arial" panose="020B0604020202020204" pitchFamily="34" charset="0"/>
              <a:buChar char="•"/>
            </a:pPr>
            <a:r>
              <a:rPr lang="en-US" b="1" dirty="0">
                <a:latin typeface="Times New Roman" panose="02020603050405020304" pitchFamily="18" charset="0"/>
                <a:ea typeface="Calibri" panose="020F0502020204030204" pitchFamily="34" charset="0"/>
                <a:cs typeface="Times New Roman" panose="02020603050405020304" pitchFamily="18" charset="0"/>
              </a:rPr>
              <a:t>Lower Accuracy in Complex Scenarios: </a:t>
            </a:r>
            <a:r>
              <a:rPr lang="en-US" dirty="0">
                <a:latin typeface="Times New Roman" panose="02020603050405020304" pitchFamily="18" charset="0"/>
                <a:ea typeface="Calibri" panose="020F0502020204030204" pitchFamily="34" charset="0"/>
                <a:cs typeface="Times New Roman" panose="02020603050405020304" pitchFamily="18" charset="0"/>
              </a:rPr>
              <a:t>YOLOv5 may struggle with detecting small or partially occluded objects, particularly in low-light or cluttered environments.</a:t>
            </a:r>
          </a:p>
          <a:p>
            <a:pPr marL="285750" indent="-285750" algn="just">
              <a:lnSpc>
                <a:spcPct val="200000"/>
              </a:lnSpc>
              <a:spcAft>
                <a:spcPts val="800"/>
              </a:spcAft>
              <a:buFont typeface="Arial" panose="020B0604020202020204" pitchFamily="34" charset="0"/>
              <a:buChar char="•"/>
            </a:pPr>
            <a:r>
              <a:rPr lang="en-US" b="1" dirty="0">
                <a:latin typeface="Times New Roman" panose="02020603050405020304" pitchFamily="18" charset="0"/>
                <a:ea typeface="Calibri" panose="020F0502020204030204" pitchFamily="34" charset="0"/>
                <a:cs typeface="Times New Roman" panose="02020603050405020304" pitchFamily="18" charset="0"/>
              </a:rPr>
              <a:t>Resolution Limitations: </a:t>
            </a:r>
            <a:r>
              <a:rPr lang="en-US" dirty="0">
                <a:latin typeface="Times New Roman" panose="02020603050405020304" pitchFamily="18" charset="0"/>
                <a:ea typeface="Calibri" panose="020F0502020204030204" pitchFamily="34" charset="0"/>
                <a:cs typeface="Times New Roman" panose="02020603050405020304" pitchFamily="18" charset="0"/>
              </a:rPr>
              <a:t>It can be less effective with low-resolution images, which impacts the accuracy of detection when using lower-quality cameras.</a:t>
            </a:r>
          </a:p>
          <a:p>
            <a:pPr marL="285750" indent="-285750" algn="just">
              <a:lnSpc>
                <a:spcPct val="200000"/>
              </a:lnSpc>
              <a:spcAft>
                <a:spcPts val="800"/>
              </a:spcAft>
              <a:buFont typeface="Arial" panose="020B0604020202020204" pitchFamily="34" charset="0"/>
              <a:buChar char="•"/>
            </a:pPr>
            <a:r>
              <a:rPr lang="en-US" b="1" dirty="0">
                <a:latin typeface="Times New Roman" panose="02020603050405020304" pitchFamily="18" charset="0"/>
                <a:ea typeface="Calibri" panose="020F0502020204030204" pitchFamily="34" charset="0"/>
                <a:cs typeface="Times New Roman" panose="02020603050405020304" pitchFamily="18" charset="0"/>
              </a:rPr>
              <a:t>Generalization Issues: </a:t>
            </a:r>
            <a:r>
              <a:rPr lang="en-US" dirty="0">
                <a:latin typeface="Times New Roman" panose="02020603050405020304" pitchFamily="18" charset="0"/>
                <a:ea typeface="Calibri" panose="020F0502020204030204" pitchFamily="34" charset="0"/>
                <a:cs typeface="Times New Roman" panose="02020603050405020304" pitchFamily="18" charset="0"/>
              </a:rPr>
              <a:t>YOLOv5 may not perform optimally across varied domains without extensive retraining on diverse datasets.</a:t>
            </a:r>
          </a:p>
          <a:p>
            <a:pPr marL="285750" indent="-285750" algn="just">
              <a:lnSpc>
                <a:spcPct val="200000"/>
              </a:lnSpc>
              <a:spcAft>
                <a:spcPts val="800"/>
              </a:spcAft>
              <a:buFont typeface="Arial" panose="020B0604020202020204" pitchFamily="34" charset="0"/>
              <a:buChar char="•"/>
            </a:pPr>
            <a:r>
              <a:rPr lang="en-US" b="1" dirty="0">
                <a:latin typeface="Times New Roman" panose="02020603050405020304" pitchFamily="18" charset="0"/>
                <a:ea typeface="Calibri" panose="020F0502020204030204" pitchFamily="34" charset="0"/>
                <a:cs typeface="Times New Roman" panose="02020603050405020304" pitchFamily="18" charset="0"/>
              </a:rPr>
              <a:t>High Computational Requirements: </a:t>
            </a:r>
            <a:r>
              <a:rPr lang="en-US" dirty="0">
                <a:latin typeface="Times New Roman" panose="02020603050405020304" pitchFamily="18" charset="0"/>
                <a:ea typeface="Calibri" panose="020F0502020204030204" pitchFamily="34" charset="0"/>
                <a:cs typeface="Times New Roman" panose="02020603050405020304" pitchFamily="18" charset="0"/>
              </a:rPr>
              <a:t>Although faster than earlier versions, YOLOv5 still requires significant computational resources for training and deployment in large-scale systems.</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17711363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Proposed Method</a:t>
            </a:r>
          </a:p>
        </p:txBody>
      </p:sp>
      <p:sp>
        <p:nvSpPr>
          <p:cNvPr id="3" name="Content Placeholder 2"/>
          <p:cNvSpPr>
            <a:spLocks noGrp="1"/>
          </p:cNvSpPr>
          <p:nvPr>
            <p:ph idx="1"/>
          </p:nvPr>
        </p:nvSpPr>
        <p:spPr/>
        <p:txBody>
          <a:bodyPr/>
          <a:lstStyle/>
          <a:p>
            <a:r>
              <a:rPr lang="en-US" dirty="0">
                <a:latin typeface="Times New Roman" panose="02020603050405020304" pitchFamily="18" charset="0"/>
                <a:ea typeface="Times New Roman" panose="02020603050405020304" pitchFamily="18" charset="0"/>
                <a:cs typeface="Times New Roman" panose="02020603050405020304" pitchFamily="18" charset="0"/>
              </a:rPr>
              <a:t>The proposed system aims to enhance fire, smoke, and human detection by implementing advanced deep learning algorithms, specifically YOLOv8 and YOLOv9, for real-time analysis. Unlike traditional systems, this solution will utilize a comprehensive dataset to train the models for improved accuracy and responsiveness. The system will facilitate both image uploads and live camera feeds, allowing for immediate detection and alerting. By leveraging the strengths of YOLO architectures, the proposed system seeks to minimize false positives and enhance detection capabilities in diverse environments. This innovative approach will significantly improve safety measures and emergency response times in critical situations.</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dirty="0"/>
          </a:p>
        </p:txBody>
      </p:sp>
    </p:spTree>
    <p:extLst>
      <p:ext uri="{BB962C8B-B14F-4D97-AF65-F5344CB8AC3E}">
        <p14:creationId xmlns:p14="http://schemas.microsoft.com/office/powerpoint/2010/main" val="26596186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Proposed Method Advantages</a:t>
            </a:r>
          </a:p>
        </p:txBody>
      </p:sp>
      <p:sp>
        <p:nvSpPr>
          <p:cNvPr id="3" name="Content Placeholder 2"/>
          <p:cNvSpPr>
            <a:spLocks noGrp="1"/>
          </p:cNvSpPr>
          <p:nvPr>
            <p:ph idx="1"/>
          </p:nvPr>
        </p:nvSpPr>
        <p:spPr/>
        <p:txBody>
          <a:bodyPr>
            <a:normAutofit fontScale="62500" lnSpcReduction="20000"/>
          </a:bodyPr>
          <a:lstStyle/>
          <a:p>
            <a:pPr marL="285750" indent="-285750" algn="just">
              <a:lnSpc>
                <a:spcPct val="200000"/>
              </a:lnSpc>
              <a:spcAft>
                <a:spcPts val="1000"/>
              </a:spcAft>
              <a:buFont typeface="Arial" panose="020B0604020202020204" pitchFamily="34" charset="0"/>
              <a:buChar char="•"/>
            </a:pPr>
            <a:r>
              <a:rPr lang="en-US" b="1" dirty="0">
                <a:latin typeface="Times New Roman" panose="02020603050405020304" pitchFamily="18" charset="0"/>
                <a:ea typeface="Times New Roman" panose="02020603050405020304" pitchFamily="18" charset="0"/>
                <a:cs typeface="Times New Roman" panose="02020603050405020304" pitchFamily="18" charset="0"/>
              </a:rPr>
              <a:t>Enhanced Detection Accuracy: </a:t>
            </a:r>
            <a:r>
              <a:rPr lang="en-US" dirty="0">
                <a:latin typeface="Times New Roman" panose="02020603050405020304" pitchFamily="18" charset="0"/>
                <a:ea typeface="Times New Roman" panose="02020603050405020304" pitchFamily="18" charset="0"/>
                <a:cs typeface="Times New Roman" panose="02020603050405020304" pitchFamily="18" charset="0"/>
              </a:rPr>
              <a:t>By utilizing advanced YOLOv8 and YOLOv9 models, the system improves the detection accuracy for humans, fire, and smoke in diverse environments.</a:t>
            </a:r>
          </a:p>
          <a:p>
            <a:pPr marL="285750" indent="-285750" algn="just">
              <a:lnSpc>
                <a:spcPct val="200000"/>
              </a:lnSpc>
              <a:spcAft>
                <a:spcPts val="1000"/>
              </a:spcAft>
              <a:buFont typeface="Arial" panose="020B0604020202020204" pitchFamily="34" charset="0"/>
              <a:buChar char="•"/>
            </a:pPr>
            <a:r>
              <a:rPr lang="en-US" b="1" dirty="0">
                <a:latin typeface="Times New Roman" panose="02020603050405020304" pitchFamily="18" charset="0"/>
                <a:ea typeface="Times New Roman" panose="02020603050405020304" pitchFamily="18" charset="0"/>
                <a:cs typeface="Times New Roman" panose="02020603050405020304" pitchFamily="18" charset="0"/>
              </a:rPr>
              <a:t>Real-Time Analysis: </a:t>
            </a:r>
            <a:r>
              <a:rPr lang="en-US" dirty="0">
                <a:latin typeface="Times New Roman" panose="02020603050405020304" pitchFamily="18" charset="0"/>
                <a:ea typeface="Times New Roman" panose="02020603050405020304" pitchFamily="18" charset="0"/>
                <a:cs typeface="Times New Roman" panose="02020603050405020304" pitchFamily="18" charset="0"/>
              </a:rPr>
              <a:t>The system processes both image uploads and live camera feeds in real-time, enabling immediate detection and alerting, which enhances response times in emergencies.</a:t>
            </a:r>
          </a:p>
          <a:p>
            <a:pPr marL="285750" indent="-285750" algn="just">
              <a:lnSpc>
                <a:spcPct val="200000"/>
              </a:lnSpc>
              <a:spcAft>
                <a:spcPts val="1000"/>
              </a:spcAft>
              <a:buFont typeface="Arial" panose="020B0604020202020204" pitchFamily="34" charset="0"/>
              <a:buChar char="•"/>
            </a:pPr>
            <a:r>
              <a:rPr lang="en-US" b="1" dirty="0">
                <a:latin typeface="Times New Roman" panose="02020603050405020304" pitchFamily="18" charset="0"/>
                <a:ea typeface="Times New Roman" panose="02020603050405020304" pitchFamily="18" charset="0"/>
                <a:cs typeface="Times New Roman" panose="02020603050405020304" pitchFamily="18" charset="0"/>
              </a:rPr>
              <a:t>Reduced False Positives: </a:t>
            </a:r>
            <a:r>
              <a:rPr lang="en-US" dirty="0">
                <a:latin typeface="Times New Roman" panose="02020603050405020304" pitchFamily="18" charset="0"/>
                <a:ea typeface="Times New Roman" panose="02020603050405020304" pitchFamily="18" charset="0"/>
                <a:cs typeface="Times New Roman" panose="02020603050405020304" pitchFamily="18" charset="0"/>
              </a:rPr>
              <a:t>The advanced YOLO architectures are designed to minimize false positives, ensuring reliable detection and reducing unnecessary alerts.</a:t>
            </a:r>
          </a:p>
          <a:p>
            <a:pPr marL="285750" indent="-285750" algn="just">
              <a:lnSpc>
                <a:spcPct val="200000"/>
              </a:lnSpc>
              <a:spcAft>
                <a:spcPts val="1000"/>
              </a:spcAft>
              <a:buFont typeface="Arial" panose="020B0604020202020204" pitchFamily="34" charset="0"/>
              <a:buChar char="•"/>
            </a:pPr>
            <a:r>
              <a:rPr lang="en-US" b="1" dirty="0">
                <a:latin typeface="Times New Roman" panose="02020603050405020304" pitchFamily="18" charset="0"/>
                <a:ea typeface="Times New Roman" panose="02020603050405020304" pitchFamily="18" charset="0"/>
                <a:cs typeface="Times New Roman" panose="02020603050405020304" pitchFamily="18" charset="0"/>
              </a:rPr>
              <a:t>Scalability: </a:t>
            </a:r>
            <a:r>
              <a:rPr lang="en-US" dirty="0">
                <a:latin typeface="Times New Roman" panose="02020603050405020304" pitchFamily="18" charset="0"/>
                <a:ea typeface="Times New Roman" panose="02020603050405020304" pitchFamily="18" charset="0"/>
                <a:cs typeface="Times New Roman" panose="02020603050405020304" pitchFamily="18" charset="0"/>
              </a:rPr>
              <a:t>The system can be applied across various domains, from industrial safety to public security, providing a flexible solution.</a:t>
            </a:r>
          </a:p>
          <a:p>
            <a:pPr marL="285750" indent="-285750" algn="just">
              <a:lnSpc>
                <a:spcPct val="200000"/>
              </a:lnSpc>
              <a:spcAft>
                <a:spcPts val="1000"/>
              </a:spcAft>
              <a:buFont typeface="Arial" panose="020B0604020202020204" pitchFamily="34" charset="0"/>
              <a:buChar char="•"/>
            </a:pPr>
            <a:r>
              <a:rPr lang="en-US" b="1" dirty="0">
                <a:latin typeface="Times New Roman" panose="02020603050405020304" pitchFamily="18" charset="0"/>
                <a:ea typeface="Times New Roman" panose="02020603050405020304" pitchFamily="18" charset="0"/>
                <a:cs typeface="Times New Roman" panose="02020603050405020304" pitchFamily="18" charset="0"/>
              </a:rPr>
              <a:t>Robustness in Diverse Conditions: </a:t>
            </a:r>
            <a:r>
              <a:rPr lang="en-US" dirty="0">
                <a:latin typeface="Times New Roman" panose="02020603050405020304" pitchFamily="18" charset="0"/>
                <a:ea typeface="Times New Roman" panose="02020603050405020304" pitchFamily="18" charset="0"/>
                <a:cs typeface="Times New Roman" panose="02020603050405020304" pitchFamily="18" charset="0"/>
              </a:rPr>
              <a:t>Trained on a comprehensive dataset, the system can perform well in challenging scenarios, such as poor lighting or low-resolution images.</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dirty="0"/>
          </a:p>
        </p:txBody>
      </p:sp>
    </p:spTree>
    <p:extLst>
      <p:ext uri="{BB962C8B-B14F-4D97-AF65-F5344CB8AC3E}">
        <p14:creationId xmlns:p14="http://schemas.microsoft.com/office/powerpoint/2010/main" val="16039151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Objectives</a:t>
            </a:r>
          </a:p>
        </p:txBody>
      </p:sp>
      <p:sp>
        <p:nvSpPr>
          <p:cNvPr id="3" name="Content Placeholder 2"/>
          <p:cNvSpPr>
            <a:spLocks noGrp="1"/>
          </p:cNvSpPr>
          <p:nvPr>
            <p:ph idx="1"/>
          </p:nvPr>
        </p:nvSpPr>
        <p:spPr/>
        <p:txBody>
          <a:bodyPr/>
          <a:lstStyle/>
          <a:p>
            <a:r>
              <a:rPr lang="en-US" altLang="en-US" dirty="0">
                <a:latin typeface="Times New Roman" panose="02020603050405020304" pitchFamily="18" charset="0"/>
                <a:cs typeface="Times New Roman" panose="02020603050405020304" pitchFamily="18" charset="0"/>
              </a:rPr>
              <a:t>The primary objective of this project is to develop a robust detection system capable of accurately identifying humans, fire, and smoke in real-time using advanced deep learning algorithms, specifically YOLOv8 and YOLOv9. The project aims to implement an application that processes both uploaded images and live camera feeds, facilitating immediate alerts in emergency situations. Additionally, it seeks to evaluate and compare the performance of YOLOv8 and YOLOv9 in terms of accuracy and detection speed under varying conditions. Ultimately, the project strives to enhance safety and response measures in environments prone to fire hazards and emergencies.</a:t>
            </a:r>
          </a:p>
          <a:p>
            <a:endParaRPr lang="en-GB" dirty="0"/>
          </a:p>
        </p:txBody>
      </p:sp>
    </p:spTree>
    <p:extLst>
      <p:ext uri="{BB962C8B-B14F-4D97-AF65-F5344CB8AC3E}">
        <p14:creationId xmlns:p14="http://schemas.microsoft.com/office/powerpoint/2010/main" val="26667295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Methodology/Modules</a:t>
            </a:r>
          </a:p>
        </p:txBody>
      </p:sp>
      <p:sp>
        <p:nvSpPr>
          <p:cNvPr id="3" name="Content Placeholder 2"/>
          <p:cNvSpPr>
            <a:spLocks noGrp="1"/>
          </p:cNvSpPr>
          <p:nvPr>
            <p:ph idx="1"/>
          </p:nvPr>
        </p:nvSpPr>
        <p:spPr/>
        <p:txBody>
          <a:bodyPr>
            <a:normAutofit fontScale="62500" lnSpcReduction="20000"/>
          </a:bodyPr>
          <a:lstStyle/>
          <a:p>
            <a:pPr algn="just">
              <a:lnSpc>
                <a:spcPct val="150000"/>
              </a:lnSpc>
              <a:spcAft>
                <a:spcPts val="800"/>
              </a:spcAft>
            </a:pPr>
            <a:r>
              <a:rPr lang="en-US" sz="2400" b="1" dirty="0">
                <a:latin typeface="Times New Roman" panose="02020603050405020304" pitchFamily="18" charset="0"/>
                <a:ea typeface="Calibri" panose="020F0502020204030204" pitchFamily="34" charset="0"/>
                <a:cs typeface="Times New Roman" panose="02020603050405020304" pitchFamily="18" charset="0"/>
              </a:rPr>
              <a:t>YOLOv8:</a:t>
            </a:r>
          </a:p>
          <a:p>
            <a:pPr algn="just">
              <a:lnSpc>
                <a:spcPct val="150000"/>
              </a:lnSpc>
              <a:spcAft>
                <a:spcPts val="8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The methodology for implementing the YOLOv8 algorithm in the fire, smoke, and human detection project begins with data preparation, utilizing a comprehensive dataset sourced from </a:t>
            </a:r>
            <a:r>
              <a:rPr lang="en-US" sz="2400" dirty="0" err="1">
                <a:latin typeface="Times New Roman" panose="02020603050405020304" pitchFamily="18" charset="0"/>
                <a:ea typeface="Calibri" panose="020F0502020204030204" pitchFamily="34" charset="0"/>
                <a:cs typeface="Times New Roman" panose="02020603050405020304" pitchFamily="18" charset="0"/>
              </a:rPr>
              <a:t>Roboflow</a:t>
            </a:r>
            <a:r>
              <a:rPr lang="en-US" sz="2400" dirty="0">
                <a:latin typeface="Times New Roman" panose="02020603050405020304" pitchFamily="18" charset="0"/>
                <a:ea typeface="Calibri" panose="020F0502020204030204" pitchFamily="34" charset="0"/>
                <a:cs typeface="Times New Roman" panose="02020603050405020304" pitchFamily="18" charset="0"/>
              </a:rPr>
              <a:t>. This dataset includes a variety of annotated images containing instances of fire, smoke, and humans in diverse conditions. The images undergo preprocessing, which includes resizing, normalization, and augmentation techniques to enhance model robustness and prevent overfitting. Following data preparation, the YOLOv8 model architecture is established, leveraging its advanced features for real-time object detection. The model is then trained on the prepared dataset using transfer learning, which fine-tunes the pre-trained weights on the YOLOv8 model, allowing it to learn specific characteristics of the target classes more effectively. Hyperparameter tuning is conducted to optimize training parameters such as learning rate, batch size, and epochs, ensuring the model converges efficiently. During training, validation data is used to monitor performance and adjust parameters as necessary. After training completion, the model's accuracy and performance are evaluated using metrics like mean Average Precision (</a:t>
            </a:r>
            <a:r>
              <a:rPr lang="en-US" sz="2400" dirty="0" err="1">
                <a:latin typeface="Times New Roman" panose="02020603050405020304" pitchFamily="18" charset="0"/>
                <a:ea typeface="Calibri" panose="020F0502020204030204" pitchFamily="34" charset="0"/>
                <a:cs typeface="Times New Roman" panose="02020603050405020304" pitchFamily="18" charset="0"/>
              </a:rPr>
              <a:t>mAP</a:t>
            </a:r>
            <a:r>
              <a:rPr lang="en-US" sz="2400" dirty="0">
                <a:latin typeface="Times New Roman" panose="02020603050405020304" pitchFamily="18" charset="0"/>
                <a:ea typeface="Calibri" panose="020F0502020204030204" pitchFamily="34" charset="0"/>
                <a:cs typeface="Times New Roman" panose="02020603050405020304" pitchFamily="18" charset="0"/>
              </a:rPr>
              <a:t>) and Intersection over Union (</a:t>
            </a:r>
            <a:r>
              <a:rPr lang="en-US" sz="2400" dirty="0" err="1">
                <a:latin typeface="Times New Roman" panose="02020603050405020304" pitchFamily="18" charset="0"/>
                <a:ea typeface="Calibri" panose="020F0502020204030204" pitchFamily="34" charset="0"/>
                <a:cs typeface="Times New Roman" panose="02020603050405020304" pitchFamily="18" charset="0"/>
              </a:rPr>
              <a:t>IoU</a:t>
            </a:r>
            <a:r>
              <a:rPr lang="en-US" sz="2400" dirty="0">
                <a:latin typeface="Times New Roman" panose="02020603050405020304" pitchFamily="18" charset="0"/>
                <a:ea typeface="Calibri" panose="020F0502020204030204" pitchFamily="34" charset="0"/>
                <a:cs typeface="Times New Roman" panose="02020603050405020304" pitchFamily="18" charset="0"/>
              </a:rPr>
              <a:t>). Finally, the trained YOLOv8 model is integrated into an application that allows for both image uploads and live camera feeds, providing real-time detection capabilities for users.</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dirty="0"/>
          </a:p>
        </p:txBody>
      </p:sp>
    </p:spTree>
    <p:extLst>
      <p:ext uri="{BB962C8B-B14F-4D97-AF65-F5344CB8AC3E}">
        <p14:creationId xmlns:p14="http://schemas.microsoft.com/office/powerpoint/2010/main" val="23149447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Methodology/Modules</a:t>
            </a:r>
          </a:p>
        </p:txBody>
      </p:sp>
      <p:sp>
        <p:nvSpPr>
          <p:cNvPr id="3" name="Content Placeholder 2"/>
          <p:cNvSpPr>
            <a:spLocks noGrp="1"/>
          </p:cNvSpPr>
          <p:nvPr>
            <p:ph idx="1"/>
          </p:nvPr>
        </p:nvSpPr>
        <p:spPr/>
        <p:txBody>
          <a:bodyPr>
            <a:normAutofit fontScale="62500" lnSpcReduction="20000"/>
          </a:bodyPr>
          <a:lstStyle/>
          <a:p>
            <a:pPr algn="just">
              <a:lnSpc>
                <a:spcPct val="150000"/>
              </a:lnSpc>
              <a:spcAft>
                <a:spcPts val="800"/>
              </a:spcAft>
            </a:pPr>
            <a:r>
              <a:rPr lang="en-US" sz="2400" b="1" dirty="0">
                <a:latin typeface="Times New Roman" panose="02020603050405020304" pitchFamily="18" charset="0"/>
                <a:ea typeface="Calibri" panose="020F0502020204030204" pitchFamily="34" charset="0"/>
                <a:cs typeface="Times New Roman" panose="02020603050405020304" pitchFamily="18" charset="0"/>
              </a:rPr>
              <a:t>YOLOv9:</a:t>
            </a:r>
          </a:p>
          <a:p>
            <a:pPr algn="just">
              <a:lnSpc>
                <a:spcPct val="150000"/>
              </a:lnSpc>
              <a:spcAft>
                <a:spcPts val="8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The methodology for implementing the YOLOv9 algorithm in the fire, smoke, and human detection project builds upon the foundation established by YOLOv8, incorporating enhancements to improve detection accuracy and efficiency. The process begins with the same dataset from </a:t>
            </a:r>
            <a:r>
              <a:rPr lang="en-US" sz="2400" dirty="0" err="1">
                <a:latin typeface="Times New Roman" panose="02020603050405020304" pitchFamily="18" charset="0"/>
                <a:ea typeface="Calibri" panose="020F0502020204030204" pitchFamily="34" charset="0"/>
                <a:cs typeface="Times New Roman" panose="02020603050405020304" pitchFamily="18" charset="0"/>
              </a:rPr>
              <a:t>Roboflow</a:t>
            </a:r>
            <a:r>
              <a:rPr lang="en-US" sz="2400" dirty="0">
                <a:latin typeface="Times New Roman" panose="02020603050405020304" pitchFamily="18" charset="0"/>
                <a:ea typeface="Calibri" panose="020F0502020204030204" pitchFamily="34" charset="0"/>
                <a:cs typeface="Times New Roman" panose="02020603050405020304" pitchFamily="18" charset="0"/>
              </a:rPr>
              <a:t>, which is thoroughly curated and annotated to include various scenarios of fire, smoke, and human presence. Data preprocessing is performed, including resizing images to the appropriate input dimensions, normalizing pixel values, and applying data augmentation techniques to enhance diversity in the training dataset. The YOLOv9 model architecture is then defined, capitalizing on its improved features, such as better backbone networks and enhanced feature pyramid networks for more precise object detection. The training process utilizes transfer learning, initializing the model with weights from pre-trained YOLOv9 models to expedite convergence and enhance learning efficiency. Hyperparameter tuning is conducted to optimize the training process, adjusting parameters like learning rate, batch size, and number of epochs for maximum performance. As the model trains, validation data is used to regularly assess its performance, employing metrics such as mean Average Precision (</a:t>
            </a:r>
            <a:r>
              <a:rPr lang="en-US" sz="2400" dirty="0" err="1">
                <a:latin typeface="Times New Roman" panose="02020603050405020304" pitchFamily="18" charset="0"/>
                <a:ea typeface="Calibri" panose="020F0502020204030204" pitchFamily="34" charset="0"/>
                <a:cs typeface="Times New Roman" panose="02020603050405020304" pitchFamily="18" charset="0"/>
              </a:rPr>
              <a:t>mAP</a:t>
            </a:r>
            <a:r>
              <a:rPr lang="en-US" sz="2400" dirty="0">
                <a:latin typeface="Times New Roman" panose="02020603050405020304" pitchFamily="18" charset="0"/>
                <a:ea typeface="Calibri" panose="020F0502020204030204" pitchFamily="34" charset="0"/>
                <a:cs typeface="Times New Roman" panose="02020603050405020304" pitchFamily="18" charset="0"/>
              </a:rPr>
              <a:t>) and Intersection over Union (</a:t>
            </a:r>
            <a:r>
              <a:rPr lang="en-US" sz="2400" dirty="0" err="1">
                <a:latin typeface="Times New Roman" panose="02020603050405020304" pitchFamily="18" charset="0"/>
                <a:ea typeface="Calibri" panose="020F0502020204030204" pitchFamily="34" charset="0"/>
                <a:cs typeface="Times New Roman" panose="02020603050405020304" pitchFamily="18" charset="0"/>
              </a:rPr>
              <a:t>IoU</a:t>
            </a:r>
            <a:r>
              <a:rPr lang="en-US" sz="2400" dirty="0">
                <a:latin typeface="Times New Roman" panose="02020603050405020304" pitchFamily="18" charset="0"/>
                <a:ea typeface="Calibri" panose="020F0502020204030204" pitchFamily="34" charset="0"/>
                <a:cs typeface="Times New Roman" panose="02020603050405020304" pitchFamily="18" charset="0"/>
              </a:rPr>
              <a:t>) to monitor progress. Upon completion of training, the YOLOv9 model is integrated into an application that supports both image uploads and live camera feeds, delivering real-time detection capabilities for fire, smoke, and human identification in critical environments.</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585211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Methodology/Modules</a:t>
            </a:r>
          </a:p>
        </p:txBody>
      </p:sp>
      <p:sp>
        <p:nvSpPr>
          <p:cNvPr id="3" name="Content Placeholder 2"/>
          <p:cNvSpPr>
            <a:spLocks noGrp="1"/>
          </p:cNvSpPr>
          <p:nvPr>
            <p:ph idx="1"/>
          </p:nvPr>
        </p:nvSpPr>
        <p:spPr/>
        <p:txBody>
          <a:bodyPr>
            <a:normAutofit fontScale="77500" lnSpcReduction="20000"/>
          </a:bodyPr>
          <a:lstStyle/>
          <a:p>
            <a:pPr marL="285750" indent="-285750" algn="just">
              <a:lnSpc>
                <a:spcPct val="200000"/>
              </a:lnSpc>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Data Collection Module: </a:t>
            </a:r>
            <a:r>
              <a:rPr lang="en-US" dirty="0">
                <a:latin typeface="Times New Roman" panose="02020603050405020304" pitchFamily="18" charset="0"/>
                <a:cs typeface="Times New Roman" panose="02020603050405020304" pitchFamily="18" charset="0"/>
              </a:rPr>
              <a:t>Gathers fire, smoke, and human images from the </a:t>
            </a:r>
            <a:r>
              <a:rPr lang="en-US" dirty="0" err="1">
                <a:latin typeface="Times New Roman" panose="02020603050405020304" pitchFamily="18" charset="0"/>
                <a:cs typeface="Times New Roman" panose="02020603050405020304" pitchFamily="18" charset="0"/>
              </a:rPr>
              <a:t>Roboflow</a:t>
            </a:r>
            <a:r>
              <a:rPr lang="en-US" dirty="0">
                <a:latin typeface="Times New Roman" panose="02020603050405020304" pitchFamily="18" charset="0"/>
                <a:cs typeface="Times New Roman" panose="02020603050405020304" pitchFamily="18" charset="0"/>
              </a:rPr>
              <a:t> dataset for training.</a:t>
            </a:r>
          </a:p>
          <a:p>
            <a:pPr marL="285750" indent="-285750" algn="just">
              <a:lnSpc>
                <a:spcPct val="200000"/>
              </a:lnSpc>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Preprocessing Module: </a:t>
            </a:r>
            <a:r>
              <a:rPr lang="en-US" dirty="0">
                <a:latin typeface="Times New Roman" panose="02020603050405020304" pitchFamily="18" charset="0"/>
                <a:cs typeface="Times New Roman" panose="02020603050405020304" pitchFamily="18" charset="0"/>
              </a:rPr>
              <a:t>Prepares images for YOLOv8 and YOLOv9 training by resizing, augmenting, and normalizing the dataset.</a:t>
            </a:r>
          </a:p>
          <a:p>
            <a:pPr marL="285750" indent="-285750" algn="just">
              <a:lnSpc>
                <a:spcPct val="200000"/>
              </a:lnSpc>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Detection Module: </a:t>
            </a:r>
            <a:r>
              <a:rPr lang="en-US" dirty="0">
                <a:latin typeface="Times New Roman" panose="02020603050405020304" pitchFamily="18" charset="0"/>
                <a:cs typeface="Times New Roman" panose="02020603050405020304" pitchFamily="18" charset="0"/>
              </a:rPr>
              <a:t>Implements YOLOv8 and YOLOv9 models to detect fire, smoke, and humans in real-time from uploaded images and live camera feeds.</a:t>
            </a:r>
          </a:p>
          <a:p>
            <a:pPr marL="285750" indent="-285750" algn="just">
              <a:lnSpc>
                <a:spcPct val="200000"/>
              </a:lnSpc>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Alerting Module: </a:t>
            </a:r>
            <a:r>
              <a:rPr lang="en-US" dirty="0">
                <a:latin typeface="Times New Roman" panose="02020603050405020304" pitchFamily="18" charset="0"/>
                <a:cs typeface="Times New Roman" panose="02020603050405020304" pitchFamily="18" charset="0"/>
              </a:rPr>
              <a:t>Triggers real-time alerts when fire, smoke, or humans are detected.</a:t>
            </a:r>
          </a:p>
          <a:p>
            <a:pPr marL="285750" indent="-285750" algn="just">
              <a:lnSpc>
                <a:spcPct val="200000"/>
              </a:lnSpc>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Evaluation Module: </a:t>
            </a:r>
            <a:r>
              <a:rPr lang="en-US" dirty="0">
                <a:latin typeface="Times New Roman" panose="02020603050405020304" pitchFamily="18" charset="0"/>
                <a:cs typeface="Times New Roman" panose="02020603050405020304" pitchFamily="18" charset="0"/>
              </a:rPr>
              <a:t>Compares the performance of YOLOv8 and YOLOv9 models in terms of accuracy, speed, and robustness.</a:t>
            </a:r>
          </a:p>
        </p:txBody>
      </p:sp>
    </p:spTree>
    <p:extLst>
      <p:ext uri="{BB962C8B-B14F-4D97-AF65-F5344CB8AC3E}">
        <p14:creationId xmlns:p14="http://schemas.microsoft.com/office/powerpoint/2010/main" val="28424495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5A156-B1FC-CA07-89DA-0BCF63C14900}"/>
              </a:ext>
            </a:extLst>
          </p:cNvPr>
          <p:cNvSpPr>
            <a:spLocks noGrp="1"/>
          </p:cNvSpPr>
          <p:nvPr>
            <p:ph type="title"/>
          </p:nvPr>
        </p:nvSpPr>
        <p:spPr/>
        <p:txBody>
          <a:bodyPr/>
          <a:lstStyle/>
          <a:p>
            <a:r>
              <a:rPr lang="en-US" dirty="0"/>
              <a:t>Architecture</a:t>
            </a:r>
            <a:endParaRPr lang="en-IN" dirty="0"/>
          </a:p>
        </p:txBody>
      </p:sp>
      <p:pic>
        <p:nvPicPr>
          <p:cNvPr id="4" name="Picture 3">
            <a:extLst>
              <a:ext uri="{FF2B5EF4-FFF2-40B4-BE49-F238E27FC236}">
                <a16:creationId xmlns:a16="http://schemas.microsoft.com/office/drawing/2014/main" id="{7AFE4765-2F47-D1C7-A236-0955F1C2A1F2}"/>
              </a:ext>
            </a:extLst>
          </p:cNvPr>
          <p:cNvPicPr/>
          <p:nvPr/>
        </p:nvPicPr>
        <p:blipFill>
          <a:blip r:embed="rId2"/>
          <a:stretch>
            <a:fillRect/>
          </a:stretch>
        </p:blipFill>
        <p:spPr>
          <a:xfrm>
            <a:off x="1395663" y="1175085"/>
            <a:ext cx="9400673" cy="4952997"/>
          </a:xfrm>
          <a:prstGeom prst="rect">
            <a:avLst/>
          </a:prstGeom>
        </p:spPr>
      </p:pic>
    </p:spTree>
    <p:extLst>
      <p:ext uri="{BB962C8B-B14F-4D97-AF65-F5344CB8AC3E}">
        <p14:creationId xmlns:p14="http://schemas.microsoft.com/office/powerpoint/2010/main" val="5938987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B97FD-7A7C-F5A7-82F8-E665F49E37A5}"/>
              </a:ext>
            </a:extLst>
          </p:cNvPr>
          <p:cNvSpPr>
            <a:spLocks noGrp="1"/>
          </p:cNvSpPr>
          <p:nvPr>
            <p:ph type="title"/>
          </p:nvPr>
        </p:nvSpPr>
        <p:spPr/>
        <p:txBody>
          <a:bodyPr/>
          <a:lstStyle/>
          <a:p>
            <a:r>
              <a:rPr lang="en-US" dirty="0"/>
              <a:t>Hardware/software components</a:t>
            </a:r>
            <a:endParaRPr lang="en-IN" dirty="0"/>
          </a:p>
        </p:txBody>
      </p:sp>
      <p:sp>
        <p:nvSpPr>
          <p:cNvPr id="4" name="Google Shape;872;p32">
            <a:extLst>
              <a:ext uri="{FF2B5EF4-FFF2-40B4-BE49-F238E27FC236}">
                <a16:creationId xmlns:a16="http://schemas.microsoft.com/office/drawing/2014/main" id="{B9B752AB-1386-F76F-0C46-190A16C2CA39}"/>
              </a:ext>
            </a:extLst>
          </p:cNvPr>
          <p:cNvSpPr txBox="1"/>
          <p:nvPr/>
        </p:nvSpPr>
        <p:spPr>
          <a:xfrm>
            <a:off x="4844716" y="3706066"/>
            <a:ext cx="5671668" cy="785723"/>
          </a:xfrm>
          <a:prstGeom prst="rect">
            <a:avLst/>
          </a:prstGeom>
          <a:noFill/>
          <a:ln>
            <a:noFill/>
          </a:ln>
        </p:spPr>
        <p:txBody>
          <a:bodyPr spcFirstLastPara="1" wrap="square" lIns="121900" tIns="121900" rIns="121900" bIns="121900" anchor="t" anchorCtr="0">
            <a:noAutofit/>
          </a:bodyPr>
          <a:lstStyle/>
          <a:p>
            <a:pPr lvl="0"/>
            <a:r>
              <a:rPr lang="en-US" sz="2000" dirty="0">
                <a:latin typeface="Times New Roman" panose="02020603050405020304" pitchFamily="18" charset="0"/>
                <a:cs typeface="Times New Roman" panose="02020603050405020304" pitchFamily="18" charset="0"/>
              </a:rPr>
              <a:t>(</a:t>
            </a:r>
            <a:r>
              <a:rPr lang="en-US" sz="2000" b="1" dirty="0">
                <a:latin typeface="Times New Roman" panose="02020603050405020304" pitchFamily="18" charset="0"/>
                <a:cs typeface="Times New Roman" panose="02020603050405020304" pitchFamily="18" charset="0"/>
              </a:rPr>
              <a:t>Operating System: </a:t>
            </a:r>
            <a:r>
              <a:rPr lang="en-US" sz="2000" dirty="0">
                <a:latin typeface="Times New Roman" panose="02020603050405020304" pitchFamily="18" charset="0"/>
                <a:cs typeface="Times New Roman" panose="02020603050405020304" pitchFamily="18" charset="0"/>
              </a:rPr>
              <a:t>Windows 10, </a:t>
            </a:r>
            <a:r>
              <a:rPr lang="en-US" sz="2000" b="1" dirty="0">
                <a:latin typeface="Times New Roman" panose="02020603050405020304" pitchFamily="18" charset="0"/>
                <a:cs typeface="Times New Roman" panose="02020603050405020304" pitchFamily="18" charset="0"/>
              </a:rPr>
              <a:t>Programming Language: </a:t>
            </a:r>
            <a:r>
              <a:rPr lang="en-US" sz="2000" dirty="0">
                <a:latin typeface="Times New Roman" panose="02020603050405020304" pitchFamily="18" charset="0"/>
                <a:cs typeface="Times New Roman" panose="02020603050405020304" pitchFamily="18" charset="0"/>
              </a:rPr>
              <a:t>Python 3.10.8, </a:t>
            </a:r>
            <a:r>
              <a:rPr lang="en-US" sz="2000" b="1" dirty="0">
                <a:latin typeface="Times New Roman" panose="02020603050405020304" pitchFamily="18" charset="0"/>
                <a:cs typeface="Times New Roman" panose="02020603050405020304" pitchFamily="18" charset="0"/>
              </a:rPr>
              <a:t>IDE: </a:t>
            </a:r>
            <a:r>
              <a:rPr lang="en-US" sz="2000" dirty="0">
                <a:latin typeface="Times New Roman" panose="02020603050405020304" pitchFamily="18" charset="0"/>
                <a:cs typeface="Times New Roman" panose="02020603050405020304" pitchFamily="18" charset="0"/>
              </a:rPr>
              <a:t>VS Code)</a:t>
            </a:r>
            <a:endParaRPr lang="en-IN" sz="2000" dirty="0">
              <a:latin typeface="Times New Roman" panose="02020603050405020304" pitchFamily="18" charset="0"/>
              <a:cs typeface="Times New Roman" panose="02020603050405020304" pitchFamily="18" charset="0"/>
            </a:endParaRPr>
          </a:p>
        </p:txBody>
      </p:sp>
      <p:sp>
        <p:nvSpPr>
          <p:cNvPr id="5" name="Google Shape;868;p32">
            <a:extLst>
              <a:ext uri="{FF2B5EF4-FFF2-40B4-BE49-F238E27FC236}">
                <a16:creationId xmlns:a16="http://schemas.microsoft.com/office/drawing/2014/main" id="{02CDC46B-9751-B92A-4EFB-458E326B9907}"/>
              </a:ext>
            </a:extLst>
          </p:cNvPr>
          <p:cNvSpPr txBox="1"/>
          <p:nvPr/>
        </p:nvSpPr>
        <p:spPr>
          <a:xfrm>
            <a:off x="4844716" y="1786416"/>
            <a:ext cx="4957010" cy="1069080"/>
          </a:xfrm>
          <a:prstGeom prst="rect">
            <a:avLst/>
          </a:prstGeom>
          <a:noFill/>
          <a:ln>
            <a:noFill/>
          </a:ln>
        </p:spPr>
        <p:txBody>
          <a:bodyPr spcFirstLastPara="1" wrap="square" lIns="121900" tIns="121900" rIns="121900" bIns="121900" anchor="t" anchorCtr="0">
            <a:noAutofit/>
          </a:bodyPr>
          <a:lstStyle/>
          <a:p>
            <a:pPr lvl="0"/>
            <a:r>
              <a:rPr lang="en-GB" sz="1600" b="1" dirty="0">
                <a:latin typeface="Times New Roman" panose="02020603050405020304" pitchFamily="18" charset="0"/>
                <a:ea typeface="Poppins" panose="00000500000000000000"/>
                <a:cs typeface="Times New Roman" panose="02020603050405020304" pitchFamily="18" charset="0"/>
                <a:sym typeface="Poppins" panose="00000500000000000000"/>
              </a:rPr>
              <a:t>(Processor: </a:t>
            </a:r>
            <a:r>
              <a:rPr lang="en-US" sz="1600" dirty="0">
                <a:latin typeface="Times New Roman" panose="02020603050405020304" pitchFamily="18" charset="0"/>
                <a:cs typeface="Times New Roman" panose="02020603050405020304" pitchFamily="18" charset="0"/>
              </a:rPr>
              <a:t>I5/Intel Processor, </a:t>
            </a:r>
            <a:r>
              <a:rPr lang="en-IN" sz="1600" b="1" dirty="0">
                <a:latin typeface="Times New Roman" panose="02020603050405020304" pitchFamily="18" charset="0"/>
                <a:cs typeface="Times New Roman" panose="02020603050405020304" pitchFamily="18" charset="0"/>
              </a:rPr>
              <a:t>RAM:</a:t>
            </a:r>
            <a:r>
              <a:rPr lang="en-IN" sz="1600" dirty="0">
                <a:latin typeface="Times New Roman" panose="02020603050405020304" pitchFamily="18" charset="0"/>
                <a:cs typeface="Times New Roman" panose="02020603050405020304" pitchFamily="18" charset="0"/>
              </a:rPr>
              <a:t> 8GB (min), </a:t>
            </a:r>
            <a:r>
              <a:rPr lang="en-IN" sz="1600" b="1" dirty="0">
                <a:latin typeface="Times New Roman" panose="02020603050405020304" pitchFamily="18" charset="0"/>
                <a:cs typeface="Times New Roman" panose="02020603050405020304" pitchFamily="18" charset="0"/>
              </a:rPr>
              <a:t>Hard </a:t>
            </a:r>
            <a:r>
              <a:rPr lang="en-IN" sz="2000" b="1" dirty="0">
                <a:latin typeface="Times New Roman" panose="02020603050405020304" pitchFamily="18" charset="0"/>
                <a:cs typeface="Times New Roman" panose="02020603050405020304" pitchFamily="18" charset="0"/>
              </a:rPr>
              <a:t>Disk</a:t>
            </a:r>
            <a:r>
              <a:rPr lang="en-IN" sz="1600" b="1"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128 GB</a:t>
            </a:r>
            <a:r>
              <a:rPr lang="en-IN" sz="1600" b="1" dirty="0">
                <a:latin typeface="Times New Roman" panose="02020603050405020304" pitchFamily="18" charset="0"/>
                <a:cs typeface="Times New Roman" panose="02020603050405020304" pitchFamily="18" charset="0"/>
              </a:rPr>
              <a:t>, Key Board:</a:t>
            </a:r>
            <a:r>
              <a:rPr lang="en-IN" sz="1600" dirty="0">
                <a:latin typeface="Times New Roman" panose="02020603050405020304" pitchFamily="18" charset="0"/>
                <a:cs typeface="Times New Roman" panose="02020603050405020304" pitchFamily="18" charset="0"/>
              </a:rPr>
              <a:t> Standard Windows Keyboard, </a:t>
            </a:r>
            <a:r>
              <a:rPr lang="en-IN" sz="1600" b="1" dirty="0">
                <a:latin typeface="Times New Roman" panose="02020603050405020304" pitchFamily="18" charset="0"/>
                <a:cs typeface="Times New Roman" panose="02020603050405020304" pitchFamily="18" charset="0"/>
              </a:rPr>
              <a:t>Mouse:</a:t>
            </a:r>
            <a:r>
              <a:rPr lang="en-IN" sz="1600" dirty="0">
                <a:latin typeface="Times New Roman" panose="02020603050405020304" pitchFamily="18" charset="0"/>
                <a:cs typeface="Times New Roman" panose="02020603050405020304" pitchFamily="18" charset="0"/>
              </a:rPr>
              <a:t> Two or Three Button Mouse)</a:t>
            </a:r>
          </a:p>
          <a:p>
            <a:pPr>
              <a:lnSpc>
                <a:spcPct val="115000"/>
              </a:lnSpc>
            </a:pPr>
            <a:endParaRPr sz="1600"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6" name="Google Shape;866;p32">
            <a:extLst>
              <a:ext uri="{FF2B5EF4-FFF2-40B4-BE49-F238E27FC236}">
                <a16:creationId xmlns:a16="http://schemas.microsoft.com/office/drawing/2014/main" id="{A2E80C1F-D66C-A103-5F78-373D7B36F4E8}"/>
              </a:ext>
            </a:extLst>
          </p:cNvPr>
          <p:cNvSpPr/>
          <p:nvPr/>
        </p:nvSpPr>
        <p:spPr>
          <a:xfrm>
            <a:off x="3638321" y="1583894"/>
            <a:ext cx="1019200" cy="1019200"/>
          </a:xfrm>
          <a:prstGeom prst="ellipse">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spcFirstLastPara="1" wrap="square" lIns="121900" tIns="121900" rIns="121900" bIns="121900" anchor="ctr" anchorCtr="0">
            <a:noAutofit/>
          </a:bodyPr>
          <a:lstStyle/>
          <a:p>
            <a:pPr algn="ctr"/>
            <a:r>
              <a:rPr lang="en-GB" sz="2667" dirty="0">
                <a:latin typeface="Poppins Black" panose="00000800000000000000"/>
                <a:ea typeface="Poppins Black" panose="00000800000000000000"/>
                <a:cs typeface="Poppins Black" panose="00000800000000000000"/>
                <a:sym typeface="Poppins Black" panose="00000800000000000000"/>
              </a:rPr>
              <a:t>01</a:t>
            </a:r>
            <a:endParaRPr sz="2667" dirty="0">
              <a:latin typeface="Poppins Black" panose="00000800000000000000"/>
              <a:ea typeface="Poppins Black" panose="00000800000000000000"/>
              <a:cs typeface="Poppins Black" panose="00000800000000000000"/>
              <a:sym typeface="Poppins Black" panose="00000800000000000000"/>
            </a:endParaRPr>
          </a:p>
        </p:txBody>
      </p:sp>
      <p:sp>
        <p:nvSpPr>
          <p:cNvPr id="8" name="TextBox 7">
            <a:extLst>
              <a:ext uri="{FF2B5EF4-FFF2-40B4-BE49-F238E27FC236}">
                <a16:creationId xmlns:a16="http://schemas.microsoft.com/office/drawing/2014/main" id="{D35AEAE7-8BDC-7D7C-837D-D4A1FB07FAB3}"/>
              </a:ext>
            </a:extLst>
          </p:cNvPr>
          <p:cNvSpPr txBox="1"/>
          <p:nvPr/>
        </p:nvSpPr>
        <p:spPr>
          <a:xfrm>
            <a:off x="4866069" y="1417084"/>
            <a:ext cx="6096000" cy="461665"/>
          </a:xfrm>
          <a:prstGeom prst="rect">
            <a:avLst/>
          </a:prstGeom>
          <a:noFill/>
        </p:spPr>
        <p:txBody>
          <a:bodyPr wrap="square">
            <a:spAutoFit/>
          </a:bodyPr>
          <a:lstStyle/>
          <a:p>
            <a:r>
              <a:rPr lang="en-GB" sz="2400" dirty="0">
                <a:latin typeface="Poppins Black" panose="00000800000000000000"/>
                <a:ea typeface="Poppins Black" panose="00000800000000000000"/>
                <a:cs typeface="Poppins Black" panose="00000800000000000000"/>
                <a:sym typeface="Poppins Black" panose="00000800000000000000"/>
              </a:rPr>
              <a:t>Hardware</a:t>
            </a:r>
            <a:endParaRPr lang="en-IN" sz="2400" dirty="0"/>
          </a:p>
        </p:txBody>
      </p:sp>
      <p:sp>
        <p:nvSpPr>
          <p:cNvPr id="10" name="TextBox 9">
            <a:extLst>
              <a:ext uri="{FF2B5EF4-FFF2-40B4-BE49-F238E27FC236}">
                <a16:creationId xmlns:a16="http://schemas.microsoft.com/office/drawing/2014/main" id="{4265D5F7-CF9F-C845-33FA-533384FEAAA1}"/>
              </a:ext>
            </a:extLst>
          </p:cNvPr>
          <p:cNvSpPr txBox="1"/>
          <p:nvPr/>
        </p:nvSpPr>
        <p:spPr>
          <a:xfrm>
            <a:off x="4866069" y="3224828"/>
            <a:ext cx="6096000" cy="497059"/>
          </a:xfrm>
          <a:prstGeom prst="rect">
            <a:avLst/>
          </a:prstGeom>
          <a:noFill/>
        </p:spPr>
        <p:txBody>
          <a:bodyPr wrap="square">
            <a:spAutoFit/>
          </a:bodyPr>
          <a:lstStyle/>
          <a:p>
            <a:pPr>
              <a:lnSpc>
                <a:spcPct val="115000"/>
              </a:lnSpc>
            </a:pPr>
            <a:r>
              <a:rPr lang="en-GB" sz="2400" dirty="0">
                <a:latin typeface="Poppins Black" panose="00000800000000000000"/>
                <a:ea typeface="Poppins Black" panose="00000800000000000000"/>
                <a:cs typeface="Poppins Black" panose="00000800000000000000"/>
                <a:sym typeface="Poppins Black" panose="00000800000000000000"/>
              </a:rPr>
              <a:t>Software</a:t>
            </a:r>
          </a:p>
        </p:txBody>
      </p:sp>
      <p:sp>
        <p:nvSpPr>
          <p:cNvPr id="11" name="Google Shape;870;p32">
            <a:extLst>
              <a:ext uri="{FF2B5EF4-FFF2-40B4-BE49-F238E27FC236}">
                <a16:creationId xmlns:a16="http://schemas.microsoft.com/office/drawing/2014/main" id="{391D2490-36FB-024A-8246-CEF3779249BA}"/>
              </a:ext>
            </a:extLst>
          </p:cNvPr>
          <p:cNvSpPr/>
          <p:nvPr/>
        </p:nvSpPr>
        <p:spPr>
          <a:xfrm>
            <a:off x="3638321" y="3424989"/>
            <a:ext cx="1019200" cy="1019200"/>
          </a:xfrm>
          <a:prstGeom prst="ellipse">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spcFirstLastPara="1" wrap="square" lIns="121900" tIns="121900" rIns="121900" bIns="121900" anchor="ctr" anchorCtr="0">
            <a:noAutofit/>
          </a:bodyPr>
          <a:lstStyle/>
          <a:p>
            <a:pPr algn="ctr"/>
            <a:r>
              <a:rPr lang="en-GB" sz="2667" dirty="0">
                <a:latin typeface="Poppins Black" panose="00000800000000000000"/>
                <a:ea typeface="Poppins Black" panose="00000800000000000000"/>
                <a:cs typeface="Poppins Black" panose="00000800000000000000"/>
                <a:sym typeface="Poppins Black" panose="00000800000000000000"/>
              </a:rPr>
              <a:t>02</a:t>
            </a:r>
            <a:endParaRPr sz="2667" dirty="0">
              <a:latin typeface="Poppins Black" panose="00000800000000000000"/>
              <a:ea typeface="Poppins Black" panose="00000800000000000000"/>
              <a:cs typeface="Poppins Black" panose="00000800000000000000"/>
              <a:sym typeface="Poppins Black" panose="00000800000000000000"/>
            </a:endParaRPr>
          </a:p>
        </p:txBody>
      </p:sp>
      <p:sp>
        <p:nvSpPr>
          <p:cNvPr id="13" name="TextBox 12">
            <a:extLst>
              <a:ext uri="{FF2B5EF4-FFF2-40B4-BE49-F238E27FC236}">
                <a16:creationId xmlns:a16="http://schemas.microsoft.com/office/drawing/2014/main" id="{B31BCCAA-172F-EE1A-B2D7-6B88267E3E8F}"/>
              </a:ext>
            </a:extLst>
          </p:cNvPr>
          <p:cNvSpPr txBox="1"/>
          <p:nvPr/>
        </p:nvSpPr>
        <p:spPr>
          <a:xfrm>
            <a:off x="4844716" y="4870027"/>
            <a:ext cx="6096000" cy="497059"/>
          </a:xfrm>
          <a:prstGeom prst="rect">
            <a:avLst/>
          </a:prstGeom>
          <a:noFill/>
        </p:spPr>
        <p:txBody>
          <a:bodyPr wrap="square">
            <a:spAutoFit/>
          </a:bodyPr>
          <a:lstStyle/>
          <a:p>
            <a:pPr>
              <a:lnSpc>
                <a:spcPct val="115000"/>
              </a:lnSpc>
            </a:pPr>
            <a:r>
              <a:rPr lang="en-US" sz="2400" dirty="0">
                <a:latin typeface="Poppins Black" panose="00000800000000000000"/>
                <a:ea typeface="Poppins Black" panose="00000800000000000000"/>
                <a:cs typeface="Poppins Black" panose="00000800000000000000"/>
                <a:sym typeface="Poppins Black" panose="00000800000000000000"/>
              </a:rPr>
              <a:t>Packages/Libraries</a:t>
            </a:r>
          </a:p>
        </p:txBody>
      </p:sp>
      <p:sp>
        <p:nvSpPr>
          <p:cNvPr id="14" name="Google Shape;873;p32">
            <a:extLst>
              <a:ext uri="{FF2B5EF4-FFF2-40B4-BE49-F238E27FC236}">
                <a16:creationId xmlns:a16="http://schemas.microsoft.com/office/drawing/2014/main" id="{6F232FB8-1083-8266-1231-F09AF3C97E8A}"/>
              </a:ext>
            </a:extLst>
          </p:cNvPr>
          <p:cNvSpPr/>
          <p:nvPr/>
        </p:nvSpPr>
        <p:spPr>
          <a:xfrm>
            <a:off x="3638321" y="4916815"/>
            <a:ext cx="1019200" cy="1019200"/>
          </a:xfrm>
          <a:prstGeom prst="ellipse">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spcFirstLastPara="1" wrap="square" lIns="121900" tIns="121900" rIns="121900" bIns="121900" anchor="ctr" anchorCtr="0">
            <a:noAutofit/>
          </a:bodyPr>
          <a:lstStyle/>
          <a:p>
            <a:pPr algn="ctr"/>
            <a:r>
              <a:rPr lang="en-GB" sz="2667" dirty="0">
                <a:latin typeface="Poppins Black" panose="00000800000000000000"/>
                <a:ea typeface="Poppins Black" panose="00000800000000000000"/>
                <a:cs typeface="Poppins Black" panose="00000800000000000000"/>
                <a:sym typeface="Poppins Black" panose="00000800000000000000"/>
              </a:rPr>
              <a:t>03</a:t>
            </a:r>
            <a:endParaRPr sz="2667" dirty="0">
              <a:latin typeface="Poppins Black" panose="00000800000000000000"/>
              <a:ea typeface="Poppins Black" panose="00000800000000000000"/>
              <a:cs typeface="Poppins Black" panose="00000800000000000000"/>
              <a:sym typeface="Poppins Black" panose="00000800000000000000"/>
            </a:endParaRPr>
          </a:p>
        </p:txBody>
      </p:sp>
      <p:sp>
        <p:nvSpPr>
          <p:cNvPr id="16" name="TextBox 15">
            <a:extLst>
              <a:ext uri="{FF2B5EF4-FFF2-40B4-BE49-F238E27FC236}">
                <a16:creationId xmlns:a16="http://schemas.microsoft.com/office/drawing/2014/main" id="{93300E09-AF37-5386-3873-1184C9676576}"/>
              </a:ext>
            </a:extLst>
          </p:cNvPr>
          <p:cNvSpPr txBox="1"/>
          <p:nvPr/>
        </p:nvSpPr>
        <p:spPr>
          <a:xfrm>
            <a:off x="4866069" y="5254932"/>
            <a:ext cx="6096000" cy="771814"/>
          </a:xfrm>
          <a:prstGeom prst="rect">
            <a:avLst/>
          </a:prstGeom>
          <a:noFill/>
        </p:spPr>
        <p:txBody>
          <a:bodyPr wrap="square">
            <a:spAutoFit/>
          </a:bodyPr>
          <a:lstStyle/>
          <a:p>
            <a:pPr>
              <a:lnSpc>
                <a:spcPct val="115000"/>
              </a:lnSpc>
            </a:pPr>
            <a:r>
              <a:rPr lang="en-US" sz="2000" dirty="0">
                <a:latin typeface="Times New Roman" panose="02020603050405020304" pitchFamily="18" charset="0"/>
                <a:ea typeface="Poppins" panose="00000500000000000000"/>
                <a:cs typeface="Times New Roman" panose="02020603050405020304" pitchFamily="18" charset="0"/>
                <a:sym typeface="Poppins" panose="00000500000000000000"/>
              </a:rPr>
              <a:t>(</a:t>
            </a:r>
            <a:r>
              <a:rPr lang="en-US" sz="2000" dirty="0" err="1">
                <a:latin typeface="Times New Roman" panose="02020603050405020304" pitchFamily="18" charset="0"/>
                <a:ea typeface="Poppins" panose="00000500000000000000"/>
                <a:cs typeface="Times New Roman" panose="02020603050405020304" pitchFamily="18" charset="0"/>
                <a:sym typeface="Poppins" panose="00000500000000000000"/>
              </a:rPr>
              <a:t>Sklearn</a:t>
            </a:r>
            <a:r>
              <a:rPr lang="en-US" sz="2000" dirty="0">
                <a:latin typeface="Times New Roman" panose="02020603050405020304" pitchFamily="18" charset="0"/>
                <a:ea typeface="Poppins" panose="00000500000000000000"/>
                <a:cs typeface="Times New Roman" panose="02020603050405020304" pitchFamily="18" charset="0"/>
                <a:sym typeface="Poppins" panose="00000500000000000000"/>
              </a:rPr>
              <a:t>, Transformers, </a:t>
            </a:r>
            <a:r>
              <a:rPr lang="en-US" sz="2000" dirty="0" err="1">
                <a:latin typeface="Times New Roman" panose="02020603050405020304" pitchFamily="18" charset="0"/>
                <a:ea typeface="Poppins" panose="00000500000000000000"/>
                <a:cs typeface="Times New Roman" panose="02020603050405020304" pitchFamily="18" charset="0"/>
                <a:sym typeface="Poppins" panose="00000500000000000000"/>
              </a:rPr>
              <a:t>Tensorflow</a:t>
            </a:r>
            <a:r>
              <a:rPr lang="en-US" sz="2000" dirty="0">
                <a:latin typeface="Times New Roman" panose="02020603050405020304" pitchFamily="18" charset="0"/>
                <a:ea typeface="Poppins" panose="00000500000000000000"/>
                <a:cs typeface="Times New Roman" panose="02020603050405020304" pitchFamily="18" charset="0"/>
                <a:sym typeface="Poppins" panose="00000500000000000000"/>
              </a:rPr>
              <a:t>, Pandas, Seaborn, Torch</a:t>
            </a:r>
          </a:p>
        </p:txBody>
      </p:sp>
      <p:sp>
        <p:nvSpPr>
          <p:cNvPr id="18" name="TextBox 17">
            <a:extLst>
              <a:ext uri="{FF2B5EF4-FFF2-40B4-BE49-F238E27FC236}">
                <a16:creationId xmlns:a16="http://schemas.microsoft.com/office/drawing/2014/main" id="{49C2F66A-C16A-76A8-B6C2-4AC90121F755}"/>
              </a:ext>
            </a:extLst>
          </p:cNvPr>
          <p:cNvSpPr txBox="1"/>
          <p:nvPr/>
        </p:nvSpPr>
        <p:spPr>
          <a:xfrm>
            <a:off x="-1372384" y="3538711"/>
            <a:ext cx="6096000" cy="631968"/>
          </a:xfrm>
          <a:prstGeom prst="rect">
            <a:avLst/>
          </a:prstGeom>
          <a:noFill/>
        </p:spPr>
        <p:txBody>
          <a:bodyPr wrap="square">
            <a:spAutoFit/>
          </a:bodyPr>
          <a:lstStyle/>
          <a:p>
            <a:pPr algn="ctr">
              <a:lnSpc>
                <a:spcPct val="115000"/>
              </a:lnSpc>
            </a:pPr>
            <a:r>
              <a:rPr lang="en-GB" sz="3200" dirty="0">
                <a:latin typeface="Poppins Black" panose="00000800000000000000"/>
                <a:ea typeface="Poppins Black" panose="00000800000000000000"/>
                <a:cs typeface="Poppins Black" panose="00000800000000000000"/>
                <a:sym typeface="Poppins Black" panose="00000800000000000000"/>
              </a:rPr>
              <a:t>Resources</a:t>
            </a:r>
          </a:p>
        </p:txBody>
      </p:sp>
    </p:spTree>
    <p:extLst>
      <p:ext uri="{BB962C8B-B14F-4D97-AF65-F5344CB8AC3E}">
        <p14:creationId xmlns:p14="http://schemas.microsoft.com/office/powerpoint/2010/main" val="8255523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Timeline of Project</a:t>
            </a:r>
          </a:p>
        </p:txBody>
      </p:sp>
      <p:pic>
        <p:nvPicPr>
          <p:cNvPr id="7" name="Content Placeholder 6">
            <a:extLst>
              <a:ext uri="{FF2B5EF4-FFF2-40B4-BE49-F238E27FC236}">
                <a16:creationId xmlns:a16="http://schemas.microsoft.com/office/drawing/2014/main" id="{20C7C684-34D0-374A-A35F-F875ABDF7E2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12800" y="1613647"/>
            <a:ext cx="10668000" cy="3729318"/>
          </a:xfrm>
        </p:spPr>
      </p:pic>
    </p:spTree>
    <p:extLst>
      <p:ext uri="{BB962C8B-B14F-4D97-AF65-F5344CB8AC3E}">
        <p14:creationId xmlns:p14="http://schemas.microsoft.com/office/powerpoint/2010/main" val="36773328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Expected Outcomes</a:t>
            </a:r>
          </a:p>
        </p:txBody>
      </p:sp>
      <p:sp>
        <p:nvSpPr>
          <p:cNvPr id="3" name="Content Placeholder 2"/>
          <p:cNvSpPr>
            <a:spLocks noGrp="1"/>
          </p:cNvSpPr>
          <p:nvPr>
            <p:ph idx="1"/>
          </p:nvPr>
        </p:nvSpPr>
        <p:spPr/>
        <p:txBody>
          <a:bodyPr>
            <a:noAutofit/>
          </a:bodyPr>
          <a:lstStyle/>
          <a:p>
            <a:pPr algn="just">
              <a:lnSpc>
                <a:spcPct val="150000"/>
              </a:lnSpc>
            </a:pPr>
            <a:r>
              <a:rPr lang="en-US" sz="1400" dirty="0">
                <a:latin typeface="Times New Roman" panose="02020603050405020304" pitchFamily="18" charset="0"/>
                <a:cs typeface="Times New Roman" panose="02020603050405020304" pitchFamily="18" charset="0"/>
              </a:rPr>
              <a:t>The scope of this project encompasses the following key areas:</a:t>
            </a:r>
          </a:p>
          <a:p>
            <a:pPr marL="342900" lvl="0" indent="-342900" algn="just">
              <a:lnSpc>
                <a:spcPct val="107000"/>
              </a:lnSpc>
              <a:buFont typeface="+mj-lt"/>
              <a:buAutoNum type="arabicPeriod"/>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Functional Real-Time Detection System</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 fully functional application capable of detecting humans, fire, and smoke in real-time from uploaded images and live video feeds. The system will provide reliable detection and classification of these elements, allowing for practical applications in safety monitoring.</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rabicPeriod"/>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High-Accuracy Detection Models</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Successfully trained and validated YOLOv8 and YOLOv9 models, optimized to accurately detect humans, fire, and smoke under various conditions. The models will demonstrate high accuracy and minimal false positives or negatives in the detection tasks.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rabicPeriod"/>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Performance Evaluation and Comparison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 comprehensive comparison of YOLOv8 and YOLOv9 in terms of accuracy, speed, and robustness. This evaluation will highlight the strengths and weaknesses of each model, offering insights into their suitability for different real-time detection scenarios.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rabicPeriod"/>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Real-Time Processing with Camera Feeds</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Implementation of a system capable of processing images from a laptop camera, enabling real-time detection despite potential limitations in camera resolution and quality. This will demonstrate the system's practicality in everyday safety applications.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mj-lt"/>
              <a:buAutoNum type="arabicPeriod"/>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Alert and Visual Feedback System</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 responsive alert system that provides notifications and visual cues when fire, smoke, or human presence is detected. This feature aims to enhance response times in critical situations, contributing to improved safety and situational awareness.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sz="1400" dirty="0"/>
          </a:p>
        </p:txBody>
      </p:sp>
    </p:spTree>
    <p:extLst>
      <p:ext uri="{BB962C8B-B14F-4D97-AF65-F5344CB8AC3E}">
        <p14:creationId xmlns:p14="http://schemas.microsoft.com/office/powerpoint/2010/main" val="19239281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Conclusion</a:t>
            </a:r>
          </a:p>
        </p:txBody>
      </p:sp>
      <p:sp>
        <p:nvSpPr>
          <p:cNvPr id="7" name="Content Placeholder 6">
            <a:extLst>
              <a:ext uri="{FF2B5EF4-FFF2-40B4-BE49-F238E27FC236}">
                <a16:creationId xmlns:a16="http://schemas.microsoft.com/office/drawing/2014/main" id="{D69E59D9-7115-7E09-7D7A-75361C294372}"/>
              </a:ext>
            </a:extLst>
          </p:cNvPr>
          <p:cNvSpPr>
            <a:spLocks noGrp="1"/>
          </p:cNvSpPr>
          <p:nvPr>
            <p:ph idx="1"/>
          </p:nvPr>
        </p:nvSpPr>
        <p:spPr/>
        <p:txBody>
          <a:bodyPr>
            <a:normAutofit/>
          </a:bodyPr>
          <a:lstStyle/>
          <a:p>
            <a:pPr marL="0" indent="0" algn="just">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In conclusion, the proposed system aims to revolutionize fire, smoke, and human detection by leveraging advanced deep learning algorithms, specifically YOLOv8 and YOLOv9. By focusing on real-time analysis and utilizing a comprehensive dataset for model training, the system promises to deliver enhanced detection accuracy and responsiveness in various environments. The ability to process both uploaded images and live camera feeds allows for immediate alerts, significantly improving emergency response times and safety measures.</a:t>
            </a:r>
          </a:p>
          <a:p>
            <a:pPr marL="0" indent="0" algn="just">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With its focus on reducing false positives and ensuring reliable detection, this innovative approach not only addresses the limitations of traditional systems but also expands its applicability across multiple domains, including industrial safety and public security. The robustness of the system in diverse conditions further emphasizes its potential as a crucial tool in emergency management practices.</a:t>
            </a:r>
          </a:p>
          <a:p>
            <a:pPr marL="0" indent="0" algn="just">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Ultimately, the successful implementation of this detection system will not only safeguard lives and property but also contribute valuable insights for future advancements in safety technology. Through enhanced detection capabilities and real-time response, this project strives to create a safer environment, better equipped to handle emergencies related to fire hazards.</a:t>
            </a:r>
          </a:p>
          <a:p>
            <a:pPr algn="just">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385711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b="1" dirty="0">
                <a:solidFill>
                  <a:schemeClr val="accent2">
                    <a:lumMod val="75000"/>
                  </a:schemeClr>
                </a:solidFill>
                <a:latin typeface="Cambria" panose="02040503050406030204" pitchFamily="18" charset="0"/>
                <a:ea typeface="Cambria" panose="02040503050406030204" pitchFamily="18" charset="0"/>
              </a:rPr>
              <a:t>Github Link</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References</a:t>
            </a:r>
          </a:p>
        </p:txBody>
      </p:sp>
      <p:sp>
        <p:nvSpPr>
          <p:cNvPr id="3" name="Content Placeholder 2"/>
          <p:cNvSpPr>
            <a:spLocks noGrp="1"/>
          </p:cNvSpPr>
          <p:nvPr>
            <p:ph idx="1"/>
          </p:nvPr>
        </p:nvSpPr>
        <p:spPr/>
        <p:txBody>
          <a:bodyPr>
            <a:normAutofit fontScale="62500" lnSpcReduction="20000"/>
          </a:bodyPr>
          <a:lstStyle/>
          <a:p>
            <a:pPr algn="just">
              <a:lnSpc>
                <a:spcPct val="150000"/>
              </a:lnSpc>
              <a:spcAft>
                <a:spcPts val="800"/>
              </a:spcAft>
            </a:pPr>
            <a:r>
              <a:rPr lang="en-US" sz="2200" dirty="0">
                <a:latin typeface="Times New Roman" panose="02020603050405020304" pitchFamily="18" charset="0"/>
                <a:ea typeface="Calibri" panose="020F0502020204030204" pitchFamily="34" charset="0"/>
                <a:cs typeface="Times New Roman" panose="02020603050405020304" pitchFamily="18" charset="0"/>
              </a:rPr>
              <a:t>Zaher, A., Al-</a:t>
            </a:r>
            <a:r>
              <a:rPr lang="en-US" sz="2200" dirty="0" err="1">
                <a:latin typeface="Times New Roman" panose="02020603050405020304" pitchFamily="18" charset="0"/>
                <a:ea typeface="Calibri" panose="020F0502020204030204" pitchFamily="34" charset="0"/>
                <a:cs typeface="Times New Roman" panose="02020603050405020304" pitchFamily="18" charset="0"/>
              </a:rPr>
              <a:t>Faqsh</a:t>
            </a:r>
            <a:r>
              <a:rPr lang="en-US" sz="2200" dirty="0">
                <a:latin typeface="Times New Roman" panose="02020603050405020304" pitchFamily="18" charset="0"/>
                <a:ea typeface="Calibri" panose="020F0502020204030204" pitchFamily="34" charset="0"/>
                <a:cs typeface="Times New Roman" panose="02020603050405020304" pitchFamily="18" charset="0"/>
              </a:rPr>
              <a:t>, A., </a:t>
            </a:r>
            <a:r>
              <a:rPr lang="en-US" sz="2200" dirty="0" err="1">
                <a:latin typeface="Times New Roman" panose="02020603050405020304" pitchFamily="18" charset="0"/>
                <a:ea typeface="Calibri" panose="020F0502020204030204" pitchFamily="34" charset="0"/>
                <a:cs typeface="Times New Roman" panose="02020603050405020304" pitchFamily="18" charset="0"/>
              </a:rPr>
              <a:t>Abdulredha</a:t>
            </a:r>
            <a:r>
              <a:rPr lang="en-US" sz="2200" dirty="0">
                <a:latin typeface="Times New Roman" panose="02020603050405020304" pitchFamily="18" charset="0"/>
                <a:ea typeface="Calibri" panose="020F0502020204030204" pitchFamily="34" charset="0"/>
                <a:cs typeface="Times New Roman" panose="02020603050405020304" pitchFamily="18" charset="0"/>
              </a:rPr>
              <a:t>, H., Al-</a:t>
            </a:r>
            <a:r>
              <a:rPr lang="en-US" sz="2200" dirty="0" err="1">
                <a:latin typeface="Times New Roman" panose="02020603050405020304" pitchFamily="18" charset="0"/>
                <a:ea typeface="Calibri" panose="020F0502020204030204" pitchFamily="34" charset="0"/>
                <a:cs typeface="Times New Roman" panose="02020603050405020304" pitchFamily="18" charset="0"/>
              </a:rPr>
              <a:t>Qudaihi</a:t>
            </a:r>
            <a:r>
              <a:rPr lang="en-US" sz="2200" dirty="0">
                <a:latin typeface="Times New Roman" panose="02020603050405020304" pitchFamily="18" charset="0"/>
                <a:ea typeface="Calibri" panose="020F0502020204030204" pitchFamily="34" charset="0"/>
                <a:cs typeface="Times New Roman" panose="02020603050405020304" pitchFamily="18" charset="0"/>
              </a:rPr>
              <a:t>, H., &amp; </a:t>
            </a:r>
            <a:r>
              <a:rPr lang="en-US" sz="2200" dirty="0" err="1">
                <a:latin typeface="Times New Roman" panose="02020603050405020304" pitchFamily="18" charset="0"/>
                <a:ea typeface="Calibri" panose="020F0502020204030204" pitchFamily="34" charset="0"/>
                <a:cs typeface="Times New Roman" panose="02020603050405020304" pitchFamily="18" charset="0"/>
              </a:rPr>
              <a:t>Toaube</a:t>
            </a:r>
            <a:r>
              <a:rPr lang="en-US" sz="2200" dirty="0">
                <a:latin typeface="Times New Roman" panose="02020603050405020304" pitchFamily="18" charset="0"/>
                <a:ea typeface="Calibri" panose="020F0502020204030204" pitchFamily="34" charset="0"/>
                <a:cs typeface="Times New Roman" panose="02020603050405020304" pitchFamily="18" charset="0"/>
              </a:rPr>
              <a:t>, M. (2021). A Fire Prevention/Monitoring Smart System. 2021 2nd International Conference On Smart Cities, Automation &amp; Intelligent Computing Systems (ICON-SONICS). IEEE.</a:t>
            </a:r>
          </a:p>
          <a:p>
            <a:pPr algn="just">
              <a:lnSpc>
                <a:spcPct val="150000"/>
              </a:lnSpc>
              <a:spcAft>
                <a:spcPts val="800"/>
              </a:spcAft>
            </a:pPr>
            <a:r>
              <a:rPr lang="en-US" sz="2200" dirty="0">
                <a:latin typeface="Times New Roman" panose="02020603050405020304" pitchFamily="18" charset="0"/>
                <a:ea typeface="Calibri" panose="020F0502020204030204" pitchFamily="34" charset="0"/>
                <a:cs typeface="Times New Roman" panose="02020603050405020304" pitchFamily="18" charset="0"/>
              </a:rPr>
              <a:t>Seetharaman, R., Sreeja, R. R., Dakshin, S. </a:t>
            </a:r>
            <a:r>
              <a:rPr lang="en-US" sz="2200" dirty="0" err="1">
                <a:latin typeface="Times New Roman" panose="02020603050405020304" pitchFamily="18" charset="0"/>
                <a:ea typeface="Calibri" panose="020F0502020204030204" pitchFamily="34" charset="0"/>
                <a:cs typeface="Times New Roman" panose="02020603050405020304" pitchFamily="18" charset="0"/>
              </a:rPr>
              <a:t>Vidhul</a:t>
            </a:r>
            <a:r>
              <a:rPr lang="en-US" sz="2200" dirty="0">
                <a:latin typeface="Times New Roman" panose="02020603050405020304" pitchFamily="18" charset="0"/>
                <a:ea typeface="Calibri" panose="020F0502020204030204" pitchFamily="34" charset="0"/>
                <a:cs typeface="Times New Roman" panose="02020603050405020304" pitchFamily="18" charset="0"/>
              </a:rPr>
              <a:t>, </a:t>
            </a:r>
            <a:r>
              <a:rPr lang="en-US" sz="2200" dirty="0" err="1">
                <a:latin typeface="Times New Roman" panose="02020603050405020304" pitchFamily="18" charset="0"/>
                <a:ea typeface="Calibri" panose="020F0502020204030204" pitchFamily="34" charset="0"/>
                <a:cs typeface="Times New Roman" panose="02020603050405020304" pitchFamily="18" charset="0"/>
              </a:rPr>
              <a:t>Nivetha</a:t>
            </a:r>
            <a:r>
              <a:rPr lang="en-US" sz="2200" dirty="0">
                <a:latin typeface="Times New Roman" panose="02020603050405020304" pitchFamily="18" charset="0"/>
                <a:ea typeface="Calibri" panose="020F0502020204030204" pitchFamily="34" charset="0"/>
                <a:cs typeface="Times New Roman" panose="02020603050405020304" pitchFamily="18" charset="0"/>
              </a:rPr>
              <a:t>, N., </a:t>
            </a:r>
            <a:r>
              <a:rPr lang="en-US" sz="2200" dirty="0" err="1">
                <a:latin typeface="Times New Roman" panose="02020603050405020304" pitchFamily="18" charset="0"/>
                <a:ea typeface="Calibri" panose="020F0502020204030204" pitchFamily="34" charset="0"/>
                <a:cs typeface="Times New Roman" panose="02020603050405020304" pitchFamily="18" charset="0"/>
              </a:rPr>
              <a:t>Gowsigan</a:t>
            </a:r>
            <a:r>
              <a:rPr lang="en-US" sz="2200" dirty="0">
                <a:latin typeface="Times New Roman" panose="02020603050405020304" pitchFamily="18" charset="0"/>
                <a:ea typeface="Calibri" panose="020F0502020204030204" pitchFamily="34" charset="0"/>
                <a:cs typeface="Times New Roman" panose="02020603050405020304" pitchFamily="18" charset="0"/>
              </a:rPr>
              <a:t>, S., &amp; </a:t>
            </a:r>
            <a:r>
              <a:rPr lang="en-US" sz="2200" dirty="0" err="1">
                <a:latin typeface="Times New Roman" panose="02020603050405020304" pitchFamily="18" charset="0"/>
                <a:ea typeface="Calibri" panose="020F0502020204030204" pitchFamily="34" charset="0"/>
                <a:cs typeface="Times New Roman" panose="02020603050405020304" pitchFamily="18" charset="0"/>
              </a:rPr>
              <a:t>Barath</a:t>
            </a:r>
            <a:r>
              <a:rPr lang="en-US" sz="2200" dirty="0">
                <a:latin typeface="Times New Roman" panose="02020603050405020304" pitchFamily="18" charset="0"/>
                <a:ea typeface="Calibri" panose="020F0502020204030204" pitchFamily="34" charset="0"/>
                <a:cs typeface="Times New Roman" panose="02020603050405020304" pitchFamily="18" charset="0"/>
              </a:rPr>
              <a:t>, M. (2020). Analysis of a Real Time Fire Detection and Intimation System. IEEE.</a:t>
            </a:r>
          </a:p>
          <a:p>
            <a:pPr algn="just">
              <a:lnSpc>
                <a:spcPct val="150000"/>
              </a:lnSpc>
              <a:spcAft>
                <a:spcPts val="800"/>
              </a:spcAft>
            </a:pPr>
            <a:r>
              <a:rPr lang="en-US" sz="2200" dirty="0">
                <a:latin typeface="Times New Roman" panose="02020603050405020304" pitchFamily="18" charset="0"/>
                <a:ea typeface="Calibri" panose="020F0502020204030204" pitchFamily="34" charset="0"/>
                <a:cs typeface="Times New Roman" panose="02020603050405020304" pitchFamily="18" charset="0"/>
              </a:rPr>
              <a:t>Ahmad </a:t>
            </a:r>
            <a:r>
              <a:rPr lang="en-US" sz="2200" dirty="0" err="1">
                <a:latin typeface="Times New Roman" panose="02020603050405020304" pitchFamily="18" charset="0"/>
                <a:ea typeface="Calibri" panose="020F0502020204030204" pitchFamily="34" charset="0"/>
                <a:cs typeface="Times New Roman" panose="02020603050405020304" pitchFamily="18" charset="0"/>
              </a:rPr>
              <a:t>Azmil</a:t>
            </a:r>
            <a:r>
              <a:rPr lang="en-US" sz="2200" dirty="0">
                <a:latin typeface="Times New Roman" panose="02020603050405020304" pitchFamily="18" charset="0"/>
                <a:ea typeface="Calibri" panose="020F0502020204030204" pitchFamily="34" charset="0"/>
                <a:cs typeface="Times New Roman" panose="02020603050405020304" pitchFamily="18" charset="0"/>
              </a:rPr>
              <a:t>, M. S., </a:t>
            </a:r>
            <a:r>
              <a:rPr lang="en-US" sz="2200" dirty="0" err="1">
                <a:latin typeface="Times New Roman" panose="02020603050405020304" pitchFamily="18" charset="0"/>
                <a:ea typeface="Calibri" panose="020F0502020204030204" pitchFamily="34" charset="0"/>
                <a:cs typeface="Times New Roman" panose="02020603050405020304" pitchFamily="18" charset="0"/>
              </a:rPr>
              <a:t>Ya'acob</a:t>
            </a:r>
            <a:r>
              <a:rPr lang="en-US" sz="2200" dirty="0">
                <a:latin typeface="Times New Roman" panose="02020603050405020304" pitchFamily="18" charset="0"/>
                <a:ea typeface="Calibri" panose="020F0502020204030204" pitchFamily="34" charset="0"/>
                <a:cs typeface="Times New Roman" panose="02020603050405020304" pitchFamily="18" charset="0"/>
              </a:rPr>
              <a:t>, N., Tahar, K. N., &amp; </a:t>
            </a:r>
            <a:r>
              <a:rPr lang="en-US" sz="2200" dirty="0" err="1">
                <a:latin typeface="Times New Roman" panose="02020603050405020304" pitchFamily="18" charset="0"/>
                <a:ea typeface="Calibri" panose="020F0502020204030204" pitchFamily="34" charset="0"/>
                <a:cs typeface="Times New Roman" panose="02020603050405020304" pitchFamily="18" charset="0"/>
              </a:rPr>
              <a:t>Sarnin</a:t>
            </a:r>
            <a:r>
              <a:rPr lang="en-US" sz="2200" dirty="0">
                <a:latin typeface="Times New Roman" panose="02020603050405020304" pitchFamily="18" charset="0"/>
                <a:ea typeface="Calibri" panose="020F0502020204030204" pitchFamily="34" charset="0"/>
                <a:cs typeface="Times New Roman" panose="02020603050405020304" pitchFamily="18" charset="0"/>
              </a:rPr>
              <a:t>, S. S. (2015). Wireless fire detection monitoring system for fire and rescue application. 2015 IEEE 11th International Colloquium on Signal Processing &amp; Its Applications (CSPA). IEEE.</a:t>
            </a:r>
          </a:p>
          <a:p>
            <a:pPr algn="just">
              <a:lnSpc>
                <a:spcPct val="150000"/>
              </a:lnSpc>
              <a:spcAft>
                <a:spcPts val="800"/>
              </a:spcAft>
            </a:pPr>
            <a:r>
              <a:rPr lang="en-US" sz="2200" dirty="0">
                <a:latin typeface="Times New Roman" panose="02020603050405020304" pitchFamily="18" charset="0"/>
                <a:ea typeface="Calibri" panose="020F0502020204030204" pitchFamily="34" charset="0"/>
                <a:cs typeface="Times New Roman" panose="02020603050405020304" pitchFamily="18" charset="0"/>
              </a:rPr>
              <a:t>Luo, W. (2021). Research on fire detection based on YOLOv5. IEEE.</a:t>
            </a:r>
          </a:p>
          <a:p>
            <a:pPr>
              <a:lnSpc>
                <a:spcPct val="107000"/>
              </a:lnSpc>
              <a:spcAft>
                <a:spcPts val="800"/>
              </a:spcAft>
              <a:tabLst>
                <a:tab pos="457200" algn="l"/>
              </a:tabLst>
            </a:pPr>
            <a:r>
              <a:rPr lang="en-IN" sz="2200" kern="100" dirty="0">
                <a:effectLst/>
                <a:latin typeface="Calibri" panose="020F0502020204030204" pitchFamily="34" charset="0"/>
                <a:ea typeface="Calibri" panose="020F0502020204030204" pitchFamily="34" charset="0"/>
                <a:cs typeface="Times New Roman" panose="02020603050405020304" pitchFamily="18" charset="0"/>
              </a:rPr>
              <a:t>Lee H-W, Lee K-O, Bae J-H, Kim S-Y, Park Y-Y. Using Hybrid Algorithms of Human Detection Technique for Detecting Indoor Disaster Victims. Computation. 2022; 10(11):197. </a:t>
            </a:r>
            <a:r>
              <a:rPr lang="en-IN" sz="22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2"/>
              </a:rPr>
              <a:t>https://doi.org/10.3390/computation10110197</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457200" algn="l"/>
              </a:tabLst>
            </a:pPr>
            <a:r>
              <a:rPr lang="en-IN" sz="2200" kern="100" dirty="0" err="1">
                <a:effectLst/>
                <a:latin typeface="Calibri" panose="020F0502020204030204" pitchFamily="34" charset="0"/>
                <a:ea typeface="Calibri" panose="020F0502020204030204" pitchFamily="34" charset="0"/>
                <a:cs typeface="Times New Roman" panose="02020603050405020304" pitchFamily="18" charset="0"/>
              </a:rPr>
              <a:t>Aathithya</a:t>
            </a:r>
            <a:r>
              <a:rPr lang="en-IN" sz="2200" kern="100" dirty="0">
                <a:effectLst/>
                <a:latin typeface="Calibri" panose="020F0502020204030204" pitchFamily="34" charset="0"/>
                <a:ea typeface="Calibri" panose="020F0502020204030204" pitchFamily="34" charset="0"/>
                <a:cs typeface="Times New Roman" panose="02020603050405020304" pitchFamily="18" charset="0"/>
              </a:rPr>
              <a:t>, S., Kavya, S., Malavika, J., Raveena, R., Durga, E. (2020). Detection of Human Existence Using Thermal Imaging for Automated Fire Extinguisher. In: Hemanth, D.J., Kumar, V.D.A., Malathi, S., Castillo, O., </a:t>
            </a:r>
            <a:r>
              <a:rPr lang="en-IN" sz="2200" kern="100" dirty="0" err="1">
                <a:effectLst/>
                <a:latin typeface="Calibri" panose="020F0502020204030204" pitchFamily="34" charset="0"/>
                <a:ea typeface="Calibri" panose="020F0502020204030204" pitchFamily="34" charset="0"/>
                <a:cs typeface="Times New Roman" panose="02020603050405020304" pitchFamily="18" charset="0"/>
              </a:rPr>
              <a:t>Patrut</a:t>
            </a:r>
            <a:r>
              <a:rPr lang="en-IN" sz="2200" kern="100" dirty="0">
                <a:effectLst/>
                <a:latin typeface="Calibri" panose="020F0502020204030204" pitchFamily="34" charset="0"/>
                <a:ea typeface="Calibri" panose="020F0502020204030204" pitchFamily="34" charset="0"/>
                <a:cs typeface="Times New Roman" panose="02020603050405020304" pitchFamily="18" charset="0"/>
              </a:rPr>
              <a:t>, B. (eds) Emerging Trends in Computing and Expert Technology. COMET 2019. Lecture Notes on Data Engineering and Communications Technologies, vol 35. Springer, Cham. </a:t>
            </a:r>
            <a:r>
              <a:rPr lang="en-IN" sz="22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3"/>
              </a:rPr>
              <a:t>https://doi.org/10.1007/978-3-030-32150-5_30</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457200" algn="l"/>
              </a:tabLst>
            </a:pPr>
            <a:r>
              <a:rPr lang="en-IN" sz="2200" kern="100" dirty="0" err="1">
                <a:effectLst/>
                <a:latin typeface="Calibri" panose="020F0502020204030204" pitchFamily="34" charset="0"/>
                <a:ea typeface="Calibri" panose="020F0502020204030204" pitchFamily="34" charset="0"/>
                <a:cs typeface="Times New Roman" panose="02020603050405020304" pitchFamily="18" charset="0"/>
              </a:rPr>
              <a:t>Jaeseung</a:t>
            </a:r>
            <a:r>
              <a:rPr lang="en-IN" sz="2200" kern="100" dirty="0">
                <a:effectLst/>
                <a:latin typeface="Calibri" panose="020F0502020204030204" pitchFamily="34" charset="0"/>
                <a:ea typeface="Calibri" panose="020F0502020204030204" pitchFamily="34" charset="0"/>
                <a:cs typeface="Times New Roman" panose="02020603050405020304" pitchFamily="18" charset="0"/>
              </a:rPr>
              <a:t> Baek, Taha J. </a:t>
            </a:r>
            <a:r>
              <a:rPr lang="en-IN" sz="2200" kern="100" dirty="0" err="1">
                <a:effectLst/>
                <a:latin typeface="Calibri" panose="020F0502020204030204" pitchFamily="34" charset="0"/>
                <a:ea typeface="Calibri" panose="020F0502020204030204" pitchFamily="34" charset="0"/>
                <a:cs typeface="Times New Roman" panose="02020603050405020304" pitchFamily="18" charset="0"/>
              </a:rPr>
              <a:t>Alhindi</a:t>
            </a:r>
            <a:r>
              <a:rPr lang="en-IN" sz="2200" kern="100" dirty="0">
                <a:effectLst/>
                <a:latin typeface="Calibri" panose="020F0502020204030204" pitchFamily="34" charset="0"/>
                <a:ea typeface="Calibri" panose="020F0502020204030204" pitchFamily="34" charset="0"/>
                <a:cs typeface="Times New Roman" panose="02020603050405020304" pitchFamily="18" charset="0"/>
              </a:rPr>
              <a:t>, Young-</a:t>
            </a:r>
            <a:r>
              <a:rPr lang="en-IN" sz="2200" kern="100" dirty="0" err="1">
                <a:effectLst/>
                <a:latin typeface="Calibri" panose="020F0502020204030204" pitchFamily="34" charset="0"/>
                <a:ea typeface="Calibri" panose="020F0502020204030204" pitchFamily="34" charset="0"/>
                <a:cs typeface="Times New Roman" panose="02020603050405020304" pitchFamily="18" charset="0"/>
              </a:rPr>
              <a:t>Seon</a:t>
            </a:r>
            <a:r>
              <a:rPr lang="en-IN" sz="2200" kern="100" dirty="0">
                <a:effectLst/>
                <a:latin typeface="Calibri" panose="020F0502020204030204" pitchFamily="34" charset="0"/>
                <a:ea typeface="Calibri" panose="020F0502020204030204" pitchFamily="34" charset="0"/>
                <a:cs typeface="Times New Roman" panose="02020603050405020304" pitchFamily="18" charset="0"/>
              </a:rPr>
              <a:t> Jeong, Myong K. Jeong, </a:t>
            </a:r>
            <a:r>
              <a:rPr lang="en-IN" sz="2200" kern="100" dirty="0" err="1">
                <a:effectLst/>
                <a:latin typeface="Calibri" panose="020F0502020204030204" pitchFamily="34" charset="0"/>
                <a:ea typeface="Calibri" panose="020F0502020204030204" pitchFamily="34" charset="0"/>
                <a:cs typeface="Times New Roman" panose="02020603050405020304" pitchFamily="18" charset="0"/>
              </a:rPr>
              <a:t>Seongho</a:t>
            </a:r>
            <a:r>
              <a:rPr lang="en-IN" sz="2200" kern="100" dirty="0">
                <a:effectLst/>
                <a:latin typeface="Calibri" panose="020F0502020204030204" pitchFamily="34" charset="0"/>
                <a:ea typeface="Calibri" panose="020F0502020204030204" pitchFamily="34" charset="0"/>
                <a:cs typeface="Times New Roman" panose="02020603050405020304" pitchFamily="18" charset="0"/>
              </a:rPr>
              <a:t> Seo, </a:t>
            </a:r>
            <a:r>
              <a:rPr lang="en-IN" sz="2200" kern="100" dirty="0" err="1">
                <a:effectLst/>
                <a:latin typeface="Calibri" panose="020F0502020204030204" pitchFamily="34" charset="0"/>
                <a:ea typeface="Calibri" panose="020F0502020204030204" pitchFamily="34" charset="0"/>
                <a:cs typeface="Times New Roman" panose="02020603050405020304" pitchFamily="18" charset="0"/>
              </a:rPr>
              <a:t>Jongseok</a:t>
            </a:r>
            <a:r>
              <a:rPr lang="en-IN" sz="2200" kern="100" dirty="0">
                <a:effectLst/>
                <a:latin typeface="Calibri" panose="020F0502020204030204" pitchFamily="34" charset="0"/>
                <a:ea typeface="Calibri" panose="020F0502020204030204" pitchFamily="34" charset="0"/>
                <a:cs typeface="Times New Roman" panose="02020603050405020304" pitchFamily="18" charset="0"/>
              </a:rPr>
              <a:t> Kang, We Shim, </a:t>
            </a:r>
            <a:r>
              <a:rPr lang="en-IN" sz="2200" kern="100" dirty="0" err="1">
                <a:effectLst/>
                <a:latin typeface="Calibri" panose="020F0502020204030204" pitchFamily="34" charset="0"/>
                <a:ea typeface="Calibri" panose="020F0502020204030204" pitchFamily="34" charset="0"/>
                <a:cs typeface="Times New Roman" panose="02020603050405020304" pitchFamily="18" charset="0"/>
              </a:rPr>
              <a:t>Yoseob</a:t>
            </a:r>
            <a:r>
              <a:rPr lang="en-IN" sz="2200" kern="100" dirty="0">
                <a:effectLst/>
                <a:latin typeface="Calibri" panose="020F0502020204030204" pitchFamily="34" charset="0"/>
                <a:ea typeface="Calibri" panose="020F0502020204030204" pitchFamily="34" charset="0"/>
                <a:cs typeface="Times New Roman" panose="02020603050405020304" pitchFamily="18" charset="0"/>
              </a:rPr>
              <a:t> Heo,</a:t>
            </a:r>
            <a:r>
              <a:rPr lang="en-IN" sz="2400" kern="100" dirty="0">
                <a:effectLst/>
                <a:latin typeface="Calibri" panose="020F0502020204030204" pitchFamily="34" charset="0"/>
                <a:ea typeface="Calibri" panose="020F0502020204030204" pitchFamily="34" charset="0"/>
                <a:cs typeface="Times New Roman" panose="02020603050405020304" pitchFamily="18" charset="0"/>
              </a:rPr>
              <a:t> Real-time fire detection system based on dynamic time warping of multichannel sensor </a:t>
            </a:r>
            <a:r>
              <a:rPr lang="en-IN" sz="2400" kern="100" dirty="0" err="1">
                <a:effectLst/>
                <a:latin typeface="Calibri" panose="020F0502020204030204" pitchFamily="34" charset="0"/>
                <a:ea typeface="Calibri" panose="020F0502020204030204" pitchFamily="34" charset="0"/>
                <a:cs typeface="Times New Roman" panose="02020603050405020304" pitchFamily="18" charset="0"/>
              </a:rPr>
              <a:t>networks,Fire</a:t>
            </a:r>
            <a:r>
              <a:rPr lang="en-IN" sz="2400" kern="100" dirty="0">
                <a:effectLst/>
                <a:latin typeface="Calibri" panose="020F0502020204030204" pitchFamily="34" charset="0"/>
                <a:ea typeface="Calibri" panose="020F0502020204030204" pitchFamily="34" charset="0"/>
                <a:cs typeface="Times New Roman" panose="02020603050405020304" pitchFamily="18" charset="0"/>
              </a:rPr>
              <a:t> Safety </a:t>
            </a:r>
            <a:r>
              <a:rPr lang="en-IN" sz="2400" kern="100" dirty="0" err="1">
                <a:effectLst/>
                <a:latin typeface="Calibri" panose="020F0502020204030204" pitchFamily="34" charset="0"/>
                <a:ea typeface="Calibri" panose="020F0502020204030204" pitchFamily="34" charset="0"/>
                <a:cs typeface="Times New Roman" panose="02020603050405020304" pitchFamily="18" charset="0"/>
              </a:rPr>
              <a:t>Journal,Volume</a:t>
            </a:r>
            <a:r>
              <a:rPr lang="en-IN" sz="2400" kern="100" dirty="0">
                <a:effectLst/>
                <a:latin typeface="Calibri" panose="020F0502020204030204" pitchFamily="34" charset="0"/>
                <a:ea typeface="Calibri" panose="020F0502020204030204" pitchFamily="34" charset="0"/>
                <a:cs typeface="Times New Roman" panose="02020603050405020304" pitchFamily="18" charset="0"/>
              </a:rPr>
              <a:t> 123,2021,103364,ISSN03797112,https://doi.org/10.1016/j.firesaf.2021.103364.</a:t>
            </a:r>
          </a:p>
          <a:p>
            <a:pPr marL="342900" lvl="0" indent="-342900">
              <a:lnSpc>
                <a:spcPct val="107000"/>
              </a:lnSpc>
              <a:spcAft>
                <a:spcPts val="800"/>
              </a:spcAft>
              <a:buFont typeface="+mj-lt"/>
              <a:buAutoNum type="arabicPeriod"/>
              <a:tabLst>
                <a:tab pos="457200" algn="l"/>
              </a:tabLst>
            </a:pP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50000"/>
              </a:lnSpc>
              <a:spcAft>
                <a:spcPts val="800"/>
              </a:spcAft>
              <a:buAutoNum type="arabicPeriod"/>
            </a:pP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dirty="0"/>
          </a:p>
        </p:txBody>
      </p:sp>
    </p:spTree>
    <p:extLst>
      <p:ext uri="{BB962C8B-B14F-4D97-AF65-F5344CB8AC3E}">
        <p14:creationId xmlns:p14="http://schemas.microsoft.com/office/powerpoint/2010/main" val="36138633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CA986-7D5F-1181-A521-E9141BCB5E72}"/>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5EB10854-D8DB-63E1-B56E-86F6A9F31DA8}"/>
              </a:ext>
            </a:extLst>
          </p:cNvPr>
          <p:cNvSpPr>
            <a:spLocks noGrp="1"/>
          </p:cNvSpPr>
          <p:nvPr>
            <p:ph idx="1"/>
          </p:nvPr>
        </p:nvSpPr>
        <p:spPr/>
        <p:txBody>
          <a:bodyPr>
            <a:normAutofit/>
          </a:bodyPr>
          <a:lstStyle/>
          <a:p>
            <a:pPr>
              <a:lnSpc>
                <a:spcPct val="107000"/>
              </a:lnSpc>
              <a:tabLst>
                <a:tab pos="457200" algn="l"/>
              </a:tabLst>
            </a:pPr>
            <a:r>
              <a:rPr lang="en-IN" sz="1500" kern="100" dirty="0" err="1">
                <a:effectLst/>
                <a:latin typeface="Calibri" panose="020F0502020204030204" pitchFamily="34" charset="0"/>
                <a:ea typeface="Calibri" panose="020F0502020204030204" pitchFamily="34" charset="0"/>
                <a:cs typeface="Times New Roman" panose="02020603050405020304" pitchFamily="18" charset="0"/>
              </a:rPr>
              <a:t>Sathishkumar</a:t>
            </a:r>
            <a:r>
              <a:rPr lang="en-IN" sz="1500" kern="100" dirty="0">
                <a:effectLst/>
                <a:latin typeface="Calibri" panose="020F0502020204030204" pitchFamily="34" charset="0"/>
                <a:ea typeface="Calibri" panose="020F0502020204030204" pitchFamily="34" charset="0"/>
                <a:cs typeface="Times New Roman" panose="02020603050405020304" pitchFamily="18" charset="0"/>
              </a:rPr>
              <a:t>, V.E., Cho, J., Subramanian, M. et al. Forest fire and smoke detection using deep learning-based learning without forgetting. fire </a:t>
            </a:r>
            <a:r>
              <a:rPr lang="en-IN" sz="1500" kern="100" dirty="0" err="1">
                <a:effectLst/>
                <a:latin typeface="Calibri" panose="020F0502020204030204" pitchFamily="34" charset="0"/>
                <a:ea typeface="Calibri" panose="020F0502020204030204" pitchFamily="34" charset="0"/>
                <a:cs typeface="Times New Roman" panose="02020603050405020304" pitchFamily="18" charset="0"/>
              </a:rPr>
              <a:t>ecol</a:t>
            </a:r>
            <a:r>
              <a:rPr lang="en-IN" sz="1500" kern="100" dirty="0">
                <a:effectLst/>
                <a:latin typeface="Calibri" panose="020F0502020204030204" pitchFamily="34" charset="0"/>
                <a:ea typeface="Calibri" panose="020F0502020204030204" pitchFamily="34" charset="0"/>
                <a:cs typeface="Times New Roman" panose="02020603050405020304" pitchFamily="18" charset="0"/>
              </a:rPr>
              <a:t> 19, 9 (2023). </a:t>
            </a:r>
            <a:r>
              <a:rPr lang="en-IN" sz="15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2"/>
              </a:rPr>
              <a:t>https://doi.org/10.1186/s42408-022-00165-0</a:t>
            </a:r>
            <a:endParaRPr lang="en-IN" sz="15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tabLst>
                <a:tab pos="457200" algn="l"/>
              </a:tabLst>
            </a:pPr>
            <a:r>
              <a:rPr lang="en-IN" sz="1500" kern="100" dirty="0" err="1">
                <a:effectLst/>
                <a:latin typeface="Calibri" panose="020F0502020204030204" pitchFamily="34" charset="0"/>
                <a:ea typeface="Calibri" panose="020F0502020204030204" pitchFamily="34" charset="0"/>
                <a:cs typeface="Times New Roman" panose="02020603050405020304" pitchFamily="18" charset="0"/>
              </a:rPr>
              <a:t>Chopde</a:t>
            </a:r>
            <a:r>
              <a:rPr lang="en-IN" sz="1500" kern="100" dirty="0">
                <a:effectLst/>
                <a:latin typeface="Calibri" panose="020F0502020204030204" pitchFamily="34" charset="0"/>
                <a:ea typeface="Calibri" panose="020F0502020204030204" pitchFamily="34" charset="0"/>
                <a:cs typeface="Times New Roman" panose="02020603050405020304" pitchFamily="18" charset="0"/>
              </a:rPr>
              <a:t>, Abhay et al. “Forest Fire Detection and Prediction from image processing using RCNN.” World Congress on Civil, Structural, and Environmental Engineering (2022)</a:t>
            </a:r>
          </a:p>
          <a:p>
            <a:pPr>
              <a:lnSpc>
                <a:spcPct val="107000"/>
              </a:lnSpc>
              <a:tabLst>
                <a:tab pos="457200" algn="l"/>
              </a:tabLst>
            </a:pPr>
            <a:r>
              <a:rPr lang="en-IN" sz="1500" kern="100" dirty="0">
                <a:effectLst/>
                <a:latin typeface="Calibri" panose="020F0502020204030204" pitchFamily="34" charset="0"/>
                <a:ea typeface="Calibri" panose="020F0502020204030204" pitchFamily="34" charset="0"/>
                <a:cs typeface="Times New Roman" panose="02020603050405020304" pitchFamily="18" charset="0"/>
              </a:rPr>
              <a:t>F. </a:t>
            </a:r>
            <a:r>
              <a:rPr lang="en-IN" sz="1500" kern="100" dirty="0" err="1">
                <a:effectLst/>
                <a:latin typeface="Calibri" panose="020F0502020204030204" pitchFamily="34" charset="0"/>
                <a:ea typeface="Calibri" panose="020F0502020204030204" pitchFamily="34" charset="0"/>
                <a:cs typeface="Times New Roman" panose="02020603050405020304" pitchFamily="18" charset="0"/>
              </a:rPr>
              <a:t>Jaradat</a:t>
            </a:r>
            <a:r>
              <a:rPr lang="en-IN" sz="1500" kern="100" dirty="0">
                <a:effectLst/>
                <a:latin typeface="Calibri" panose="020F0502020204030204" pitchFamily="34" charset="0"/>
                <a:ea typeface="Calibri" panose="020F0502020204030204" pitchFamily="34" charset="0"/>
                <a:cs typeface="Times New Roman" panose="02020603050405020304" pitchFamily="18" charset="0"/>
              </a:rPr>
              <a:t> and D. Valles, "A Human Detection Approach for Burning Building Sites Using Deep Learning Techniques," 2018 International Conference on Computational Science and Computational Intelligence (CSCI), Las Vegas, NV, USA, 2018, pp. 1434-1435, </a:t>
            </a:r>
            <a:r>
              <a:rPr lang="en-IN" sz="1500" kern="100" dirty="0" err="1">
                <a:effectLst/>
                <a:latin typeface="Calibri" panose="020F0502020204030204" pitchFamily="34" charset="0"/>
                <a:ea typeface="Calibri" panose="020F0502020204030204" pitchFamily="34" charset="0"/>
                <a:cs typeface="Times New Roman" panose="02020603050405020304" pitchFamily="18" charset="0"/>
              </a:rPr>
              <a:t>doi</a:t>
            </a:r>
            <a:r>
              <a:rPr lang="en-IN" sz="1500" kern="100" dirty="0">
                <a:effectLst/>
                <a:latin typeface="Calibri" panose="020F0502020204030204" pitchFamily="34" charset="0"/>
                <a:ea typeface="Calibri" panose="020F0502020204030204" pitchFamily="34" charset="0"/>
                <a:cs typeface="Times New Roman" panose="02020603050405020304" pitchFamily="18" charset="0"/>
              </a:rPr>
              <a:t>: 10.1109/CSCI46756.2018.00277.keywords: {Deep </a:t>
            </a:r>
            <a:r>
              <a:rPr lang="en-IN" sz="1500" kern="100" dirty="0" err="1">
                <a:effectLst/>
                <a:latin typeface="Calibri" panose="020F0502020204030204" pitchFamily="34" charset="0"/>
                <a:ea typeface="Calibri" panose="020F0502020204030204" pitchFamily="34" charset="0"/>
                <a:cs typeface="Times New Roman" panose="02020603050405020304" pitchFamily="18" charset="0"/>
              </a:rPr>
              <a:t>learning;Cameras;Computer</a:t>
            </a:r>
            <a:r>
              <a:rPr lang="en-IN" sz="15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500" kern="100" dirty="0" err="1">
                <a:effectLst/>
                <a:latin typeface="Calibri" panose="020F0502020204030204" pitchFamily="34" charset="0"/>
                <a:ea typeface="Calibri" panose="020F0502020204030204" pitchFamily="34" charset="0"/>
                <a:cs typeface="Times New Roman" panose="02020603050405020304" pitchFamily="18" charset="0"/>
              </a:rPr>
              <a:t>vision;Training;Embedded</a:t>
            </a:r>
            <a:r>
              <a:rPr lang="en-IN" sz="15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500" kern="100" dirty="0" err="1">
                <a:effectLst/>
                <a:latin typeface="Calibri" panose="020F0502020204030204" pitchFamily="34" charset="0"/>
                <a:ea typeface="Calibri" panose="020F0502020204030204" pitchFamily="34" charset="0"/>
                <a:cs typeface="Times New Roman" panose="02020603050405020304" pitchFamily="18" charset="0"/>
              </a:rPr>
              <a:t>systems;Mathematical</a:t>
            </a:r>
            <a:r>
              <a:rPr lang="en-IN" sz="15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500" kern="100" dirty="0" err="1">
                <a:effectLst/>
                <a:latin typeface="Calibri" panose="020F0502020204030204" pitchFamily="34" charset="0"/>
                <a:ea typeface="Calibri" panose="020F0502020204030204" pitchFamily="34" charset="0"/>
                <a:cs typeface="Times New Roman" panose="02020603050405020304" pitchFamily="18" charset="0"/>
              </a:rPr>
              <a:t>model;Buildings;thermal</a:t>
            </a:r>
            <a:r>
              <a:rPr lang="en-IN" sz="1500" kern="100" dirty="0">
                <a:effectLst/>
                <a:latin typeface="Calibri" panose="020F0502020204030204" pitchFamily="34" charset="0"/>
                <a:ea typeface="Calibri" panose="020F0502020204030204" pitchFamily="34" charset="0"/>
                <a:cs typeface="Times New Roman" panose="02020603050405020304" pitchFamily="18" charset="0"/>
              </a:rPr>
              <a:t> images, firefighting, CNN, deep learning},</a:t>
            </a:r>
          </a:p>
          <a:p>
            <a:pPr marL="342900" indent="-342900" algn="just">
              <a:lnSpc>
                <a:spcPct val="150000"/>
              </a:lnSpc>
              <a:spcAft>
                <a:spcPts val="800"/>
              </a:spcAft>
              <a:buAutoNum type="arabicPeriod"/>
            </a:pP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8788081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38A02-66E7-D4A9-0B63-EC7A4969F9A5}"/>
              </a:ext>
            </a:extLst>
          </p:cNvPr>
          <p:cNvSpPr>
            <a:spLocks noGrp="1"/>
          </p:cNvSpPr>
          <p:nvPr>
            <p:ph type="title"/>
          </p:nvPr>
        </p:nvSpPr>
        <p:spPr/>
        <p:txBody>
          <a:bodyPr/>
          <a:lstStyle/>
          <a:p>
            <a:r>
              <a:rPr lang="en-US" dirty="0"/>
              <a:t>Project work mapping with SDG</a:t>
            </a:r>
            <a:endParaRPr lang="en-IN" dirty="0"/>
          </a:p>
        </p:txBody>
      </p:sp>
      <p:sp>
        <p:nvSpPr>
          <p:cNvPr id="4" name="AutoShape 2" descr="Image preview">
            <a:extLst>
              <a:ext uri="{FF2B5EF4-FFF2-40B4-BE49-F238E27FC236}">
                <a16:creationId xmlns:a16="http://schemas.microsoft.com/office/drawing/2014/main" id="{96B0E362-745E-C478-1396-BA189B71502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6" descr="Image preview">
            <a:extLst>
              <a:ext uri="{FF2B5EF4-FFF2-40B4-BE49-F238E27FC236}">
                <a16:creationId xmlns:a16="http://schemas.microsoft.com/office/drawing/2014/main" id="{EA944A2A-59CE-0D28-76C1-2B1B38111B31}"/>
              </a:ext>
            </a:extLst>
          </p:cNvPr>
          <p:cNvSpPr>
            <a:spLocks noGrp="1" noChangeAspect="1" noChangeArrowheads="1"/>
          </p:cNvSpPr>
          <p:nvPr>
            <p:ph type="body" idx="1"/>
          </p:nvPr>
        </p:nvSpPr>
        <p:spPr bwMode="auto">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pic>
        <p:nvPicPr>
          <p:cNvPr id="8" name="Picture 7">
            <a:extLst>
              <a:ext uri="{FF2B5EF4-FFF2-40B4-BE49-F238E27FC236}">
                <a16:creationId xmlns:a16="http://schemas.microsoft.com/office/drawing/2014/main" id="{90DEF78C-A0C4-EB04-02C4-4052E05259EB}"/>
              </a:ext>
            </a:extLst>
          </p:cNvPr>
          <p:cNvPicPr>
            <a:picLocks noChangeAspect="1"/>
          </p:cNvPicPr>
          <p:nvPr/>
        </p:nvPicPr>
        <p:blipFill>
          <a:blip r:embed="rId2"/>
          <a:stretch>
            <a:fillRect/>
          </a:stretch>
        </p:blipFill>
        <p:spPr>
          <a:xfrm>
            <a:off x="3461969" y="999786"/>
            <a:ext cx="5877973" cy="5420916"/>
          </a:xfrm>
          <a:prstGeom prst="rect">
            <a:avLst/>
          </a:prstGeom>
        </p:spPr>
      </p:pic>
    </p:spTree>
    <p:extLst>
      <p:ext uri="{BB962C8B-B14F-4D97-AF65-F5344CB8AC3E}">
        <p14:creationId xmlns:p14="http://schemas.microsoft.com/office/powerpoint/2010/main" val="37954494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a:bodyPr>
          <a:lstStyle/>
          <a:p>
            <a:pPr marL="0" indent="0" algn="ctr">
              <a:buNone/>
            </a:pPr>
            <a:endParaRPr lang="en-GB" sz="4400" dirty="0"/>
          </a:p>
          <a:p>
            <a:pPr marL="0" indent="0" algn="ctr">
              <a:buNone/>
            </a:pPr>
            <a:endParaRPr lang="en-GB" sz="4400" dirty="0"/>
          </a:p>
          <a:p>
            <a:pPr marL="0" indent="0" algn="ctr">
              <a:buNone/>
            </a:pPr>
            <a:r>
              <a:rPr lang="en-GB" sz="6000" dirty="0"/>
              <a:t>Thank You</a:t>
            </a:r>
          </a:p>
        </p:txBody>
      </p:sp>
    </p:spTree>
    <p:extLst>
      <p:ext uri="{BB962C8B-B14F-4D97-AF65-F5344CB8AC3E}">
        <p14:creationId xmlns:p14="http://schemas.microsoft.com/office/powerpoint/2010/main" val="3691672322"/>
      </p:ext>
    </p:extLst>
  </p:cSld>
  <p:clrMapOvr>
    <a:masterClrMapping/>
  </p:clrMapOvr>
</p:sld>
</file>

<file path=ppt/theme/theme1.xml><?xml version="1.0" encoding="utf-8"?>
<a:theme xmlns:a="http://schemas.openxmlformats.org/drawingml/2006/main" name="Bioinformatic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Bookman Old Style"/>
        <a:ea typeface=""/>
        <a:cs typeface=""/>
      </a:majorFont>
      <a:minorFont>
        <a:latin typeface="Bookman Old Styl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Bioinformatics" id="{2C23B8A5-E958-4A8C-AECF-01EA482D72F9}" vid="{45DF3A2B-1BA7-4465-AD96-220179DE36D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Bioinformatics</Template>
  <TotalTime>129</TotalTime>
  <Words>3179</Words>
  <Application>Microsoft Office PowerPoint</Application>
  <PresentationFormat>Widescreen</PresentationFormat>
  <Paragraphs>254</Paragraphs>
  <Slides>25</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Arial</vt:lpstr>
      <vt:lpstr>Bookman Old Style</vt:lpstr>
      <vt:lpstr>Calibri</vt:lpstr>
      <vt:lpstr>Cambria</vt:lpstr>
      <vt:lpstr>Poppins Black</vt:lpstr>
      <vt:lpstr>Times New Roman</vt:lpstr>
      <vt:lpstr>Verdana</vt:lpstr>
      <vt:lpstr>Wingdings</vt:lpstr>
      <vt:lpstr>Bioinformatics</vt:lpstr>
      <vt:lpstr>DETECTING HUMAN LIFE DURING FIRE</vt:lpstr>
      <vt:lpstr>Introduction</vt:lpstr>
      <vt:lpstr>Literature Review</vt:lpstr>
      <vt:lpstr>Literature Review</vt:lpstr>
      <vt:lpstr>Literature Review</vt:lpstr>
      <vt:lpstr>Literature Review</vt:lpstr>
      <vt:lpstr>Literature Review</vt:lpstr>
      <vt:lpstr>Existing method Drawback</vt:lpstr>
      <vt:lpstr>Existing method Drawback</vt:lpstr>
      <vt:lpstr>Proposed Method</vt:lpstr>
      <vt:lpstr>Proposed Method Advantages</vt:lpstr>
      <vt:lpstr>Objectives</vt:lpstr>
      <vt:lpstr>Methodology/Modules</vt:lpstr>
      <vt:lpstr>Methodology/Modules</vt:lpstr>
      <vt:lpstr>Methodology/Modules</vt:lpstr>
      <vt:lpstr>Architecture</vt:lpstr>
      <vt:lpstr>Hardware/software components</vt:lpstr>
      <vt:lpstr>Timeline of Project</vt:lpstr>
      <vt:lpstr>Expected Outcomes</vt:lpstr>
      <vt:lpstr>Conclusion</vt:lpstr>
      <vt:lpstr>Github Link</vt:lpstr>
      <vt:lpstr>References</vt:lpstr>
      <vt:lpstr>PowerPoint Presentation</vt:lpstr>
      <vt:lpstr>Project work mapping with SDG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Sanjeev P Kaulgud-Asst. Prof-CSE</dc:creator>
  <cp:lastModifiedBy>GAJJALA AKHILA</cp:lastModifiedBy>
  <cp:revision>23</cp:revision>
  <dcterms:created xsi:type="dcterms:W3CDTF">2023-03-16T03:26:27Z</dcterms:created>
  <dcterms:modified xsi:type="dcterms:W3CDTF">2025-01-16T10:32:05Z</dcterms:modified>
</cp:coreProperties>
</file>